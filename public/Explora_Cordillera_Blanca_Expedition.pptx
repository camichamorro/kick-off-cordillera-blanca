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731520" y="1097280"/>
            <a:ext cx="1828800" cy="1097280"/>
          </a:xfrm>
          <a:prstGeom prst="rect">
            <a:avLst/>
          </a:prstGeom>
          <a:noFill/>
          <a:ln/>
        </p:spPr>
        <p:txBody>
          <a:bodyPr wrap="square" rtlCol="0" anchor="ctr"/>
          <a:lstStyle/>
          <a:p>
            <a:pPr indent="0" marL="0">
              <a:lnSpc>
                <a:spcPts val="1800"/>
              </a:lnSpc>
              <a:buNone/>
            </a:pPr>
            <a:r>
              <a:rPr lang="en-US" sz="1400" b="1" spc="600" kern="0" dirty="0">
                <a:solidFill>
                  <a:srgbClr val="FFFFFF"/>
                </a:solidFill>
                <a:latin typeface="Arial" pitchFamily="34" charset="0"/>
                <a:ea typeface="Arial" pitchFamily="34" charset="-122"/>
                <a:cs typeface="Arial" pitchFamily="34" charset="-120"/>
              </a:rPr>
              <a:t>E X</a:t>
            </a:r>
            <a:endParaRPr lang="en-US" sz="1400" dirty="0"/>
          </a:p>
          <a:p>
            <a:pPr indent="0" marL="0">
              <a:lnSpc>
                <a:spcPts val="1800"/>
              </a:lnSpc>
              <a:buNone/>
            </a:pPr>
            <a:r>
              <a:rPr lang="en-US" sz="1400" b="1" spc="600" kern="0" dirty="0">
                <a:solidFill>
                  <a:srgbClr val="FFFFFF"/>
                </a:solidFill>
                <a:latin typeface="Arial" pitchFamily="34" charset="0"/>
                <a:ea typeface="Arial" pitchFamily="34" charset="-122"/>
                <a:cs typeface="Arial" pitchFamily="34" charset="-120"/>
              </a:rPr>
              <a:t>P L O</a:t>
            </a:r>
            <a:endParaRPr lang="en-US" sz="1400" dirty="0"/>
          </a:p>
          <a:p>
            <a:pPr indent="0" marL="0">
              <a:lnSpc>
                <a:spcPts val="1800"/>
              </a:lnSpc>
              <a:buNone/>
            </a:pPr>
            <a:r>
              <a:rPr lang="en-US" sz="1400" b="1" spc="600" kern="0" dirty="0">
                <a:solidFill>
                  <a:srgbClr val="FFFFFF"/>
                </a:solidFill>
                <a:latin typeface="Arial" pitchFamily="34" charset="0"/>
                <a:ea typeface="Arial" pitchFamily="34" charset="-122"/>
                <a:cs typeface="Arial" pitchFamily="34" charset="-120"/>
              </a:rPr>
              <a:t>R A</a:t>
            </a:r>
            <a:endParaRPr lang="en-US" sz="1400" dirty="0"/>
          </a:p>
        </p:txBody>
      </p:sp>
      <p:sp>
        <p:nvSpPr>
          <p:cNvPr id="3" name="Text 1"/>
          <p:cNvSpPr/>
          <p:nvPr/>
        </p:nvSpPr>
        <p:spPr>
          <a:xfrm>
            <a:off x="731520" y="2651760"/>
            <a:ext cx="10515600" cy="2011680"/>
          </a:xfrm>
          <a:prstGeom prst="rect">
            <a:avLst/>
          </a:prstGeom>
          <a:noFill/>
          <a:ln/>
        </p:spPr>
        <p:txBody>
          <a:bodyPr wrap="square" rtlCol="0" anchor="ctr"/>
          <a:lstStyle/>
          <a:p>
            <a:pPr indent="0" marL="0">
              <a:lnSpc>
                <a:spcPts val="5400"/>
              </a:lnSpc>
              <a:buNone/>
            </a:pPr>
            <a:r>
              <a:rPr lang="en-US" sz="4800" b="1" dirty="0">
                <a:solidFill>
                  <a:srgbClr val="FFFFFF"/>
                </a:solidFill>
                <a:latin typeface="Georgia" pitchFamily="34" charset="0"/>
                <a:ea typeface="Georgia" pitchFamily="34" charset="-122"/>
                <a:cs typeface="Georgia" pitchFamily="34" charset="-120"/>
              </a:rPr>
              <a:t>Cordillera Blanca</a:t>
            </a:r>
            <a:endParaRPr lang="en-US" sz="4800" dirty="0"/>
          </a:p>
          <a:p>
            <a:pPr indent="0" marL="0">
              <a:lnSpc>
                <a:spcPts val="5400"/>
              </a:lnSpc>
              <a:buNone/>
            </a:pPr>
            <a:r>
              <a:rPr lang="en-US" sz="4800" b="1" dirty="0">
                <a:solidFill>
                  <a:srgbClr val="FFFFFF"/>
                </a:solidFill>
                <a:latin typeface="Georgia" pitchFamily="34" charset="0"/>
                <a:ea typeface="Georgia" pitchFamily="34" charset="-122"/>
                <a:cs typeface="Georgia" pitchFamily="34" charset="-120"/>
              </a:rPr>
              <a:t>Expedition</a:t>
            </a:r>
            <a:endParaRPr lang="en-US" sz="4800" dirty="0"/>
          </a:p>
        </p:txBody>
      </p:sp>
      <p:sp>
        <p:nvSpPr>
          <p:cNvPr id="4" name="Text 2"/>
          <p:cNvSpPr/>
          <p:nvPr/>
        </p:nvSpPr>
        <p:spPr>
          <a:xfrm>
            <a:off x="731520" y="4754880"/>
            <a:ext cx="10058400" cy="548640"/>
          </a:xfrm>
          <a:prstGeom prst="rect">
            <a:avLst/>
          </a:prstGeom>
          <a:noFill/>
          <a:ln/>
        </p:spPr>
        <p:txBody>
          <a:bodyPr wrap="square" rtlCol="0" anchor="ctr"/>
          <a:lstStyle/>
          <a:p>
            <a:pPr indent="0" marL="0">
              <a:buNone/>
            </a:pPr>
            <a:r>
              <a:rPr lang="en-US" sz="1500" i="1" dirty="0">
                <a:solidFill>
                  <a:srgbClr val="C69255"/>
                </a:solidFill>
                <a:latin typeface="Arial" pitchFamily="34" charset="0"/>
                <a:ea typeface="Arial" pitchFamily="34" charset="-122"/>
                <a:cs typeface="Arial" pitchFamily="34" charset="-120"/>
              </a:rPr>
              <a:t>From Glacial Source to Fertile Valley: Ancient Ice, Arid Oases, and Living Andean Heritage</a:t>
            </a:r>
            <a:endParaRPr lang="en-US" sz="1500" dirty="0"/>
          </a:p>
        </p:txBody>
      </p:sp>
      <p:sp>
        <p:nvSpPr>
          <p:cNvPr id="5" name="Text 3"/>
          <p:cNvSpPr/>
          <p:nvPr/>
        </p:nvSpPr>
        <p:spPr>
          <a:xfrm>
            <a:off x="731520" y="5760720"/>
            <a:ext cx="10515600" cy="365760"/>
          </a:xfrm>
          <a:prstGeom prst="rect">
            <a:avLst/>
          </a:prstGeom>
          <a:noFill/>
          <a:ln/>
        </p:spPr>
        <p:txBody>
          <a:bodyPr wrap="square" rtlCol="0" anchor="ctr"/>
          <a:lstStyle/>
          <a:p>
            <a:pPr indent="0" marL="0">
              <a:buNone/>
            </a:pPr>
            <a:r>
              <a:rPr lang="en-US" sz="1000" spc="200" kern="0" dirty="0">
                <a:solidFill>
                  <a:srgbClr val="8E8E93"/>
                </a:solidFill>
                <a:latin typeface="Arial" pitchFamily="34" charset="0"/>
                <a:ea typeface="Arial" pitchFamily="34" charset="-122"/>
                <a:cs typeface="Arial" pitchFamily="34" charset="-120"/>
              </a:rPr>
              <a:t>PRESENTED BY THE EXPLORA EXPEDITIONS TEAM  •  6 DAYS / 5 NIGHTS  •  OPTIONAL 8-DAY GLACIAL SUMMIT EXTENSION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1097280" y="2011680"/>
            <a:ext cx="9875520" cy="2011680"/>
          </a:xfrm>
          <a:prstGeom prst="rect">
            <a:avLst/>
          </a:prstGeom>
          <a:noFill/>
          <a:ln/>
        </p:spPr>
        <p:txBody>
          <a:bodyPr wrap="square" rtlCol="0" anchor="ctr"/>
          <a:lstStyle/>
          <a:p>
            <a:pPr indent="0" marL="0">
              <a:lnSpc>
                <a:spcPts val="4200"/>
              </a:lnSpc>
              <a:buNone/>
            </a:pPr>
            <a:r>
              <a:rPr lang="en-US" sz="2800" i="1" dirty="0">
                <a:solidFill>
                  <a:srgbClr val="FFFFFF"/>
                </a:solidFill>
                <a:latin typeface="Georgia" pitchFamily="34" charset="0"/>
                <a:ea typeface="Georgia" pitchFamily="34" charset="-122"/>
                <a:cs typeface="Georgia" pitchFamily="34" charset="-120"/>
              </a:rPr>
              <a:t>“In the high Andes, water is not merely scenery;</a:t>
            </a:r>
            <a:endParaRPr lang="en-US" sz="2800" dirty="0"/>
          </a:p>
          <a:p>
            <a:pPr indent="0" marL="0">
              <a:lnSpc>
                <a:spcPts val="4200"/>
              </a:lnSpc>
              <a:buNone/>
            </a:pPr>
            <a:r>
              <a:rPr lang="en-US" sz="2800" i="1" dirty="0">
                <a:solidFill>
                  <a:srgbClr val="FFFFFF"/>
                </a:solidFill>
                <a:latin typeface="Georgia" pitchFamily="34" charset="0"/>
                <a:ea typeface="Georgia" pitchFamily="34" charset="-122"/>
                <a:cs typeface="Georgia" pitchFamily="34" charset="-120"/>
              </a:rPr>
              <a:t>it is ancient ice descending to animate an arid wilderness into life.”</a:t>
            </a:r>
            <a:endParaRPr lang="en-US" sz="2800" dirty="0"/>
          </a:p>
        </p:txBody>
      </p:sp>
      <p:sp>
        <p:nvSpPr>
          <p:cNvPr id="3" name="Text 1"/>
          <p:cNvSpPr/>
          <p:nvPr/>
        </p:nvSpPr>
        <p:spPr>
          <a:xfrm>
            <a:off x="1097280" y="4206240"/>
            <a:ext cx="8961120" cy="1097280"/>
          </a:xfrm>
          <a:prstGeom prst="rect">
            <a:avLst/>
          </a:prstGeom>
          <a:noFill/>
          <a:ln/>
        </p:spPr>
        <p:txBody>
          <a:bodyPr wrap="square" rtlCol="0" anchor="ctr"/>
          <a:lstStyle/>
          <a:p>
            <a:pPr indent="0" marL="0">
              <a:lnSpc>
                <a:spcPts val="2200"/>
              </a:lnSpc>
              <a:buNone/>
            </a:pPr>
            <a:r>
              <a:rPr lang="en-US" sz="1400" dirty="0">
                <a:solidFill>
                  <a:srgbClr val="C69255"/>
                </a:solidFill>
                <a:latin typeface="Arial" pitchFamily="34" charset="0"/>
                <a:ea typeface="Arial" pitchFamily="34" charset="-122"/>
                <a:cs typeface="Arial" pitchFamily="34" charset="-120"/>
              </a:rPr>
              <a:t>True exploration is never about admiring peaks from afar,</a:t>
            </a:r>
            <a:endParaRPr lang="en-US" sz="1400" dirty="0"/>
          </a:p>
          <a:p>
            <a:pPr indent="0" marL="0">
              <a:lnSpc>
                <a:spcPts val="2200"/>
              </a:lnSpc>
              <a:buNone/>
            </a:pPr>
            <a:r>
              <a:rPr lang="en-US" sz="1400" dirty="0">
                <a:solidFill>
                  <a:srgbClr val="C69255"/>
                </a:solidFill>
                <a:latin typeface="Arial" pitchFamily="34" charset="0"/>
                <a:ea typeface="Arial" pitchFamily="34" charset="-122"/>
                <a:cs typeface="Arial" pitchFamily="34" charset="-120"/>
              </a:rPr>
              <a:t>but about traversing a territory where glaciers, ancestral canals, communities, and highland crops are deeply bound together.</a:t>
            </a:r>
            <a:endParaRPr lang="en-US" sz="1400" dirty="0"/>
          </a:p>
          <a:p>
            <a:pPr indent="0" marL="0">
              <a:lnSpc>
                <a:spcPts val="2200"/>
              </a:lnSpc>
              <a:buNone/>
            </a:pPr>
            <a:r>
              <a:rPr lang="en-US" sz="1400" dirty="0">
                <a:solidFill>
                  <a:srgbClr val="C69255"/>
                </a:solidFill>
                <a:latin typeface="Arial" pitchFamily="34" charset="0"/>
                <a:ea typeface="Arial" pitchFamily="34" charset="-122"/>
                <a:cs typeface="Arial" pitchFamily="34" charset="-120"/>
              </a:rPr>
              <a:t>— Explora Expeditions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2ED"/>
        </a:solidFill>
      </p:bgPr>
    </p:bg>
    <p:spTree>
      <p:nvGrpSpPr>
        <p:cNvPr id="1" name=""/>
        <p:cNvGrpSpPr/>
        <p:nvPr/>
      </p:nvGrpSpPr>
      <p:grpSpPr>
        <a:xfrm>
          <a:off x="0" y="0"/>
          <a:ext cx="0" cy="0"/>
          <a:chOff x="0" y="0"/>
          <a:chExt cx="0" cy="0"/>
        </a:xfrm>
      </p:grpSpPr>
      <p:sp>
        <p:nvSpPr>
          <p:cNvPr id="2" name="Text 0"/>
          <p:cNvSpPr/>
          <p:nvPr/>
        </p:nvSpPr>
        <p:spPr>
          <a:xfrm>
            <a:off x="731520" y="457200"/>
            <a:ext cx="7315200" cy="274320"/>
          </a:xfrm>
          <a:prstGeom prst="rect">
            <a:avLst/>
          </a:prstGeom>
          <a:noFill/>
          <a:ln/>
        </p:spPr>
        <p:txBody>
          <a:bodyPr wrap="square" rtlCol="0" anchor="ctr"/>
          <a:lstStyle/>
          <a:p>
            <a:pPr indent="0" marL="0">
              <a:buNone/>
            </a:pPr>
            <a:r>
              <a:rPr lang="en-US" sz="1000" b="1" spc="300" kern="0" dirty="0">
                <a:solidFill>
                  <a:srgbClr val="666666"/>
                </a:solidFill>
                <a:latin typeface="Arial" pitchFamily="34" charset="0"/>
                <a:ea typeface="Arial" pitchFamily="34" charset="-122"/>
                <a:cs typeface="Arial" pitchFamily="34" charset="-120"/>
              </a:rPr>
              <a:t>DESTINATION OVERVIEW</a:t>
            </a:r>
            <a:endParaRPr lang="en-US" sz="1000" dirty="0"/>
          </a:p>
        </p:txBody>
      </p:sp>
      <p:sp>
        <p:nvSpPr>
          <p:cNvPr id="3" name="Text 1"/>
          <p:cNvSpPr/>
          <p:nvPr/>
        </p:nvSpPr>
        <p:spPr>
          <a:xfrm>
            <a:off x="731520" y="777240"/>
            <a:ext cx="10515600" cy="731520"/>
          </a:xfrm>
          <a:prstGeom prst="rect">
            <a:avLst/>
          </a:prstGeom>
          <a:noFill/>
          <a:ln/>
        </p:spPr>
        <p:txBody>
          <a:bodyPr wrap="square" rtlCol="0" anchor="ctr"/>
          <a:lstStyle/>
          <a:p>
            <a:pPr indent="0" marL="0">
              <a:buNone/>
            </a:pPr>
            <a:r>
              <a:rPr lang="en-US" sz="2600" b="1" dirty="0">
                <a:solidFill>
                  <a:srgbClr val="111111"/>
                </a:solidFill>
                <a:latin typeface="Georgia" pitchFamily="34" charset="0"/>
                <a:ea typeface="Georgia" pitchFamily="34" charset="-122"/>
                <a:cs typeface="Georgia" pitchFamily="34" charset="-120"/>
              </a:rPr>
              <a:t>The High-Andean Paradox: Where Glacial Melt Feeds an Arid Oasis</a:t>
            </a:r>
            <a:endParaRPr lang="en-US" sz="2600" dirty="0"/>
          </a:p>
        </p:txBody>
      </p:sp>
      <p:sp>
        <p:nvSpPr>
          <p:cNvPr id="4" name="Text 2"/>
          <p:cNvSpPr/>
          <p:nvPr/>
        </p:nvSpPr>
        <p:spPr>
          <a:xfrm>
            <a:off x="731520" y="1645920"/>
            <a:ext cx="6583680" cy="1463040"/>
          </a:xfrm>
          <a:prstGeom prst="rect">
            <a:avLst/>
          </a:prstGeom>
          <a:noFill/>
          <a:ln/>
        </p:spPr>
        <p:txBody>
          <a:bodyPr wrap="square" rtlCol="0" anchor="ctr"/>
          <a:lstStyle/>
          <a:p>
            <a:pPr indent="0" marL="0">
              <a:lnSpc>
                <a:spcPts val="2200"/>
              </a:lnSpc>
              <a:buNone/>
            </a:pPr>
            <a:r>
              <a:rPr lang="en-US" sz="1400" dirty="0">
                <a:solidFill>
                  <a:srgbClr val="111111"/>
                </a:solidFill>
                <a:latin typeface="Arial" pitchFamily="34" charset="0"/>
                <a:ea typeface="Arial" pitchFamily="34" charset="-122"/>
                <a:cs typeface="Arial" pitchFamily="34" charset="-120"/>
              </a:rPr>
              <a:t>At 10,000 feet above sea level, in an alpine landscape that feels deceptively arid and sun-scorched, Peru’s Cordillera Blanca holds an astonishing secret: Earth’s highest concentration of tropical glaciers, sustaining an uninterrupted corridor of fertility.</a:t>
            </a:r>
            <a:endParaRPr lang="en-US" sz="1400" dirty="0"/>
          </a:p>
        </p:txBody>
      </p:sp>
      <p:sp>
        <p:nvSpPr>
          <p:cNvPr id="5" name="Text 3"/>
          <p:cNvSpPr/>
          <p:nvPr/>
        </p:nvSpPr>
        <p:spPr>
          <a:xfrm>
            <a:off x="731520" y="3200400"/>
            <a:ext cx="6583680" cy="2560320"/>
          </a:xfrm>
          <a:prstGeom prst="rect">
            <a:avLst/>
          </a:prstGeom>
          <a:noFill/>
          <a:ln/>
        </p:spPr>
        <p:txBody>
          <a:bodyPr wrap="square" rtlCol="0" anchor="ctr"/>
          <a:lstStyle/>
          <a:p>
            <a:pPr indent="0" marL="0">
              <a:lnSpc>
                <a:spcPts val="2100"/>
              </a:lnSpc>
              <a:buNone/>
            </a:pPr>
            <a:r>
              <a:rPr lang="en-US" sz="1300" dirty="0">
                <a:solidFill>
                  <a:srgbClr val="444444"/>
                </a:solidFill>
                <a:latin typeface="Arial" pitchFamily="34" charset="0"/>
                <a:ea typeface="Arial" pitchFamily="34" charset="-122"/>
                <a:cs typeface="Arial" pitchFamily="34" charset="-120"/>
              </a:rPr>
              <a:t>Millennia-old meltwater feeds luminous turquoise moraine tarns, gravity-fed pre-Inca aqueducts, and fertile valley terraces that sustain the life and heritage of Andean communities, nourishing thriving harvests of export blueberries, strawberries, cut roses, and native potatoes.</a:t>
            </a:r>
            <a:endParaRPr lang="en-US" sz="1300" dirty="0"/>
          </a:p>
          <a:p>
            <a:pPr indent="0" marL="0">
              <a:lnSpc>
                <a:spcPts val="2100"/>
              </a:lnSpc>
              <a:buNone/>
            </a:pPr>
            <a:endParaRPr lang="en-US" sz="1300" dirty="0"/>
          </a:p>
          <a:p>
            <a:pPr indent="0" marL="0">
              <a:lnSpc>
                <a:spcPts val="2100"/>
              </a:lnSpc>
              <a:buNone/>
            </a:pPr>
            <a:r>
              <a:rPr lang="en-US" sz="1300" dirty="0">
                <a:solidFill>
                  <a:srgbClr val="444444"/>
                </a:solidFill>
                <a:latin typeface="Arial" pitchFamily="34" charset="0"/>
                <a:ea typeface="Arial" pitchFamily="34" charset="-122"/>
                <a:cs typeface="Arial" pitchFamily="34" charset="-120"/>
              </a:rPr>
              <a:t>This expedition invites travelers to follow the glacial lifeline: from 20,000-foot summits down through cloud-forest slopes to the Quechua families who have mastered life with the runoff for centuries.</a:t>
            </a:r>
            <a:endParaRPr lang="en-US" sz="1300" dirty="0"/>
          </a:p>
        </p:txBody>
      </p:sp>
      <p:sp>
        <p:nvSpPr>
          <p:cNvPr id="6" name="Shape 4"/>
          <p:cNvSpPr/>
          <p:nvPr/>
        </p:nvSpPr>
        <p:spPr>
          <a:xfrm>
            <a:off x="7680960" y="1645920"/>
            <a:ext cx="3749040" cy="4297680"/>
          </a:xfrm>
          <a:prstGeom prst="rect">
            <a:avLst/>
          </a:prstGeom>
          <a:solidFill>
            <a:srgbClr val="FFFFFF"/>
          </a:solidFill>
          <a:ln w="12700">
            <a:solidFill>
              <a:srgbClr val="E0DDD5"/>
            </a:solidFill>
            <a:prstDash val="solid"/>
          </a:ln>
        </p:spPr>
      </p:sp>
      <p:sp>
        <p:nvSpPr>
          <p:cNvPr id="7" name="Text 5"/>
          <p:cNvSpPr/>
          <p:nvPr/>
        </p:nvSpPr>
        <p:spPr>
          <a:xfrm>
            <a:off x="8046720" y="1920240"/>
            <a:ext cx="3017520" cy="274320"/>
          </a:xfrm>
          <a:prstGeom prst="rect">
            <a:avLst/>
          </a:prstGeom>
          <a:noFill/>
          <a:ln/>
        </p:spPr>
        <p:txBody>
          <a:bodyPr wrap="square" rtlCol="0" anchor="ctr"/>
          <a:lstStyle/>
          <a:p>
            <a:pPr indent="0" marL="0">
              <a:buNone/>
            </a:pPr>
            <a:r>
              <a:rPr lang="en-US" sz="900" b="1" spc="200" kern="0" dirty="0">
                <a:solidFill>
                  <a:srgbClr val="C69255"/>
                </a:solidFill>
                <a:latin typeface="Arial" pitchFamily="34" charset="0"/>
                <a:ea typeface="Arial" pitchFamily="34" charset="-122"/>
                <a:cs typeface="Arial" pitchFamily="34" charset="-120"/>
              </a:rPr>
              <a:t>THE UNRIVALED SCALE</a:t>
            </a:r>
            <a:endParaRPr lang="en-US" sz="900" dirty="0"/>
          </a:p>
        </p:txBody>
      </p:sp>
      <p:sp>
        <p:nvSpPr>
          <p:cNvPr id="8" name="Text 6"/>
          <p:cNvSpPr/>
          <p:nvPr/>
        </p:nvSpPr>
        <p:spPr>
          <a:xfrm>
            <a:off x="8046720" y="2286000"/>
            <a:ext cx="3017520" cy="822960"/>
          </a:xfrm>
          <a:prstGeom prst="rect">
            <a:avLst/>
          </a:prstGeom>
          <a:noFill/>
          <a:ln/>
        </p:spPr>
        <p:txBody>
          <a:bodyPr wrap="square" rtlCol="0" anchor="ctr"/>
          <a:lstStyle/>
          <a:p>
            <a:pPr indent="0" marL="0">
              <a:buNone/>
            </a:pPr>
            <a:r>
              <a:rPr lang="en-US" sz="1600" b="1" dirty="0">
                <a:solidFill>
                  <a:srgbClr val="111111"/>
                </a:solidFill>
                <a:latin typeface="Georgia" pitchFamily="34" charset="0"/>
                <a:ea typeface="Georgia" pitchFamily="34" charset="-122"/>
                <a:cs typeface="Georgia" pitchFamily="34" charset="-120"/>
              </a:rPr>
              <a:t>71% of Earth’s tropical glaciers are located in Peru.</a:t>
            </a:r>
            <a:endParaRPr lang="en-US" sz="1600" dirty="0"/>
          </a:p>
        </p:txBody>
      </p:sp>
      <p:sp>
        <p:nvSpPr>
          <p:cNvPr id="9" name="Text 7"/>
          <p:cNvSpPr/>
          <p:nvPr/>
        </p:nvSpPr>
        <p:spPr>
          <a:xfrm>
            <a:off x="8046720" y="3200400"/>
            <a:ext cx="3017520" cy="2560320"/>
          </a:xfrm>
          <a:prstGeom prst="rect">
            <a:avLst/>
          </a:prstGeom>
          <a:noFill/>
          <a:ln/>
        </p:spPr>
        <p:txBody>
          <a:bodyPr wrap="square" rtlCol="0" anchor="ctr"/>
          <a:lstStyle/>
          <a:p>
            <a:pPr indent="0" marL="0">
              <a:lnSpc>
                <a:spcPts val="1800"/>
              </a:lnSpc>
              <a:buNone/>
            </a:pPr>
            <a:r>
              <a:rPr lang="en-US" sz="1100" dirty="0">
                <a:solidFill>
                  <a:srgbClr val="555555"/>
                </a:solidFill>
                <a:latin typeface="Arial" pitchFamily="34" charset="0"/>
                <a:ea typeface="Arial" pitchFamily="34" charset="-122"/>
                <a:cs typeface="Arial" pitchFamily="34" charset="-120"/>
              </a:rPr>
              <a:t>• UNESCO Biosphere Reserve &amp; World Heritage</a:t>
            </a:r>
            <a:endParaRPr lang="en-US" sz="1100" dirty="0"/>
          </a:p>
          <a:p>
            <a:pPr indent="0" marL="0">
              <a:lnSpc>
                <a:spcPts val="1800"/>
              </a:lnSpc>
              <a:buNone/>
            </a:pPr>
            <a:r>
              <a:rPr lang="en-US" sz="1100" dirty="0">
                <a:solidFill>
                  <a:srgbClr val="555555"/>
                </a:solidFill>
                <a:latin typeface="Arial" pitchFamily="34" charset="0"/>
                <a:ea typeface="Arial" pitchFamily="34" charset="-122"/>
                <a:cs typeface="Arial" pitchFamily="34" charset="-120"/>
              </a:rPr>
              <a:t>• 30+ peaks soaring above 20,000 ft (6,000 m)</a:t>
            </a:r>
            <a:endParaRPr lang="en-US" sz="1100" dirty="0"/>
          </a:p>
          <a:p>
            <a:pPr indent="0" marL="0">
              <a:lnSpc>
                <a:spcPts val="1800"/>
              </a:lnSpc>
              <a:buNone/>
            </a:pPr>
            <a:r>
              <a:rPr lang="en-US" sz="1100" dirty="0">
                <a:solidFill>
                  <a:srgbClr val="555555"/>
                </a:solidFill>
                <a:latin typeface="Arial" pitchFamily="34" charset="0"/>
                <a:ea typeface="Arial" pitchFamily="34" charset="-122"/>
                <a:cs typeface="Arial" pitchFamily="34" charset="-120"/>
              </a:rPr>
              <a:t>• Microclimates sustaining commercial fruit &amp; flower farming</a:t>
            </a:r>
            <a:endParaRPr lang="en-US" sz="1100" dirty="0"/>
          </a:p>
          <a:p>
            <a:pPr indent="0" marL="0">
              <a:lnSpc>
                <a:spcPts val="1800"/>
              </a:lnSpc>
              <a:buNone/>
            </a:pPr>
            <a:r>
              <a:rPr lang="en-US" sz="1100" dirty="0">
                <a:solidFill>
                  <a:srgbClr val="555555"/>
                </a:solidFill>
                <a:latin typeface="Arial" pitchFamily="34" charset="0"/>
                <a:ea typeface="Arial" pitchFamily="34" charset="-122"/>
                <a:cs typeface="Arial" pitchFamily="34" charset="-120"/>
              </a:rPr>
              <a:t>• Native paper-bark Queñual (Polylepis) cloud woodlands</a:t>
            </a:r>
            <a:endParaRPr lang="en-US" sz="1100" dirty="0"/>
          </a:p>
          <a:p>
            <a:pPr indent="0" marL="0">
              <a:lnSpc>
                <a:spcPts val="1800"/>
              </a:lnSpc>
              <a:buNone/>
            </a:pPr>
            <a:r>
              <a:rPr lang="en-US" sz="1100" dirty="0">
                <a:solidFill>
                  <a:srgbClr val="555555"/>
                </a:solidFill>
                <a:latin typeface="Arial" pitchFamily="34" charset="0"/>
                <a:ea typeface="Arial" pitchFamily="34" charset="-122"/>
                <a:cs typeface="Arial" pitchFamily="34" charset="-120"/>
              </a:rPr>
              <a:t>• Living renaissance of master artisans in Chacas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731520" y="457200"/>
            <a:ext cx="7315200" cy="274320"/>
          </a:xfrm>
          <a:prstGeom prst="rect">
            <a:avLst/>
          </a:prstGeom>
          <a:noFill/>
          <a:ln/>
        </p:spPr>
        <p:txBody>
          <a:bodyPr wrap="square" rtlCol="0" anchor="ctr"/>
          <a:lstStyle/>
          <a:p>
            <a:pPr indent="0" marL="0">
              <a:buNone/>
            </a:pPr>
            <a:r>
              <a:rPr lang="en-US" sz="1000" b="1" spc="300" kern="0" dirty="0">
                <a:solidFill>
                  <a:srgbClr val="C69255"/>
                </a:solidFill>
                <a:latin typeface="Arial" pitchFamily="34" charset="0"/>
                <a:ea typeface="Arial" pitchFamily="34" charset="-122"/>
                <a:cs typeface="Arial" pitchFamily="34" charset="-120"/>
              </a:rPr>
              <a:t>OUR VALUE PROPOSITION</a:t>
            </a:r>
            <a:endParaRPr lang="en-US" sz="1000" dirty="0"/>
          </a:p>
        </p:txBody>
      </p:sp>
      <p:sp>
        <p:nvSpPr>
          <p:cNvPr id="3" name="Text 1"/>
          <p:cNvSpPr/>
          <p:nvPr/>
        </p:nvSpPr>
        <p:spPr>
          <a:xfrm>
            <a:off x="731520" y="777240"/>
            <a:ext cx="10515600" cy="7315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Why Cordillera Blanca with Explora?</a:t>
            </a:r>
            <a:endParaRPr lang="en-US" sz="2600" dirty="0"/>
          </a:p>
        </p:txBody>
      </p:sp>
      <p:sp>
        <p:nvSpPr>
          <p:cNvPr id="4" name="Shape 2"/>
          <p:cNvSpPr/>
          <p:nvPr/>
        </p:nvSpPr>
        <p:spPr>
          <a:xfrm>
            <a:off x="731520" y="1645920"/>
            <a:ext cx="2514600" cy="4389120"/>
          </a:xfrm>
          <a:prstGeom prst="rect">
            <a:avLst/>
          </a:prstGeom>
          <a:solidFill>
            <a:srgbClr val="1C1C1E"/>
          </a:solidFill>
          <a:ln w="12700">
            <a:solidFill>
              <a:srgbClr val="2C2C2E"/>
            </a:solidFill>
            <a:prstDash val="solid"/>
          </a:ln>
        </p:spPr>
      </p:sp>
      <p:sp>
        <p:nvSpPr>
          <p:cNvPr id="5" name="Text 3"/>
          <p:cNvSpPr/>
          <p:nvPr/>
        </p:nvSpPr>
        <p:spPr>
          <a:xfrm>
            <a:off x="960120" y="1920240"/>
            <a:ext cx="2011680" cy="548640"/>
          </a:xfrm>
          <a:prstGeom prst="rect">
            <a:avLst/>
          </a:prstGeom>
          <a:noFill/>
          <a:ln/>
        </p:spPr>
        <p:txBody>
          <a:bodyPr wrap="square" rtlCol="0" anchor="ctr"/>
          <a:lstStyle/>
          <a:p>
            <a:pPr indent="0" marL="0">
              <a:buNone/>
            </a:pPr>
            <a:r>
              <a:rPr lang="en-US" sz="2400" b="1" dirty="0">
                <a:solidFill>
                  <a:srgbClr val="C69255"/>
                </a:solidFill>
                <a:latin typeface="Georgia" pitchFamily="34" charset="0"/>
                <a:ea typeface="Georgia" pitchFamily="34" charset="-122"/>
                <a:cs typeface="Georgia" pitchFamily="34" charset="-120"/>
              </a:rPr>
              <a:t>01</a:t>
            </a:r>
            <a:endParaRPr lang="en-US" sz="2400" dirty="0"/>
          </a:p>
        </p:txBody>
      </p:sp>
      <p:sp>
        <p:nvSpPr>
          <p:cNvPr id="6" name="Text 4"/>
          <p:cNvSpPr/>
          <p:nvPr/>
        </p:nvSpPr>
        <p:spPr>
          <a:xfrm>
            <a:off x="960120" y="2560320"/>
            <a:ext cx="2011680" cy="8229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Monumental Alpine Scale</a:t>
            </a:r>
            <a:endParaRPr lang="en-US" sz="1400" dirty="0"/>
          </a:p>
        </p:txBody>
      </p:sp>
      <p:sp>
        <p:nvSpPr>
          <p:cNvPr id="7" name="Text 5"/>
          <p:cNvSpPr/>
          <p:nvPr/>
        </p:nvSpPr>
        <p:spPr>
          <a:xfrm>
            <a:off x="960120" y="3474720"/>
            <a:ext cx="2011680" cy="2377440"/>
          </a:xfrm>
          <a:prstGeom prst="rect">
            <a:avLst/>
          </a:prstGeom>
          <a:noFill/>
          <a:ln/>
        </p:spPr>
        <p:txBody>
          <a:bodyPr wrap="square" rtlCol="0" anchor="ctr"/>
          <a:lstStyle/>
          <a:p>
            <a:pPr indent="0" marL="0">
              <a:lnSpc>
                <a:spcPts val="1600"/>
              </a:lnSpc>
              <a:buNone/>
            </a:pPr>
            <a:r>
              <a:rPr lang="en-US" sz="1100" dirty="0">
                <a:solidFill>
                  <a:srgbClr val="8E8E93"/>
                </a:solidFill>
                <a:latin typeface="Arial" pitchFamily="34" charset="0"/>
                <a:ea typeface="Arial" pitchFamily="34" charset="-122"/>
                <a:cs typeface="Arial" pitchFamily="34" charset="-120"/>
              </a:rPr>
              <a:t>Sheer granite massifs above 20,000 ft (Huascarán, Artesonraju, Huandoy). Glacial recessions and high-Andean geology unraveled alongside expert resident naturalist guides.</a:t>
            </a:r>
            <a:endParaRPr lang="en-US" sz="1100" dirty="0"/>
          </a:p>
        </p:txBody>
      </p:sp>
      <p:sp>
        <p:nvSpPr>
          <p:cNvPr id="8" name="Shape 6"/>
          <p:cNvSpPr/>
          <p:nvPr/>
        </p:nvSpPr>
        <p:spPr>
          <a:xfrm>
            <a:off x="3429000" y="1645920"/>
            <a:ext cx="2514600" cy="4389120"/>
          </a:xfrm>
          <a:prstGeom prst="rect">
            <a:avLst/>
          </a:prstGeom>
          <a:solidFill>
            <a:srgbClr val="1C1C1E"/>
          </a:solidFill>
          <a:ln w="12700">
            <a:solidFill>
              <a:srgbClr val="2C2C2E"/>
            </a:solidFill>
            <a:prstDash val="solid"/>
          </a:ln>
        </p:spPr>
      </p:sp>
      <p:sp>
        <p:nvSpPr>
          <p:cNvPr id="9" name="Text 7"/>
          <p:cNvSpPr/>
          <p:nvPr/>
        </p:nvSpPr>
        <p:spPr>
          <a:xfrm>
            <a:off x="3657600" y="1920240"/>
            <a:ext cx="2011680" cy="548640"/>
          </a:xfrm>
          <a:prstGeom prst="rect">
            <a:avLst/>
          </a:prstGeom>
          <a:noFill/>
          <a:ln/>
        </p:spPr>
        <p:txBody>
          <a:bodyPr wrap="square" rtlCol="0" anchor="ctr"/>
          <a:lstStyle/>
          <a:p>
            <a:pPr indent="0" marL="0">
              <a:buNone/>
            </a:pPr>
            <a:r>
              <a:rPr lang="en-US" sz="2400" b="1" dirty="0">
                <a:solidFill>
                  <a:srgbClr val="C69255"/>
                </a:solidFill>
                <a:latin typeface="Georgia" pitchFamily="34" charset="0"/>
                <a:ea typeface="Georgia" pitchFamily="34" charset="-122"/>
                <a:cs typeface="Georgia" pitchFamily="34" charset="-120"/>
              </a:rPr>
              <a:t>02</a:t>
            </a:r>
            <a:endParaRPr lang="en-US" sz="2400" dirty="0"/>
          </a:p>
        </p:txBody>
      </p:sp>
      <p:sp>
        <p:nvSpPr>
          <p:cNvPr id="10" name="Text 8"/>
          <p:cNvSpPr/>
          <p:nvPr/>
        </p:nvSpPr>
        <p:spPr>
          <a:xfrm>
            <a:off x="3657600" y="2560320"/>
            <a:ext cx="2011680" cy="8229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Living Mountain Culture</a:t>
            </a:r>
            <a:endParaRPr lang="en-US" sz="1400" dirty="0"/>
          </a:p>
        </p:txBody>
      </p:sp>
      <p:sp>
        <p:nvSpPr>
          <p:cNvPr id="11" name="Text 9"/>
          <p:cNvSpPr/>
          <p:nvPr/>
        </p:nvSpPr>
        <p:spPr>
          <a:xfrm>
            <a:off x="3657600" y="3474720"/>
            <a:ext cx="2011680" cy="2377440"/>
          </a:xfrm>
          <a:prstGeom prst="rect">
            <a:avLst/>
          </a:prstGeom>
          <a:noFill/>
          <a:ln/>
        </p:spPr>
        <p:txBody>
          <a:bodyPr wrap="square" rtlCol="0" anchor="ctr"/>
          <a:lstStyle/>
          <a:p>
            <a:pPr indent="0" marL="0">
              <a:lnSpc>
                <a:spcPts val="1600"/>
              </a:lnSpc>
              <a:buNone/>
            </a:pPr>
            <a:r>
              <a:rPr lang="en-US" sz="1100" dirty="0">
                <a:solidFill>
                  <a:srgbClr val="8E8E93"/>
                </a:solidFill>
                <a:latin typeface="Arial" pitchFamily="34" charset="0"/>
                <a:ea typeface="Arial" pitchFamily="34" charset="-122"/>
                <a:cs typeface="Arial" pitchFamily="34" charset="-120"/>
              </a:rPr>
              <a:t>Active immersion: harvesting alongside Quechua growers in lodge orchards, studying ancestral aqueducts, and discovering the Renaissance ateliers of Chacas.</a:t>
            </a:r>
            <a:endParaRPr lang="en-US" sz="1100" dirty="0"/>
          </a:p>
        </p:txBody>
      </p:sp>
      <p:sp>
        <p:nvSpPr>
          <p:cNvPr id="12" name="Shape 10"/>
          <p:cNvSpPr/>
          <p:nvPr/>
        </p:nvSpPr>
        <p:spPr>
          <a:xfrm>
            <a:off x="6126480" y="1645920"/>
            <a:ext cx="2514600" cy="4389120"/>
          </a:xfrm>
          <a:prstGeom prst="rect">
            <a:avLst/>
          </a:prstGeom>
          <a:solidFill>
            <a:srgbClr val="1C1C1E"/>
          </a:solidFill>
          <a:ln w="12700">
            <a:solidFill>
              <a:srgbClr val="2C2C2E"/>
            </a:solidFill>
            <a:prstDash val="solid"/>
          </a:ln>
        </p:spPr>
      </p:sp>
      <p:sp>
        <p:nvSpPr>
          <p:cNvPr id="13" name="Text 11"/>
          <p:cNvSpPr/>
          <p:nvPr/>
        </p:nvSpPr>
        <p:spPr>
          <a:xfrm>
            <a:off x="6355080" y="1920240"/>
            <a:ext cx="2011680" cy="548640"/>
          </a:xfrm>
          <a:prstGeom prst="rect">
            <a:avLst/>
          </a:prstGeom>
          <a:noFill/>
          <a:ln/>
        </p:spPr>
        <p:txBody>
          <a:bodyPr wrap="square" rtlCol="0" anchor="ctr"/>
          <a:lstStyle/>
          <a:p>
            <a:pPr indent="0" marL="0">
              <a:buNone/>
            </a:pPr>
            <a:r>
              <a:rPr lang="en-US" sz="2400" b="1" dirty="0">
                <a:solidFill>
                  <a:srgbClr val="C69255"/>
                </a:solidFill>
                <a:latin typeface="Georgia" pitchFamily="34" charset="0"/>
                <a:ea typeface="Georgia" pitchFamily="34" charset="-122"/>
                <a:cs typeface="Georgia" pitchFamily="34" charset="-120"/>
              </a:rPr>
              <a:t>03</a:t>
            </a:r>
            <a:endParaRPr lang="en-US" sz="2400" dirty="0"/>
          </a:p>
        </p:txBody>
      </p:sp>
      <p:sp>
        <p:nvSpPr>
          <p:cNvPr id="14" name="Text 12"/>
          <p:cNvSpPr/>
          <p:nvPr/>
        </p:nvSpPr>
        <p:spPr>
          <a:xfrm>
            <a:off x="6355080" y="2560320"/>
            <a:ext cx="2011680" cy="8229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Far Beyond Mass Tourism</a:t>
            </a:r>
            <a:endParaRPr lang="en-US" sz="1400" dirty="0"/>
          </a:p>
        </p:txBody>
      </p:sp>
      <p:sp>
        <p:nvSpPr>
          <p:cNvPr id="15" name="Text 13"/>
          <p:cNvSpPr/>
          <p:nvPr/>
        </p:nvSpPr>
        <p:spPr>
          <a:xfrm>
            <a:off x="6355080" y="3474720"/>
            <a:ext cx="2011680" cy="2377440"/>
          </a:xfrm>
          <a:prstGeom prst="rect">
            <a:avLst/>
          </a:prstGeom>
          <a:noFill/>
          <a:ln/>
        </p:spPr>
        <p:txBody>
          <a:bodyPr wrap="square" rtlCol="0" anchor="ctr"/>
          <a:lstStyle/>
          <a:p>
            <a:pPr indent="0" marL="0">
              <a:lnSpc>
                <a:spcPts val="1600"/>
              </a:lnSpc>
              <a:buNone/>
            </a:pPr>
            <a:r>
              <a:rPr lang="en-US" sz="1100" dirty="0">
                <a:solidFill>
                  <a:srgbClr val="8E8E93"/>
                </a:solidFill>
                <a:latin typeface="Arial" pitchFamily="34" charset="0"/>
                <a:ea typeface="Arial" pitchFamily="34" charset="-122"/>
                <a:cs typeface="Arial" pitchFamily="34" charset="-120"/>
              </a:rPr>
              <a:t>Bypassing crowded lakefront viewpoints via remote high-moraine traverses at Laguna Parón, and entering pristine wilderness basins like Laguna 513 in complete silence.</a:t>
            </a:r>
            <a:endParaRPr lang="en-US" sz="1100" dirty="0"/>
          </a:p>
        </p:txBody>
      </p:sp>
      <p:sp>
        <p:nvSpPr>
          <p:cNvPr id="16" name="Shape 14"/>
          <p:cNvSpPr/>
          <p:nvPr/>
        </p:nvSpPr>
        <p:spPr>
          <a:xfrm>
            <a:off x="8823960" y="1645920"/>
            <a:ext cx="2514600" cy="4389120"/>
          </a:xfrm>
          <a:prstGeom prst="rect">
            <a:avLst/>
          </a:prstGeom>
          <a:solidFill>
            <a:srgbClr val="1C1C1E"/>
          </a:solidFill>
          <a:ln w="12700">
            <a:solidFill>
              <a:srgbClr val="2C2C2E"/>
            </a:solidFill>
            <a:prstDash val="solid"/>
          </a:ln>
        </p:spPr>
      </p:sp>
      <p:sp>
        <p:nvSpPr>
          <p:cNvPr id="17" name="Text 15"/>
          <p:cNvSpPr/>
          <p:nvPr/>
        </p:nvSpPr>
        <p:spPr>
          <a:xfrm>
            <a:off x="9052560" y="1920240"/>
            <a:ext cx="2011680" cy="548640"/>
          </a:xfrm>
          <a:prstGeom prst="rect">
            <a:avLst/>
          </a:prstGeom>
          <a:noFill/>
          <a:ln/>
        </p:spPr>
        <p:txBody>
          <a:bodyPr wrap="square" rtlCol="0" anchor="ctr"/>
          <a:lstStyle/>
          <a:p>
            <a:pPr indent="0" marL="0">
              <a:buNone/>
            </a:pPr>
            <a:r>
              <a:rPr lang="en-US" sz="2400" b="1" dirty="0">
                <a:solidFill>
                  <a:srgbClr val="C69255"/>
                </a:solidFill>
                <a:latin typeface="Georgia" pitchFamily="34" charset="0"/>
                <a:ea typeface="Georgia" pitchFamily="34" charset="-122"/>
                <a:cs typeface="Georgia" pitchFamily="34" charset="-120"/>
              </a:rPr>
              <a:t>04</a:t>
            </a:r>
            <a:endParaRPr lang="en-US" sz="2400" dirty="0"/>
          </a:p>
        </p:txBody>
      </p:sp>
      <p:sp>
        <p:nvSpPr>
          <p:cNvPr id="18" name="Text 16"/>
          <p:cNvSpPr/>
          <p:nvPr/>
        </p:nvSpPr>
        <p:spPr>
          <a:xfrm>
            <a:off x="9052560" y="2560320"/>
            <a:ext cx="2011680" cy="8229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Adaptive Trail Design</a:t>
            </a:r>
            <a:endParaRPr lang="en-US" sz="1400" dirty="0"/>
          </a:p>
        </p:txBody>
      </p:sp>
      <p:sp>
        <p:nvSpPr>
          <p:cNvPr id="19" name="Text 17"/>
          <p:cNvSpPr/>
          <p:nvPr/>
        </p:nvSpPr>
        <p:spPr>
          <a:xfrm>
            <a:off x="9052560" y="3474720"/>
            <a:ext cx="2011680" cy="2377440"/>
          </a:xfrm>
          <a:prstGeom prst="rect">
            <a:avLst/>
          </a:prstGeom>
          <a:noFill/>
          <a:ln/>
        </p:spPr>
        <p:txBody>
          <a:bodyPr wrap="square" rtlCol="0" anchor="ctr"/>
          <a:lstStyle/>
          <a:p>
            <a:pPr indent="0" marL="0">
              <a:lnSpc>
                <a:spcPts val="1600"/>
              </a:lnSpc>
              <a:buNone/>
            </a:pPr>
            <a:r>
              <a:rPr lang="en-US" sz="1100" dirty="0">
                <a:solidFill>
                  <a:srgbClr val="8E8E93"/>
                </a:solidFill>
                <a:latin typeface="Arial" pitchFamily="34" charset="0"/>
                <a:ea typeface="Arial" pitchFamily="34" charset="-122"/>
                <a:cs typeface="Arial" pitchFamily="34" charset="-120"/>
              </a:rPr>
              <a:t>Daily tiered options—from high-altitude moraine pushes and valley gravel cycling to quiet botanical walks—anchored in medical-grade acclimatization.</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2ED"/>
        </a:solidFill>
      </p:bgPr>
    </p:bg>
    <p:spTree>
      <p:nvGrpSpPr>
        <p:cNvPr id="1" name=""/>
        <p:cNvGrpSpPr/>
        <p:nvPr/>
      </p:nvGrpSpPr>
      <p:grpSpPr>
        <a:xfrm>
          <a:off x="0" y="0"/>
          <a:ext cx="0" cy="0"/>
          <a:chOff x="0" y="0"/>
          <a:chExt cx="0" cy="0"/>
        </a:xfrm>
      </p:grpSpPr>
      <p:sp>
        <p:nvSpPr>
          <p:cNvPr id="2" name="Text 0"/>
          <p:cNvSpPr/>
          <p:nvPr/>
        </p:nvSpPr>
        <p:spPr>
          <a:xfrm>
            <a:off x="731520" y="457200"/>
            <a:ext cx="7315200" cy="274320"/>
          </a:xfrm>
          <a:prstGeom prst="rect">
            <a:avLst/>
          </a:prstGeom>
          <a:noFill/>
          <a:ln/>
        </p:spPr>
        <p:txBody>
          <a:bodyPr wrap="square" rtlCol="0" anchor="ctr"/>
          <a:lstStyle/>
          <a:p>
            <a:pPr indent="0" marL="0">
              <a:buNone/>
            </a:pPr>
            <a:r>
              <a:rPr lang="en-US" sz="1000" b="1" spc="300" kern="0" dirty="0">
                <a:solidFill>
                  <a:srgbClr val="666666"/>
                </a:solidFill>
                <a:latin typeface="Arial" pitchFamily="34" charset="0"/>
                <a:ea typeface="Arial" pitchFamily="34" charset="-122"/>
                <a:cs typeface="Arial" pitchFamily="34" charset="-120"/>
              </a:rPr>
              <a:t>EXPEDITION GEOGRAPHY</a:t>
            </a:r>
            <a:endParaRPr lang="en-US" sz="1000" dirty="0"/>
          </a:p>
        </p:txBody>
      </p:sp>
      <p:sp>
        <p:nvSpPr>
          <p:cNvPr id="3" name="Text 1"/>
          <p:cNvSpPr/>
          <p:nvPr/>
        </p:nvSpPr>
        <p:spPr>
          <a:xfrm>
            <a:off x="731520" y="777240"/>
            <a:ext cx="10515600" cy="731520"/>
          </a:xfrm>
          <a:prstGeom prst="rect">
            <a:avLst/>
          </a:prstGeom>
          <a:noFill/>
          <a:ln/>
        </p:spPr>
        <p:txBody>
          <a:bodyPr wrap="square" rtlCol="0" anchor="ctr"/>
          <a:lstStyle/>
          <a:p>
            <a:pPr indent="0" marL="0">
              <a:buNone/>
            </a:pPr>
            <a:r>
              <a:rPr lang="en-US" sz="2600" b="1" dirty="0">
                <a:solidFill>
                  <a:srgbClr val="111111"/>
                </a:solidFill>
                <a:latin typeface="Georgia" pitchFamily="34" charset="0"/>
                <a:ea typeface="Georgia" pitchFamily="34" charset="-122"/>
                <a:cs typeface="Georgia" pitchFamily="34" charset="-120"/>
              </a:rPr>
              <a:t>Four Distinct Ecological Zones Across One Continental Divide</a:t>
            </a:r>
            <a:endParaRPr lang="en-US" sz="2600" dirty="0"/>
          </a:p>
        </p:txBody>
      </p:sp>
      <p:sp>
        <p:nvSpPr>
          <p:cNvPr id="4" name="Shape 2"/>
          <p:cNvSpPr/>
          <p:nvPr/>
        </p:nvSpPr>
        <p:spPr>
          <a:xfrm>
            <a:off x="731520" y="1645920"/>
            <a:ext cx="10698480" cy="1005840"/>
          </a:xfrm>
          <a:prstGeom prst="rect">
            <a:avLst/>
          </a:prstGeom>
          <a:solidFill>
            <a:srgbClr val="FFFFFF"/>
          </a:solidFill>
          <a:ln w="12700">
            <a:solidFill>
              <a:srgbClr val="E2DFD7"/>
            </a:solidFill>
            <a:prstDash val="solid"/>
          </a:ln>
        </p:spPr>
      </p:sp>
      <p:sp>
        <p:nvSpPr>
          <p:cNvPr id="5" name="Text 3"/>
          <p:cNvSpPr/>
          <p:nvPr/>
        </p:nvSpPr>
        <p:spPr>
          <a:xfrm>
            <a:off x="1005840" y="1783080"/>
            <a:ext cx="3474720" cy="365760"/>
          </a:xfrm>
          <a:prstGeom prst="rect">
            <a:avLst/>
          </a:prstGeom>
          <a:noFill/>
          <a:ln/>
        </p:spPr>
        <p:txBody>
          <a:bodyPr wrap="square" rtlCol="0" anchor="ctr"/>
          <a:lstStyle/>
          <a:p>
            <a:pPr indent="0" marL="0">
              <a:buNone/>
            </a:pPr>
            <a:r>
              <a:rPr lang="en-US" sz="1400" b="1" dirty="0">
                <a:solidFill>
                  <a:srgbClr val="111111"/>
                </a:solidFill>
                <a:latin typeface="Georgia" pitchFamily="34" charset="0"/>
                <a:ea typeface="Georgia" pitchFamily="34" charset="-122"/>
                <a:cs typeface="Georgia" pitchFamily="34" charset="-120"/>
              </a:rPr>
              <a:t>Callejón de Huaylas</a:t>
            </a:r>
            <a:endParaRPr lang="en-US" sz="1400" dirty="0"/>
          </a:p>
        </p:txBody>
      </p:sp>
      <p:sp>
        <p:nvSpPr>
          <p:cNvPr id="6" name="Text 4"/>
          <p:cNvSpPr/>
          <p:nvPr/>
        </p:nvSpPr>
        <p:spPr>
          <a:xfrm>
            <a:off x="1005840" y="2194560"/>
            <a:ext cx="3474720" cy="274320"/>
          </a:xfrm>
          <a:prstGeom prst="rect">
            <a:avLst/>
          </a:prstGeom>
          <a:noFill/>
          <a:ln/>
        </p:spPr>
        <p:txBody>
          <a:bodyPr wrap="square" rtlCol="0" anchor="ctr"/>
          <a:lstStyle/>
          <a:p>
            <a:pPr indent="0" marL="0">
              <a:buNone/>
            </a:pPr>
            <a:r>
              <a:rPr lang="en-US" sz="1000" b="1" dirty="0">
                <a:solidFill>
                  <a:srgbClr val="C69255"/>
                </a:solidFill>
                <a:latin typeface="Arial" pitchFamily="34" charset="0"/>
                <a:ea typeface="Arial" pitchFamily="34" charset="-122"/>
                <a:cs typeface="Arial" pitchFamily="34" charset="-120"/>
              </a:rPr>
              <a:t>7,200 – 9,200 ft / 2,200 – 2,800 m</a:t>
            </a:r>
            <a:endParaRPr lang="en-US" sz="1000" dirty="0"/>
          </a:p>
        </p:txBody>
      </p:sp>
      <p:sp>
        <p:nvSpPr>
          <p:cNvPr id="7" name="Text 5"/>
          <p:cNvSpPr/>
          <p:nvPr/>
        </p:nvSpPr>
        <p:spPr>
          <a:xfrm>
            <a:off x="4663440" y="1783080"/>
            <a:ext cx="6492240" cy="731520"/>
          </a:xfrm>
          <a:prstGeom prst="rect">
            <a:avLst/>
          </a:prstGeom>
          <a:noFill/>
          <a:ln/>
        </p:spPr>
        <p:txBody>
          <a:bodyPr wrap="square" rtlCol="0" anchor="ctr"/>
          <a:lstStyle/>
          <a:p>
            <a:pPr indent="0" marL="0">
              <a:lnSpc>
                <a:spcPts val="1600"/>
              </a:lnSpc>
              <a:buNone/>
            </a:pPr>
            <a:r>
              <a:rPr lang="en-US" sz="1100" dirty="0">
                <a:solidFill>
                  <a:srgbClr val="444444"/>
                </a:solidFill>
                <a:latin typeface="Arial" pitchFamily="34" charset="0"/>
                <a:ea typeface="Arial" pitchFamily="34" charset="-122"/>
                <a:cs typeface="Arial" pitchFamily="34" charset="-120"/>
              </a:rPr>
              <a:t>Temperate inter-Andean valley shaped by the Santa River. Farmlands producing strawberries, blueberries, and export roses. Low-altitude base camps for restorative rest.</a:t>
            </a:r>
            <a:endParaRPr lang="en-US" sz="1100" dirty="0"/>
          </a:p>
        </p:txBody>
      </p:sp>
      <p:sp>
        <p:nvSpPr>
          <p:cNvPr id="8" name="Shape 6"/>
          <p:cNvSpPr/>
          <p:nvPr/>
        </p:nvSpPr>
        <p:spPr>
          <a:xfrm>
            <a:off x="731520" y="2788920"/>
            <a:ext cx="10698480" cy="1005840"/>
          </a:xfrm>
          <a:prstGeom prst="rect">
            <a:avLst/>
          </a:prstGeom>
          <a:solidFill>
            <a:srgbClr val="FFFFFF"/>
          </a:solidFill>
          <a:ln w="12700">
            <a:solidFill>
              <a:srgbClr val="E2DFD7"/>
            </a:solidFill>
            <a:prstDash val="solid"/>
          </a:ln>
        </p:spPr>
      </p:sp>
      <p:sp>
        <p:nvSpPr>
          <p:cNvPr id="9" name="Text 7"/>
          <p:cNvSpPr/>
          <p:nvPr/>
        </p:nvSpPr>
        <p:spPr>
          <a:xfrm>
            <a:off x="1005840" y="2926080"/>
            <a:ext cx="3474720" cy="365760"/>
          </a:xfrm>
          <a:prstGeom prst="rect">
            <a:avLst/>
          </a:prstGeom>
          <a:noFill/>
          <a:ln/>
        </p:spPr>
        <p:txBody>
          <a:bodyPr wrap="square" rtlCol="0" anchor="ctr"/>
          <a:lstStyle/>
          <a:p>
            <a:pPr indent="0" marL="0">
              <a:buNone/>
            </a:pPr>
            <a:r>
              <a:rPr lang="en-US" sz="1400" b="1" dirty="0">
                <a:solidFill>
                  <a:srgbClr val="111111"/>
                </a:solidFill>
                <a:latin typeface="Georgia" pitchFamily="34" charset="0"/>
                <a:ea typeface="Georgia" pitchFamily="34" charset="-122"/>
                <a:cs typeface="Georgia" pitchFamily="34" charset="-120"/>
              </a:rPr>
              <a:t>Cordillera Negra</a:t>
            </a:r>
            <a:endParaRPr lang="en-US" sz="1400" dirty="0"/>
          </a:p>
        </p:txBody>
      </p:sp>
      <p:sp>
        <p:nvSpPr>
          <p:cNvPr id="10" name="Text 8"/>
          <p:cNvSpPr/>
          <p:nvPr/>
        </p:nvSpPr>
        <p:spPr>
          <a:xfrm>
            <a:off x="1005840" y="3337560"/>
            <a:ext cx="3474720" cy="274320"/>
          </a:xfrm>
          <a:prstGeom prst="rect">
            <a:avLst/>
          </a:prstGeom>
          <a:noFill/>
          <a:ln/>
        </p:spPr>
        <p:txBody>
          <a:bodyPr wrap="square" rtlCol="0" anchor="ctr"/>
          <a:lstStyle/>
          <a:p>
            <a:pPr indent="0" marL="0">
              <a:buNone/>
            </a:pPr>
            <a:r>
              <a:rPr lang="en-US" sz="1000" b="1" dirty="0">
                <a:solidFill>
                  <a:srgbClr val="C69255"/>
                </a:solidFill>
                <a:latin typeface="Arial" pitchFamily="34" charset="0"/>
                <a:ea typeface="Arial" pitchFamily="34" charset="-122"/>
                <a:cs typeface="Arial" pitchFamily="34" charset="-120"/>
              </a:rPr>
              <a:t>11,800 – 13,800 ft / 3,600 – 4,200 m</a:t>
            </a:r>
            <a:endParaRPr lang="en-US" sz="1000" dirty="0"/>
          </a:p>
        </p:txBody>
      </p:sp>
      <p:sp>
        <p:nvSpPr>
          <p:cNvPr id="11" name="Text 9"/>
          <p:cNvSpPr/>
          <p:nvPr/>
        </p:nvSpPr>
        <p:spPr>
          <a:xfrm>
            <a:off x="4663440" y="2926080"/>
            <a:ext cx="6492240" cy="731520"/>
          </a:xfrm>
          <a:prstGeom prst="rect">
            <a:avLst/>
          </a:prstGeom>
          <a:noFill/>
          <a:ln/>
        </p:spPr>
        <p:txBody>
          <a:bodyPr wrap="square" rtlCol="0" anchor="ctr"/>
          <a:lstStyle/>
          <a:p>
            <a:pPr indent="0" marL="0">
              <a:lnSpc>
                <a:spcPts val="1600"/>
              </a:lnSpc>
              <a:buNone/>
            </a:pPr>
            <a:r>
              <a:rPr lang="en-US" sz="1100" dirty="0">
                <a:solidFill>
                  <a:srgbClr val="444444"/>
                </a:solidFill>
                <a:latin typeface="Arial" pitchFamily="34" charset="0"/>
                <a:ea typeface="Arial" pitchFamily="34" charset="-122"/>
                <a:cs typeface="Arial" pitchFamily="34" charset="-120"/>
              </a:rPr>
              <a:t>Snow-free volcanic mountain spine serving as a panoramic natural grandstand across from the white glaciers. Sanctuary of the colossal Puya raimondii plant.</a:t>
            </a:r>
            <a:endParaRPr lang="en-US" sz="1100" dirty="0"/>
          </a:p>
        </p:txBody>
      </p:sp>
      <p:sp>
        <p:nvSpPr>
          <p:cNvPr id="12" name="Shape 10"/>
          <p:cNvSpPr/>
          <p:nvPr/>
        </p:nvSpPr>
        <p:spPr>
          <a:xfrm>
            <a:off x="731520" y="3931920"/>
            <a:ext cx="10698480" cy="1005840"/>
          </a:xfrm>
          <a:prstGeom prst="rect">
            <a:avLst/>
          </a:prstGeom>
          <a:solidFill>
            <a:srgbClr val="FFFFFF"/>
          </a:solidFill>
          <a:ln w="12700">
            <a:solidFill>
              <a:srgbClr val="E2DFD7"/>
            </a:solidFill>
            <a:prstDash val="solid"/>
          </a:ln>
        </p:spPr>
      </p:sp>
      <p:sp>
        <p:nvSpPr>
          <p:cNvPr id="13" name="Text 11"/>
          <p:cNvSpPr/>
          <p:nvPr/>
        </p:nvSpPr>
        <p:spPr>
          <a:xfrm>
            <a:off x="1005840" y="4069080"/>
            <a:ext cx="3474720" cy="365760"/>
          </a:xfrm>
          <a:prstGeom prst="rect">
            <a:avLst/>
          </a:prstGeom>
          <a:noFill/>
          <a:ln/>
        </p:spPr>
        <p:txBody>
          <a:bodyPr wrap="square" rtlCol="0" anchor="ctr"/>
          <a:lstStyle/>
          <a:p>
            <a:pPr indent="0" marL="0">
              <a:buNone/>
            </a:pPr>
            <a:r>
              <a:rPr lang="en-US" sz="1400" b="1" dirty="0">
                <a:solidFill>
                  <a:srgbClr val="111111"/>
                </a:solidFill>
                <a:latin typeface="Georgia" pitchFamily="34" charset="0"/>
                <a:ea typeface="Georgia" pitchFamily="34" charset="-122"/>
                <a:cs typeface="Georgia" pitchFamily="34" charset="-120"/>
              </a:rPr>
              <a:t>Cordillera Blanca</a:t>
            </a:r>
            <a:endParaRPr lang="en-US" sz="1400" dirty="0"/>
          </a:p>
        </p:txBody>
      </p:sp>
      <p:sp>
        <p:nvSpPr>
          <p:cNvPr id="14" name="Text 12"/>
          <p:cNvSpPr/>
          <p:nvPr/>
        </p:nvSpPr>
        <p:spPr>
          <a:xfrm>
            <a:off x="1005840" y="4480560"/>
            <a:ext cx="3474720" cy="274320"/>
          </a:xfrm>
          <a:prstGeom prst="rect">
            <a:avLst/>
          </a:prstGeom>
          <a:noFill/>
          <a:ln/>
        </p:spPr>
        <p:txBody>
          <a:bodyPr wrap="square" rtlCol="0" anchor="ctr"/>
          <a:lstStyle/>
          <a:p>
            <a:pPr indent="0" marL="0">
              <a:buNone/>
            </a:pPr>
            <a:r>
              <a:rPr lang="en-US" sz="1000" b="1" dirty="0">
                <a:solidFill>
                  <a:srgbClr val="C69255"/>
                </a:solidFill>
                <a:latin typeface="Arial" pitchFamily="34" charset="0"/>
                <a:ea typeface="Arial" pitchFamily="34" charset="-122"/>
                <a:cs typeface="Arial" pitchFamily="34" charset="-120"/>
              </a:rPr>
              <a:t>12,500 – 22,200 ft / 3,800 – 6,768 m</a:t>
            </a:r>
            <a:endParaRPr lang="en-US" sz="1000" dirty="0"/>
          </a:p>
        </p:txBody>
      </p:sp>
      <p:sp>
        <p:nvSpPr>
          <p:cNvPr id="15" name="Text 13"/>
          <p:cNvSpPr/>
          <p:nvPr/>
        </p:nvSpPr>
        <p:spPr>
          <a:xfrm>
            <a:off x="4663440" y="4069080"/>
            <a:ext cx="6492240" cy="731520"/>
          </a:xfrm>
          <a:prstGeom prst="rect">
            <a:avLst/>
          </a:prstGeom>
          <a:noFill/>
          <a:ln/>
        </p:spPr>
        <p:txBody>
          <a:bodyPr wrap="square" rtlCol="0" anchor="ctr"/>
          <a:lstStyle/>
          <a:p>
            <a:pPr indent="0" marL="0">
              <a:lnSpc>
                <a:spcPts val="1600"/>
              </a:lnSpc>
              <a:buNone/>
            </a:pPr>
            <a:r>
              <a:rPr lang="en-US" sz="1100" dirty="0">
                <a:solidFill>
                  <a:srgbClr val="444444"/>
                </a:solidFill>
                <a:latin typeface="Arial" pitchFamily="34" charset="0"/>
                <a:ea typeface="Arial" pitchFamily="34" charset="-122"/>
                <a:cs typeface="Arial" pitchFamily="34" charset="-120"/>
              </a:rPr>
              <a:t>Vertical granite walls, hanging glaciers, paper-bark Polylepis woodlands, and milk-turquoise moraine tarns (Parón, Llanganuco, 513).</a:t>
            </a:r>
            <a:endParaRPr lang="en-US" sz="1100" dirty="0"/>
          </a:p>
        </p:txBody>
      </p:sp>
      <p:sp>
        <p:nvSpPr>
          <p:cNvPr id="16" name="Shape 14"/>
          <p:cNvSpPr/>
          <p:nvPr/>
        </p:nvSpPr>
        <p:spPr>
          <a:xfrm>
            <a:off x="731520" y="5074920"/>
            <a:ext cx="10698480" cy="1005840"/>
          </a:xfrm>
          <a:prstGeom prst="rect">
            <a:avLst/>
          </a:prstGeom>
          <a:solidFill>
            <a:srgbClr val="FFFFFF"/>
          </a:solidFill>
          <a:ln w="12700">
            <a:solidFill>
              <a:srgbClr val="E2DFD7"/>
            </a:solidFill>
            <a:prstDash val="solid"/>
          </a:ln>
        </p:spPr>
      </p:sp>
      <p:sp>
        <p:nvSpPr>
          <p:cNvPr id="17" name="Text 15"/>
          <p:cNvSpPr/>
          <p:nvPr/>
        </p:nvSpPr>
        <p:spPr>
          <a:xfrm>
            <a:off x="1005840" y="5212080"/>
            <a:ext cx="3474720" cy="365760"/>
          </a:xfrm>
          <a:prstGeom prst="rect">
            <a:avLst/>
          </a:prstGeom>
          <a:noFill/>
          <a:ln/>
        </p:spPr>
        <p:txBody>
          <a:bodyPr wrap="square" rtlCol="0" anchor="ctr"/>
          <a:lstStyle/>
          <a:p>
            <a:pPr indent="0" marL="0">
              <a:buNone/>
            </a:pPr>
            <a:r>
              <a:rPr lang="en-US" sz="1400" b="1" dirty="0">
                <a:solidFill>
                  <a:srgbClr val="111111"/>
                </a:solidFill>
                <a:latin typeface="Georgia" pitchFamily="34" charset="0"/>
                <a:ea typeface="Georgia" pitchFamily="34" charset="-122"/>
                <a:cs typeface="Georgia" pitchFamily="34" charset="-120"/>
              </a:rPr>
              <a:t>Eastern Cloud Forests &amp; Chacas</a:t>
            </a:r>
            <a:endParaRPr lang="en-US" sz="1400" dirty="0"/>
          </a:p>
        </p:txBody>
      </p:sp>
      <p:sp>
        <p:nvSpPr>
          <p:cNvPr id="18" name="Text 16"/>
          <p:cNvSpPr/>
          <p:nvPr/>
        </p:nvSpPr>
        <p:spPr>
          <a:xfrm>
            <a:off x="1005840" y="5623560"/>
            <a:ext cx="3474720" cy="274320"/>
          </a:xfrm>
          <a:prstGeom prst="rect">
            <a:avLst/>
          </a:prstGeom>
          <a:noFill/>
          <a:ln/>
        </p:spPr>
        <p:txBody>
          <a:bodyPr wrap="square" rtlCol="0" anchor="ctr"/>
          <a:lstStyle/>
          <a:p>
            <a:pPr indent="0" marL="0">
              <a:buNone/>
            </a:pPr>
            <a:r>
              <a:rPr lang="en-US" sz="1000" b="1" dirty="0">
                <a:solidFill>
                  <a:srgbClr val="C69255"/>
                </a:solidFill>
                <a:latin typeface="Arial" pitchFamily="34" charset="0"/>
                <a:ea typeface="Arial" pitchFamily="34" charset="-122"/>
                <a:cs typeface="Arial" pitchFamily="34" charset="-120"/>
              </a:rPr>
              <a:t>10,200 – 15,500 ft / 3,100 – 4,736 m</a:t>
            </a:r>
            <a:endParaRPr lang="en-US" sz="1000" dirty="0"/>
          </a:p>
        </p:txBody>
      </p:sp>
      <p:sp>
        <p:nvSpPr>
          <p:cNvPr id="19" name="Text 17"/>
          <p:cNvSpPr/>
          <p:nvPr/>
        </p:nvSpPr>
        <p:spPr>
          <a:xfrm>
            <a:off x="4663440" y="5212080"/>
            <a:ext cx="6492240" cy="731520"/>
          </a:xfrm>
          <a:prstGeom prst="rect">
            <a:avLst/>
          </a:prstGeom>
          <a:noFill/>
          <a:ln/>
        </p:spPr>
        <p:txBody>
          <a:bodyPr wrap="square" rtlCol="0" anchor="ctr"/>
          <a:lstStyle/>
          <a:p>
            <a:pPr indent="0" marL="0">
              <a:lnSpc>
                <a:spcPts val="1600"/>
              </a:lnSpc>
              <a:buNone/>
            </a:pPr>
            <a:r>
              <a:rPr lang="en-US" sz="1100" dirty="0">
                <a:solidFill>
                  <a:srgbClr val="444444"/>
                </a:solidFill>
                <a:latin typeface="Arial" pitchFamily="34" charset="0"/>
                <a:ea typeface="Arial" pitchFamily="34" charset="-122"/>
                <a:cs typeface="Arial" pitchFamily="34" charset="-120"/>
              </a:rPr>
              <a:t>Trans-Andean pass through Punta Olímpica into the Amazonian watershed. Mist-shrouded slopes (ceja de selva), colonial cobblestones, and Don Bosco master workshops.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731520" y="457200"/>
            <a:ext cx="7315200" cy="274320"/>
          </a:xfrm>
          <a:prstGeom prst="rect">
            <a:avLst/>
          </a:prstGeom>
          <a:noFill/>
          <a:ln/>
        </p:spPr>
        <p:txBody>
          <a:bodyPr wrap="square" rtlCol="0" anchor="ctr"/>
          <a:lstStyle/>
          <a:p>
            <a:pPr indent="0" marL="0">
              <a:buNone/>
            </a:pPr>
            <a:r>
              <a:rPr lang="en-US" sz="1000" b="1" spc="300" kern="0" dirty="0">
                <a:solidFill>
                  <a:srgbClr val="C69255"/>
                </a:solidFill>
                <a:latin typeface="Arial" pitchFamily="34" charset="0"/>
                <a:ea typeface="Arial" pitchFamily="34" charset="-122"/>
                <a:cs typeface="Arial" pitchFamily="34" charset="-120"/>
              </a:rPr>
              <a:t>SAFETY &amp; WILDERNESS MEDICINE</a:t>
            </a:r>
            <a:endParaRPr lang="en-US" sz="1000" dirty="0"/>
          </a:p>
        </p:txBody>
      </p:sp>
      <p:sp>
        <p:nvSpPr>
          <p:cNvPr id="3" name="Text 1"/>
          <p:cNvSpPr/>
          <p:nvPr/>
        </p:nvSpPr>
        <p:spPr>
          <a:xfrm>
            <a:off x="731520" y="777240"/>
            <a:ext cx="10515600" cy="7315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The Science of Progressive Acclimatization</a:t>
            </a:r>
            <a:endParaRPr lang="en-US" sz="2600" dirty="0"/>
          </a:p>
        </p:txBody>
      </p:sp>
      <p:sp>
        <p:nvSpPr>
          <p:cNvPr id="4" name="Text 2"/>
          <p:cNvSpPr/>
          <p:nvPr/>
        </p:nvSpPr>
        <p:spPr>
          <a:xfrm>
            <a:off x="731520" y="1645920"/>
            <a:ext cx="10698480" cy="640080"/>
          </a:xfrm>
          <a:prstGeom prst="rect">
            <a:avLst/>
          </a:prstGeom>
          <a:noFill/>
          <a:ln/>
        </p:spPr>
        <p:txBody>
          <a:bodyPr wrap="square" rtlCol="0" anchor="ctr"/>
          <a:lstStyle/>
          <a:p>
            <a:pPr indent="0" marL="0">
              <a:buNone/>
            </a:pPr>
            <a:r>
              <a:rPr lang="en-US" sz="1300" dirty="0">
                <a:solidFill>
                  <a:srgbClr val="8E8E93"/>
                </a:solidFill>
                <a:latin typeface="Arial" pitchFamily="34" charset="0"/>
                <a:ea typeface="Arial" pitchFamily="34" charset="-122"/>
                <a:cs typeface="Arial" pitchFamily="34" charset="-120"/>
              </a:rPr>
              <a:t>We apply the mountain medicine rule of "Climb high, sleep low"—gaining elevation during daytime trail hours and descending to rest in oxygen-dense valley outposts.</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31520" y="2468880"/>
          <a:ext cx="10698480" cy="914400"/>
        </p:xfrm>
        <a:graphic>
          <a:graphicData uri="http://schemas.openxmlformats.org/drawingml/2006/table">
            <a:tbl>
              <a:tblPr/>
              <a:tblGrid>
                <a:gridCol w="914400"/>
                <a:gridCol w="2926080"/>
                <a:gridCol w="2103120"/>
                <a:gridCol w="2011680"/>
                <a:gridCol w="2743200"/>
              </a:tblGrid>
              <a:tr h="0">
                <a:tc>
                  <a:txBody>
                    <a:bodyPr/>
                    <a:lstStyle/>
                    <a:p>
                      <a:pPr indent="0" marL="0">
                        <a:buNone/>
                      </a:pPr>
                      <a:r>
                        <a:rPr lang="en-US" sz="1000" b="1" dirty="0">
                          <a:solidFill>
                            <a:srgbClr val="C69255"/>
                          </a:solidFill>
                          <a:latin typeface="Arial" pitchFamily="34" charset="0"/>
                          <a:ea typeface="Arial" pitchFamily="34" charset="-122"/>
                          <a:cs typeface="Arial" pitchFamily="34" charset="-120"/>
                        </a:rPr>
                        <a:t>Day</a:t>
                      </a:r>
                      <a:endParaRPr lang="en-US" sz="1000" dirty="0">
                        <a:latin typeface="Arial" charset="0"/>
                        <a:ea typeface="Arial" charset="0"/>
                        <a:cs typeface="Arial" charset="0"/>
                      </a:endParaRPr>
                    </a:p>
                  </a:txBody>
                  <a:tcPr marL="91440" marR="91440" marT="45720" marB="45720">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solidFill>
                      <a:srgbClr val="252528"/>
                    </a:solidFill>
                  </a:tcPr>
                </a:tc>
                <a:tc>
                  <a:txBody>
                    <a:bodyPr/>
                    <a:lstStyle/>
                    <a:p>
                      <a:pPr indent="0" marL="0">
                        <a:buNone/>
                      </a:pPr>
                      <a:r>
                        <a:rPr lang="en-US" sz="1000" b="1" dirty="0">
                          <a:solidFill>
                            <a:srgbClr val="C69255"/>
                          </a:solidFill>
                          <a:latin typeface="Arial" pitchFamily="34" charset="0"/>
                          <a:ea typeface="Arial" pitchFamily="34" charset="-122"/>
                          <a:cs typeface="Arial" pitchFamily="34" charset="-120"/>
                        </a:rPr>
                        <a:t>Destination / Exploration</a:t>
                      </a:r>
                      <a:endParaRPr lang="en-US" sz="1000" dirty="0">
                        <a:latin typeface="Arial" charset="0"/>
                        <a:ea typeface="Arial" charset="0"/>
                        <a:cs typeface="Arial" charset="0"/>
                      </a:endParaRPr>
                    </a:p>
                  </a:txBody>
                  <a:tcPr marL="91440" marR="91440" marT="45720" marB="45720">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solidFill>
                      <a:srgbClr val="252528"/>
                    </a:solidFill>
                  </a:tcPr>
                </a:tc>
                <a:tc>
                  <a:txBody>
                    <a:bodyPr/>
                    <a:lstStyle/>
                    <a:p>
                      <a:pPr indent="0" marL="0">
                        <a:buNone/>
                      </a:pPr>
                      <a:r>
                        <a:rPr lang="en-US" sz="1000" b="1" dirty="0">
                          <a:solidFill>
                            <a:srgbClr val="C69255"/>
                          </a:solidFill>
                          <a:latin typeface="Arial" pitchFamily="34" charset="0"/>
                          <a:ea typeface="Arial" pitchFamily="34" charset="-122"/>
                          <a:cs typeface="Arial" pitchFamily="34" charset="-120"/>
                        </a:rPr>
                        <a:t>Peak Daytime Elevation</a:t>
                      </a:r>
                      <a:endParaRPr lang="en-US" sz="1000" dirty="0">
                        <a:latin typeface="Arial" charset="0"/>
                        <a:ea typeface="Arial" charset="0"/>
                        <a:cs typeface="Arial" charset="0"/>
                      </a:endParaRPr>
                    </a:p>
                  </a:txBody>
                  <a:tcPr marL="91440" marR="91440" marT="45720" marB="45720">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solidFill>
                      <a:srgbClr val="252528"/>
                    </a:solidFill>
                  </a:tcPr>
                </a:tc>
                <a:tc>
                  <a:txBody>
                    <a:bodyPr/>
                    <a:lstStyle/>
                    <a:p>
                      <a:pPr indent="0" marL="0">
                        <a:buNone/>
                      </a:pPr>
                      <a:r>
                        <a:rPr lang="en-US" sz="1000" b="1" dirty="0">
                          <a:solidFill>
                            <a:srgbClr val="C69255"/>
                          </a:solidFill>
                          <a:latin typeface="Arial" pitchFamily="34" charset="0"/>
                          <a:ea typeface="Arial" pitchFamily="34" charset="-122"/>
                          <a:cs typeface="Arial" pitchFamily="34" charset="-120"/>
                        </a:rPr>
                        <a:t>Overnight Sleep Elevation</a:t>
                      </a:r>
                      <a:endParaRPr lang="en-US" sz="1000" dirty="0">
                        <a:latin typeface="Arial" charset="0"/>
                        <a:ea typeface="Arial" charset="0"/>
                        <a:cs typeface="Arial" charset="0"/>
                      </a:endParaRPr>
                    </a:p>
                  </a:txBody>
                  <a:tcPr marL="91440" marR="91440" marT="45720" marB="45720">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solidFill>
                      <a:srgbClr val="252528"/>
                    </a:solidFill>
                  </a:tcPr>
                </a:tc>
                <a:tc>
                  <a:txBody>
                    <a:bodyPr/>
                    <a:lstStyle/>
                    <a:p>
                      <a:pPr indent="0" marL="0">
                        <a:buNone/>
                      </a:pPr>
                      <a:r>
                        <a:rPr lang="en-US" sz="1000" b="1" dirty="0">
                          <a:solidFill>
                            <a:srgbClr val="C69255"/>
                          </a:solidFill>
                          <a:latin typeface="Arial" pitchFamily="34" charset="0"/>
                          <a:ea typeface="Arial" pitchFamily="34" charset="-122"/>
                          <a:cs typeface="Arial" pitchFamily="34" charset="-120"/>
                        </a:rPr>
                        <a:t>Physiological Strategy</a:t>
                      </a:r>
                      <a:endParaRPr lang="en-US" sz="1000" dirty="0">
                        <a:latin typeface="Arial" charset="0"/>
                        <a:ea typeface="Arial" charset="0"/>
                        <a:cs typeface="Arial" charset="0"/>
                      </a:endParaRPr>
                    </a:p>
                  </a:txBody>
                  <a:tcPr marL="91440" marR="91440" marT="45720" marB="45720">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solidFill>
                      <a:srgbClr val="252528"/>
                    </a:solidFill>
                  </a:tcPr>
                </a:tc>
              </a:tr>
              <a:tr h="0">
                <a:tc>
                  <a:txBody>
                    <a:bodyPr/>
                    <a:lstStyle/>
                    <a:p>
                      <a:pPr indent="0" marL="0">
                        <a:buNone/>
                      </a:pPr>
                      <a:r>
                        <a:rPr lang="en-US" sz="1000" dirty="0">
                          <a:solidFill>
                            <a:srgbClr val="FFFFFF"/>
                          </a:solidFill>
                          <a:latin typeface="Arial" pitchFamily="34" charset="0"/>
                          <a:ea typeface="Arial" pitchFamily="34" charset="-122"/>
                          <a:cs typeface="Arial" pitchFamily="34" charset="-120"/>
                        </a:rPr>
                        <a:t>Day 1</a:t>
                      </a:r>
                      <a:endParaRPr lang="en-US" sz="1000" dirty="0">
                        <a:latin typeface="Arial" charset="0"/>
                        <a:ea typeface="Arial" charset="0"/>
                        <a:cs typeface="Arial" charset="0"/>
                      </a:endParaRPr>
                    </a:p>
                  </a:txBody>
                  <a:tcPr marL="91440" marR="91440" marT="45720" marB="45720">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tcPr>
                </a:tc>
                <a:tc>
                  <a:txBody>
                    <a:bodyPr/>
                    <a:lstStyle/>
                    <a:p>
                      <a:pPr indent="0" marL="0">
                        <a:buNone/>
                      </a:pPr>
                      <a:r>
                        <a:rPr lang="en-US" sz="1000" dirty="0">
                          <a:solidFill>
                            <a:srgbClr val="FFFFFF"/>
                          </a:solidFill>
                          <a:latin typeface="Arial" pitchFamily="34" charset="0"/>
                          <a:ea typeface="Arial" pitchFamily="34" charset="-122"/>
                          <a:cs typeface="Arial" pitchFamily="34" charset="-120"/>
                        </a:rPr>
                        <a:t>Anta Arrival / Santa Cruz Lodge</a:t>
                      </a:r>
                      <a:endParaRPr lang="en-US" sz="1000" dirty="0">
                        <a:latin typeface="Arial" charset="0"/>
                        <a:ea typeface="Arial" charset="0"/>
                        <a:cs typeface="Arial" charset="0"/>
                      </a:endParaRPr>
                    </a:p>
                  </a:txBody>
                  <a:tcPr marL="91440" marR="91440" marT="45720" marB="45720">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tcPr>
                </a:tc>
                <a:tc>
                  <a:txBody>
                    <a:bodyPr/>
                    <a:lstStyle/>
                    <a:p>
                      <a:pPr indent="0" marL="0">
                        <a:buNone/>
                      </a:pPr>
                      <a:r>
                        <a:rPr lang="en-US" sz="1000" dirty="0">
                          <a:solidFill>
                            <a:srgbClr val="FFFFFF"/>
                          </a:solidFill>
                          <a:latin typeface="Arial" pitchFamily="34" charset="0"/>
                          <a:ea typeface="Arial" pitchFamily="34" charset="-122"/>
                          <a:cs typeface="Arial" pitchFamily="34" charset="-120"/>
                        </a:rPr>
                        <a:t>8,950 ft / 2,730 m (Airport)</a:t>
                      </a:r>
                      <a:endParaRPr lang="en-US" sz="1000" dirty="0">
                        <a:latin typeface="Arial" charset="0"/>
                        <a:ea typeface="Arial" charset="0"/>
                        <a:cs typeface="Arial" charset="0"/>
                      </a:endParaRPr>
                    </a:p>
                  </a:txBody>
                  <a:tcPr marL="91440" marR="91440" marT="45720" marB="45720">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tcPr>
                </a:tc>
                <a:tc>
                  <a:txBody>
                    <a:bodyPr/>
                    <a:lstStyle/>
                    <a:p>
                      <a:pPr indent="0" marL="0">
                        <a:buNone/>
                      </a:pPr>
                      <a:r>
                        <a:rPr lang="en-US" sz="1000" dirty="0">
                          <a:solidFill>
                            <a:srgbClr val="FFFFFF"/>
                          </a:solidFill>
                          <a:latin typeface="Arial" pitchFamily="34" charset="0"/>
                          <a:ea typeface="Arial" pitchFamily="34" charset="-122"/>
                          <a:cs typeface="Arial" pitchFamily="34" charset="-120"/>
                        </a:rPr>
                        <a:t>7,380 ft / 2,250 m (Lodge)</a:t>
                      </a:r>
                      <a:endParaRPr lang="en-US" sz="1000" dirty="0">
                        <a:latin typeface="Arial" charset="0"/>
                        <a:ea typeface="Arial" charset="0"/>
                        <a:cs typeface="Arial" charset="0"/>
                      </a:endParaRPr>
                    </a:p>
                  </a:txBody>
                  <a:tcPr marL="91440" marR="91440" marT="45720" marB="45720">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tcPr>
                </a:tc>
                <a:tc>
                  <a:txBody>
                    <a:bodyPr/>
                    <a:lstStyle/>
                    <a:p>
                      <a:pPr indent="0" marL="0">
                        <a:buNone/>
                      </a:pPr>
                      <a:r>
                        <a:rPr lang="en-US" sz="1000" dirty="0">
                          <a:solidFill>
                            <a:srgbClr val="8E8E93"/>
                          </a:solidFill>
                          <a:latin typeface="Arial" pitchFamily="34" charset="0"/>
                          <a:ea typeface="Arial" pitchFamily="34" charset="-122"/>
                          <a:cs typeface="Arial" pitchFamily="34" charset="-120"/>
                        </a:rPr>
                        <a:t>Low-elevation landing and gentle rest</a:t>
                      </a:r>
                      <a:endParaRPr lang="en-US" sz="1000" dirty="0">
                        <a:latin typeface="Arial" charset="0"/>
                        <a:ea typeface="Arial" charset="0"/>
                        <a:cs typeface="Arial" charset="0"/>
                      </a:endParaRPr>
                    </a:p>
                  </a:txBody>
                  <a:tcPr marL="91440" marR="91440" marT="45720" marB="45720">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tcPr>
                </a:tc>
              </a:tr>
              <a:tr h="0">
                <a:tc>
                  <a:txBody>
                    <a:bodyPr/>
                    <a:lstStyle/>
                    <a:p>
                      <a:pPr indent="0" marL="0">
                        <a:buNone/>
                      </a:pPr>
                      <a:r>
                        <a:rPr lang="en-US" sz="1000" dirty="0">
                          <a:solidFill>
                            <a:srgbClr val="FFFFFF"/>
                          </a:solidFill>
                          <a:latin typeface="Arial" pitchFamily="34" charset="0"/>
                          <a:ea typeface="Arial" pitchFamily="34" charset="-122"/>
                          <a:cs typeface="Arial" pitchFamily="34" charset="-120"/>
                        </a:rPr>
                        <a:t>Day 2</a:t>
                      </a:r>
                      <a:endParaRPr lang="en-US" sz="1000" dirty="0">
                        <a:latin typeface="Arial" charset="0"/>
                        <a:ea typeface="Arial" charset="0"/>
                        <a:cs typeface="Arial" charset="0"/>
                      </a:endParaRPr>
                    </a:p>
                  </a:txBody>
                  <a:tcPr marL="91440" marR="91440" marT="45720" marB="45720">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tcPr>
                </a:tc>
                <a:tc>
                  <a:txBody>
                    <a:bodyPr/>
                    <a:lstStyle/>
                    <a:p>
                      <a:pPr indent="0" marL="0">
                        <a:buNone/>
                      </a:pPr>
                      <a:r>
                        <a:rPr lang="en-US" sz="1000" dirty="0">
                          <a:solidFill>
                            <a:srgbClr val="FFFFFF"/>
                          </a:solidFill>
                          <a:latin typeface="Arial" pitchFamily="34" charset="0"/>
                          <a:ea typeface="Arial" pitchFamily="34" charset="-122"/>
                          <a:cs typeface="Arial" pitchFamily="34" charset="-120"/>
                        </a:rPr>
                        <a:t>Cordillera Negra &amp; Puya Sanctuaries</a:t>
                      </a:r>
                      <a:endParaRPr lang="en-US" sz="1000" dirty="0">
                        <a:latin typeface="Arial" charset="0"/>
                        <a:ea typeface="Arial" charset="0"/>
                        <a:cs typeface="Arial" charset="0"/>
                      </a:endParaRPr>
                    </a:p>
                  </a:txBody>
                  <a:tcPr marL="91440" marR="91440" marT="45720" marB="45720">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tcPr>
                </a:tc>
                <a:tc>
                  <a:txBody>
                    <a:bodyPr/>
                    <a:lstStyle/>
                    <a:p>
                      <a:pPr indent="0" marL="0">
                        <a:buNone/>
                      </a:pPr>
                      <a:r>
                        <a:rPr lang="en-US" sz="1000" dirty="0">
                          <a:solidFill>
                            <a:srgbClr val="FFFFFF"/>
                          </a:solidFill>
                          <a:latin typeface="Arial" pitchFamily="34" charset="0"/>
                          <a:ea typeface="Arial" pitchFamily="34" charset="-122"/>
                          <a:cs typeface="Arial" pitchFamily="34" charset="-120"/>
                        </a:rPr>
                        <a:t>12,950 ft / 3,950 m</a:t>
                      </a:r>
                      <a:endParaRPr lang="en-US" sz="1000" dirty="0">
                        <a:latin typeface="Arial" charset="0"/>
                        <a:ea typeface="Arial" charset="0"/>
                        <a:cs typeface="Arial" charset="0"/>
                      </a:endParaRPr>
                    </a:p>
                  </a:txBody>
                  <a:tcPr marL="91440" marR="91440" marT="45720" marB="45720">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tcPr>
                </a:tc>
                <a:tc>
                  <a:txBody>
                    <a:bodyPr/>
                    <a:lstStyle/>
                    <a:p>
                      <a:pPr indent="0" marL="0">
                        <a:buNone/>
                      </a:pPr>
                      <a:r>
                        <a:rPr lang="en-US" sz="1000" dirty="0">
                          <a:solidFill>
                            <a:srgbClr val="FFFFFF"/>
                          </a:solidFill>
                          <a:latin typeface="Arial" pitchFamily="34" charset="0"/>
                          <a:ea typeface="Arial" pitchFamily="34" charset="-122"/>
                          <a:cs typeface="Arial" pitchFamily="34" charset="-120"/>
                        </a:rPr>
                        <a:t>7,380 ft / 2,250 m (Lodge)</a:t>
                      </a:r>
                      <a:endParaRPr lang="en-US" sz="1000" dirty="0">
                        <a:latin typeface="Arial" charset="0"/>
                        <a:ea typeface="Arial" charset="0"/>
                        <a:cs typeface="Arial" charset="0"/>
                      </a:endParaRPr>
                    </a:p>
                  </a:txBody>
                  <a:tcPr marL="91440" marR="91440" marT="45720" marB="45720">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tcPr>
                </a:tc>
                <a:tc>
                  <a:txBody>
                    <a:bodyPr/>
                    <a:lstStyle/>
                    <a:p>
                      <a:pPr indent="0" marL="0">
                        <a:buNone/>
                      </a:pPr>
                      <a:r>
                        <a:rPr lang="en-US" sz="1000" dirty="0">
                          <a:solidFill>
                            <a:srgbClr val="8E8E93"/>
                          </a:solidFill>
                          <a:latin typeface="Arial" pitchFamily="34" charset="0"/>
                          <a:ea typeface="Arial" pitchFamily="34" charset="-122"/>
                          <a:cs typeface="Arial" pitchFamily="34" charset="-120"/>
                        </a:rPr>
                        <a:t>Daytime hypoxic stimulus, valley sleep</a:t>
                      </a:r>
                      <a:endParaRPr lang="en-US" sz="1000" dirty="0">
                        <a:latin typeface="Arial" charset="0"/>
                        <a:ea typeface="Arial" charset="0"/>
                        <a:cs typeface="Arial" charset="0"/>
                      </a:endParaRPr>
                    </a:p>
                  </a:txBody>
                  <a:tcPr marL="91440" marR="91440" marT="45720" marB="45720">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tcPr>
                </a:tc>
              </a:tr>
              <a:tr h="0">
                <a:tc>
                  <a:txBody>
                    <a:bodyPr/>
                    <a:lstStyle/>
                    <a:p>
                      <a:pPr indent="0" marL="0">
                        <a:buNone/>
                      </a:pPr>
                      <a:r>
                        <a:rPr lang="en-US" sz="1000" dirty="0">
                          <a:solidFill>
                            <a:srgbClr val="FFFFFF"/>
                          </a:solidFill>
                          <a:latin typeface="Arial" pitchFamily="34" charset="0"/>
                          <a:ea typeface="Arial" pitchFamily="34" charset="-122"/>
                          <a:cs typeface="Arial" pitchFamily="34" charset="-120"/>
                        </a:rPr>
                        <a:t>Day 3</a:t>
                      </a:r>
                      <a:endParaRPr lang="en-US" sz="1000" dirty="0">
                        <a:latin typeface="Arial" charset="0"/>
                        <a:ea typeface="Arial" charset="0"/>
                        <a:cs typeface="Arial" charset="0"/>
                      </a:endParaRPr>
                    </a:p>
                  </a:txBody>
                  <a:tcPr marL="91440" marR="91440" marT="45720" marB="45720">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tcPr>
                </a:tc>
                <a:tc>
                  <a:txBody>
                    <a:bodyPr/>
                    <a:lstStyle/>
                    <a:p>
                      <a:pPr indent="0" marL="0">
                        <a:buNone/>
                      </a:pPr>
                      <a:r>
                        <a:rPr lang="en-US" sz="1000" dirty="0">
                          <a:solidFill>
                            <a:srgbClr val="FFFFFF"/>
                          </a:solidFill>
                          <a:latin typeface="Arial" pitchFamily="34" charset="0"/>
                          <a:ea typeface="Arial" pitchFamily="34" charset="-122"/>
                          <a:cs typeface="Arial" pitchFamily="34" charset="-120"/>
                        </a:rPr>
                        <a:t>Laguna Parón High Moraine / Llanganuco</a:t>
                      </a:r>
                      <a:endParaRPr lang="en-US" sz="1000" dirty="0">
                        <a:latin typeface="Arial" charset="0"/>
                        <a:ea typeface="Arial" charset="0"/>
                        <a:cs typeface="Arial" charset="0"/>
                      </a:endParaRPr>
                    </a:p>
                  </a:txBody>
                  <a:tcPr marL="91440" marR="91440" marT="45720" marB="45720">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tcPr>
                </a:tc>
                <a:tc>
                  <a:txBody>
                    <a:bodyPr/>
                    <a:lstStyle/>
                    <a:p>
                      <a:pPr indent="0" marL="0">
                        <a:buNone/>
                      </a:pPr>
                      <a:r>
                        <a:rPr lang="en-US" sz="1000" dirty="0">
                          <a:solidFill>
                            <a:srgbClr val="FFFFFF"/>
                          </a:solidFill>
                          <a:latin typeface="Arial" pitchFamily="34" charset="0"/>
                          <a:ea typeface="Arial" pitchFamily="34" charset="-122"/>
                          <a:cs typeface="Arial" pitchFamily="34" charset="-120"/>
                        </a:rPr>
                        <a:t>13,730 ft / 4,185 m (Parón)</a:t>
                      </a:r>
                      <a:endParaRPr lang="en-US" sz="1000" dirty="0">
                        <a:latin typeface="Arial" charset="0"/>
                        <a:ea typeface="Arial" charset="0"/>
                        <a:cs typeface="Arial" charset="0"/>
                      </a:endParaRPr>
                    </a:p>
                  </a:txBody>
                  <a:tcPr marL="91440" marR="91440" marT="45720" marB="45720">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tcPr>
                </a:tc>
                <a:tc>
                  <a:txBody>
                    <a:bodyPr/>
                    <a:lstStyle/>
                    <a:p>
                      <a:pPr indent="0" marL="0">
                        <a:buNone/>
                      </a:pPr>
                      <a:r>
                        <a:rPr lang="en-US" sz="1000" dirty="0">
                          <a:solidFill>
                            <a:srgbClr val="FFFFFF"/>
                          </a:solidFill>
                          <a:latin typeface="Arial" pitchFamily="34" charset="0"/>
                          <a:ea typeface="Arial" pitchFamily="34" charset="-122"/>
                          <a:cs typeface="Arial" pitchFamily="34" charset="-120"/>
                        </a:rPr>
                        <a:t>8,200 ft / 2,500 m (Wayarumi)</a:t>
                      </a:r>
                      <a:endParaRPr lang="en-US" sz="1000" dirty="0">
                        <a:latin typeface="Arial" charset="0"/>
                        <a:ea typeface="Arial" charset="0"/>
                        <a:cs typeface="Arial" charset="0"/>
                      </a:endParaRPr>
                    </a:p>
                  </a:txBody>
                  <a:tcPr marL="91440" marR="91440" marT="45720" marB="45720">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tcPr>
                </a:tc>
                <a:tc>
                  <a:txBody>
                    <a:bodyPr/>
                    <a:lstStyle/>
                    <a:p>
                      <a:pPr indent="0" marL="0">
                        <a:buNone/>
                      </a:pPr>
                      <a:r>
                        <a:rPr lang="en-US" sz="1000" dirty="0">
                          <a:solidFill>
                            <a:srgbClr val="8E8E93"/>
                          </a:solidFill>
                          <a:latin typeface="Arial" pitchFamily="34" charset="0"/>
                          <a:ea typeface="Arial" pitchFamily="34" charset="-122"/>
                          <a:cs typeface="Arial" pitchFamily="34" charset="-120"/>
                        </a:rPr>
                        <a:t>Adapting to high moraine breathing</a:t>
                      </a:r>
                      <a:endParaRPr lang="en-US" sz="1000" dirty="0">
                        <a:latin typeface="Arial" charset="0"/>
                        <a:ea typeface="Arial" charset="0"/>
                        <a:cs typeface="Arial" charset="0"/>
                      </a:endParaRPr>
                    </a:p>
                  </a:txBody>
                  <a:tcPr marL="91440" marR="91440" marT="45720" marB="45720">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tcPr>
                </a:tc>
              </a:tr>
              <a:tr h="0">
                <a:tc>
                  <a:txBody>
                    <a:bodyPr/>
                    <a:lstStyle/>
                    <a:p>
                      <a:pPr indent="0" marL="0">
                        <a:buNone/>
                      </a:pPr>
                      <a:r>
                        <a:rPr lang="en-US" sz="1000" dirty="0">
                          <a:solidFill>
                            <a:srgbClr val="FFFFFF"/>
                          </a:solidFill>
                          <a:latin typeface="Arial" pitchFamily="34" charset="0"/>
                          <a:ea typeface="Arial" pitchFamily="34" charset="-122"/>
                          <a:cs typeface="Arial" pitchFamily="34" charset="-120"/>
                        </a:rPr>
                        <a:t>Day 4</a:t>
                      </a:r>
                      <a:endParaRPr lang="en-US" sz="1000" dirty="0">
                        <a:latin typeface="Arial" charset="0"/>
                        <a:ea typeface="Arial" charset="0"/>
                        <a:cs typeface="Arial" charset="0"/>
                      </a:endParaRPr>
                    </a:p>
                  </a:txBody>
                  <a:tcPr marL="91440" marR="91440" marT="45720" marB="45720">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tcPr>
                </a:tc>
                <a:tc>
                  <a:txBody>
                    <a:bodyPr/>
                    <a:lstStyle/>
                    <a:p>
                      <a:pPr indent="0" marL="0">
                        <a:buNone/>
                      </a:pPr>
                      <a:r>
                        <a:rPr lang="en-US" sz="1000" dirty="0">
                          <a:solidFill>
                            <a:srgbClr val="FFFFFF"/>
                          </a:solidFill>
                          <a:latin typeface="Arial" pitchFamily="34" charset="0"/>
                          <a:ea typeface="Arial" pitchFamily="34" charset="-122"/>
                          <a:cs typeface="Arial" pitchFamily="34" charset="-120"/>
                        </a:rPr>
                        <a:t>Laguna 513 Basin / Yungay Cycling</a:t>
                      </a:r>
                      <a:endParaRPr lang="en-US" sz="1000" dirty="0">
                        <a:latin typeface="Arial" charset="0"/>
                        <a:ea typeface="Arial" charset="0"/>
                        <a:cs typeface="Arial" charset="0"/>
                      </a:endParaRPr>
                    </a:p>
                  </a:txBody>
                  <a:tcPr marL="91440" marR="91440" marT="45720" marB="45720">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tcPr>
                </a:tc>
                <a:tc>
                  <a:txBody>
                    <a:bodyPr/>
                    <a:lstStyle/>
                    <a:p>
                      <a:pPr indent="0" marL="0">
                        <a:buNone/>
                      </a:pPr>
                      <a:r>
                        <a:rPr lang="en-US" sz="1000" dirty="0">
                          <a:solidFill>
                            <a:srgbClr val="FFFFFF"/>
                          </a:solidFill>
                          <a:latin typeface="Arial" pitchFamily="34" charset="0"/>
                          <a:ea typeface="Arial" pitchFamily="34" charset="-122"/>
                          <a:cs typeface="Arial" pitchFamily="34" charset="-120"/>
                        </a:rPr>
                        <a:t>14,530 ft / 4,431 m (Laguna 513)</a:t>
                      </a:r>
                      <a:endParaRPr lang="en-US" sz="1000" dirty="0">
                        <a:latin typeface="Arial" charset="0"/>
                        <a:ea typeface="Arial" charset="0"/>
                        <a:cs typeface="Arial" charset="0"/>
                      </a:endParaRPr>
                    </a:p>
                  </a:txBody>
                  <a:tcPr marL="91440" marR="91440" marT="45720" marB="45720">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tcPr>
                </a:tc>
                <a:tc>
                  <a:txBody>
                    <a:bodyPr/>
                    <a:lstStyle/>
                    <a:p>
                      <a:pPr indent="0" marL="0">
                        <a:buNone/>
                      </a:pPr>
                      <a:r>
                        <a:rPr lang="en-US" sz="1000" dirty="0">
                          <a:solidFill>
                            <a:srgbClr val="FFFFFF"/>
                          </a:solidFill>
                          <a:latin typeface="Arial" pitchFamily="34" charset="0"/>
                          <a:ea typeface="Arial" pitchFamily="34" charset="-122"/>
                          <a:cs typeface="Arial" pitchFamily="34" charset="-120"/>
                        </a:rPr>
                        <a:t>8,200 ft / 2,500 m (Wayarumi)</a:t>
                      </a:r>
                      <a:endParaRPr lang="en-US" sz="1000" dirty="0">
                        <a:latin typeface="Arial" charset="0"/>
                        <a:ea typeface="Arial" charset="0"/>
                        <a:cs typeface="Arial" charset="0"/>
                      </a:endParaRPr>
                    </a:p>
                  </a:txBody>
                  <a:tcPr marL="91440" marR="91440" marT="45720" marB="45720">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tcPr>
                </a:tc>
                <a:tc>
                  <a:txBody>
                    <a:bodyPr/>
                    <a:lstStyle/>
                    <a:p>
                      <a:pPr indent="0" marL="0">
                        <a:buNone/>
                      </a:pPr>
                      <a:r>
                        <a:rPr lang="en-US" sz="1000" dirty="0">
                          <a:solidFill>
                            <a:srgbClr val="8E8E93"/>
                          </a:solidFill>
                          <a:latin typeface="Arial" pitchFamily="34" charset="0"/>
                          <a:ea typeface="Arial" pitchFamily="34" charset="-122"/>
                          <a:cs typeface="Arial" pitchFamily="34" charset="-120"/>
                        </a:rPr>
                        <a:t>Peak physical endurance in solitude</a:t>
                      </a:r>
                      <a:endParaRPr lang="en-US" sz="1000" dirty="0">
                        <a:latin typeface="Arial" charset="0"/>
                        <a:ea typeface="Arial" charset="0"/>
                        <a:cs typeface="Arial" charset="0"/>
                      </a:endParaRPr>
                    </a:p>
                  </a:txBody>
                  <a:tcPr marL="91440" marR="91440" marT="45720" marB="45720">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tcPr>
                </a:tc>
              </a:tr>
              <a:tr h="0">
                <a:tc>
                  <a:txBody>
                    <a:bodyPr/>
                    <a:lstStyle/>
                    <a:p>
                      <a:pPr indent="0" marL="0">
                        <a:buNone/>
                      </a:pPr>
                      <a:r>
                        <a:rPr lang="en-US" sz="1000" dirty="0">
                          <a:solidFill>
                            <a:srgbClr val="FFFFFF"/>
                          </a:solidFill>
                          <a:latin typeface="Arial" pitchFamily="34" charset="0"/>
                          <a:ea typeface="Arial" pitchFamily="34" charset="-122"/>
                          <a:cs typeface="Arial" pitchFamily="34" charset="-120"/>
                        </a:rPr>
                        <a:t>Day 5</a:t>
                      </a:r>
                      <a:endParaRPr lang="en-US" sz="1000" dirty="0">
                        <a:latin typeface="Arial" charset="0"/>
                        <a:ea typeface="Arial" charset="0"/>
                        <a:cs typeface="Arial" charset="0"/>
                      </a:endParaRPr>
                    </a:p>
                  </a:txBody>
                  <a:tcPr marL="91440" marR="91440" marT="45720" marB="45720">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tcPr>
                </a:tc>
                <a:tc>
                  <a:txBody>
                    <a:bodyPr/>
                    <a:lstStyle/>
                    <a:p>
                      <a:pPr indent="0" marL="0">
                        <a:buNone/>
                      </a:pPr>
                      <a:r>
                        <a:rPr lang="en-US" sz="1000" dirty="0">
                          <a:solidFill>
                            <a:srgbClr val="FFFFFF"/>
                          </a:solidFill>
                          <a:latin typeface="Arial" pitchFamily="34" charset="0"/>
                          <a:ea typeface="Arial" pitchFamily="34" charset="-122"/>
                          <a:cs typeface="Arial" pitchFamily="34" charset="-120"/>
                        </a:rPr>
                        <a:t>Punta Olímpica Pass &amp; Chacas</a:t>
                      </a:r>
                      <a:endParaRPr lang="en-US" sz="1000" dirty="0">
                        <a:latin typeface="Arial" charset="0"/>
                        <a:ea typeface="Arial" charset="0"/>
                        <a:cs typeface="Arial" charset="0"/>
                      </a:endParaRPr>
                    </a:p>
                  </a:txBody>
                  <a:tcPr marL="91440" marR="91440" marT="45720" marB="45720">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tcPr>
                </a:tc>
                <a:tc>
                  <a:txBody>
                    <a:bodyPr/>
                    <a:lstStyle/>
                    <a:p>
                      <a:pPr indent="0" marL="0">
                        <a:buNone/>
                      </a:pPr>
                      <a:r>
                        <a:rPr lang="en-US" sz="1000" dirty="0">
                          <a:solidFill>
                            <a:srgbClr val="FFFFFF"/>
                          </a:solidFill>
                          <a:latin typeface="Arial" pitchFamily="34" charset="0"/>
                          <a:ea typeface="Arial" pitchFamily="34" charset="-122"/>
                          <a:cs typeface="Arial" pitchFamily="34" charset="-120"/>
                        </a:rPr>
                        <a:t>15,530 ft / 4,736 m (Tunnel)</a:t>
                      </a:r>
                      <a:endParaRPr lang="en-US" sz="1000" dirty="0">
                        <a:latin typeface="Arial" charset="0"/>
                        <a:ea typeface="Arial" charset="0"/>
                        <a:cs typeface="Arial" charset="0"/>
                      </a:endParaRPr>
                    </a:p>
                  </a:txBody>
                  <a:tcPr marL="91440" marR="91440" marT="45720" marB="45720">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tcPr>
                </a:tc>
                <a:tc>
                  <a:txBody>
                    <a:bodyPr/>
                    <a:lstStyle/>
                    <a:p>
                      <a:pPr indent="0" marL="0">
                        <a:buNone/>
                      </a:pPr>
                      <a:r>
                        <a:rPr lang="en-US" sz="1000" dirty="0">
                          <a:solidFill>
                            <a:srgbClr val="FFFFFF"/>
                          </a:solidFill>
                          <a:latin typeface="Arial" pitchFamily="34" charset="0"/>
                          <a:ea typeface="Arial" pitchFamily="34" charset="-122"/>
                          <a:cs typeface="Arial" pitchFamily="34" charset="-120"/>
                        </a:rPr>
                        <a:t>9,180 ft / 2,800 m (Cuesta Serena)</a:t>
                      </a:r>
                      <a:endParaRPr lang="en-US" sz="1000" dirty="0">
                        <a:latin typeface="Arial" charset="0"/>
                        <a:ea typeface="Arial" charset="0"/>
                        <a:cs typeface="Arial" charset="0"/>
                      </a:endParaRPr>
                    </a:p>
                  </a:txBody>
                  <a:tcPr marL="91440" marR="91440" marT="45720" marB="45720">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tcPr>
                </a:tc>
                <a:tc>
                  <a:txBody>
                    <a:bodyPr/>
                    <a:lstStyle/>
                    <a:p>
                      <a:pPr indent="0" marL="0">
                        <a:buNone/>
                      </a:pPr>
                      <a:r>
                        <a:rPr lang="en-US" sz="1000" dirty="0">
                          <a:solidFill>
                            <a:srgbClr val="8E8E93"/>
                          </a:solidFill>
                          <a:latin typeface="Arial" pitchFamily="34" charset="0"/>
                          <a:ea typeface="Arial" pitchFamily="34" charset="-122"/>
                          <a:cs typeface="Arial" pitchFamily="34" charset="-120"/>
                        </a:rPr>
                        <a:t>Trans-Andean pass &amp; cultural immersion</a:t>
                      </a:r>
                      <a:endParaRPr lang="en-US" sz="1000" dirty="0">
                        <a:latin typeface="Arial" charset="0"/>
                        <a:ea typeface="Arial" charset="0"/>
                        <a:cs typeface="Arial" charset="0"/>
                      </a:endParaRPr>
                    </a:p>
                  </a:txBody>
                  <a:tcPr marL="91440" marR="91440" marT="45720" marB="45720">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tcPr>
                </a:tc>
              </a:tr>
              <a:tr h="0">
                <a:tc>
                  <a:txBody>
                    <a:bodyPr/>
                    <a:lstStyle/>
                    <a:p>
                      <a:pPr indent="0" marL="0">
                        <a:buNone/>
                      </a:pPr>
                      <a:r>
                        <a:rPr lang="en-US" sz="1000" dirty="0">
                          <a:solidFill>
                            <a:srgbClr val="C69255"/>
                          </a:solidFill>
                          <a:latin typeface="Arial" pitchFamily="34" charset="0"/>
                          <a:ea typeface="Arial" pitchFamily="34" charset="-122"/>
                          <a:cs typeface="Arial" pitchFamily="34" charset="-120"/>
                        </a:rPr>
                        <a:t>Ext.</a:t>
                      </a:r>
                      <a:endParaRPr lang="en-US" sz="1000" dirty="0">
                        <a:latin typeface="Arial" charset="0"/>
                        <a:ea typeface="Arial" charset="0"/>
                        <a:cs typeface="Arial" charset="0"/>
                      </a:endParaRPr>
                    </a:p>
                  </a:txBody>
                  <a:tcPr marL="91440" marR="91440" marT="45720" marB="45720">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tcPr>
                </a:tc>
                <a:tc>
                  <a:txBody>
                    <a:bodyPr/>
                    <a:lstStyle/>
                    <a:p>
                      <a:pPr indent="0" marL="0">
                        <a:buNone/>
                      </a:pPr>
                      <a:r>
                        <a:rPr lang="en-US" sz="1000" dirty="0">
                          <a:solidFill>
                            <a:srgbClr val="C69255"/>
                          </a:solidFill>
                          <a:latin typeface="Arial" pitchFamily="34" charset="0"/>
                          <a:ea typeface="Arial" pitchFamily="34" charset="-122"/>
                          <a:cs typeface="Arial" pitchFamily="34" charset="-120"/>
                        </a:rPr>
                        <a:t>Llaca Alpine Refuge &amp; Vallunaraju</a:t>
                      </a:r>
                      <a:endParaRPr lang="en-US" sz="1000" dirty="0">
                        <a:latin typeface="Arial" charset="0"/>
                        <a:ea typeface="Arial" charset="0"/>
                        <a:cs typeface="Arial" charset="0"/>
                      </a:endParaRPr>
                    </a:p>
                  </a:txBody>
                  <a:tcPr marL="91440" marR="91440" marT="45720" marB="45720">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tcPr>
                </a:tc>
                <a:tc>
                  <a:txBody>
                    <a:bodyPr/>
                    <a:lstStyle/>
                    <a:p>
                      <a:pPr indent="0" marL="0">
                        <a:buNone/>
                      </a:pPr>
                      <a:r>
                        <a:rPr lang="en-US" sz="1000" dirty="0">
                          <a:solidFill>
                            <a:srgbClr val="C69255"/>
                          </a:solidFill>
                          <a:latin typeface="Arial" pitchFamily="34" charset="0"/>
                          <a:ea typeface="Arial" pitchFamily="34" charset="-122"/>
                          <a:cs typeface="Arial" pitchFamily="34" charset="-120"/>
                        </a:rPr>
                        <a:t>18,655 ft / 5,686 m (Summit)</a:t>
                      </a:r>
                      <a:endParaRPr lang="en-US" sz="1000" dirty="0">
                        <a:latin typeface="Arial" charset="0"/>
                        <a:ea typeface="Arial" charset="0"/>
                        <a:cs typeface="Arial" charset="0"/>
                      </a:endParaRPr>
                    </a:p>
                  </a:txBody>
                  <a:tcPr marL="91440" marR="91440" marT="45720" marB="45720">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tcPr>
                </a:tc>
                <a:tc>
                  <a:txBody>
                    <a:bodyPr/>
                    <a:lstStyle/>
                    <a:p>
                      <a:pPr indent="0" marL="0">
                        <a:buNone/>
                      </a:pPr>
                      <a:r>
                        <a:rPr lang="en-US" sz="1000" dirty="0">
                          <a:solidFill>
                            <a:srgbClr val="C69255"/>
                          </a:solidFill>
                          <a:latin typeface="Arial" pitchFamily="34" charset="0"/>
                          <a:ea typeface="Arial" pitchFamily="34" charset="-122"/>
                          <a:cs typeface="Arial" pitchFamily="34" charset="-120"/>
                        </a:rPr>
                        <a:t>14,665 ft / 4,470 m (Refuge)</a:t>
                      </a:r>
                      <a:endParaRPr lang="en-US" sz="1000" dirty="0">
                        <a:latin typeface="Arial" charset="0"/>
                        <a:ea typeface="Arial" charset="0"/>
                        <a:cs typeface="Arial" charset="0"/>
                      </a:endParaRPr>
                    </a:p>
                  </a:txBody>
                  <a:tcPr marL="91440" marR="91440" marT="45720" marB="45720">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tcPr>
                </a:tc>
                <a:tc>
                  <a:txBody>
                    <a:bodyPr/>
                    <a:lstStyle/>
                    <a:p>
                      <a:pPr indent="0" marL="0">
                        <a:buNone/>
                      </a:pPr>
                      <a:r>
                        <a:rPr lang="en-US" sz="1000" dirty="0">
                          <a:solidFill>
                            <a:srgbClr val="C69255"/>
                          </a:solidFill>
                          <a:latin typeface="Arial" pitchFamily="34" charset="0"/>
                          <a:ea typeface="Arial" pitchFamily="34" charset="-122"/>
                          <a:cs typeface="Arial" pitchFamily="34" charset="-120"/>
                        </a:rPr>
                        <a:t>Optional: technical glacier summit</a:t>
                      </a:r>
                      <a:endParaRPr lang="en-US" sz="1000" dirty="0">
                        <a:latin typeface="Arial" charset="0"/>
                        <a:ea typeface="Arial" charset="0"/>
                        <a:cs typeface="Arial" charset="0"/>
                      </a:endParaRPr>
                    </a:p>
                  </a:txBody>
                  <a:tcPr marL="91440" marR="91440" marT="45720" marB="45720">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731520" y="457200"/>
            <a:ext cx="7315200" cy="274320"/>
          </a:xfrm>
          <a:prstGeom prst="rect">
            <a:avLst/>
          </a:prstGeom>
          <a:noFill/>
          <a:ln/>
        </p:spPr>
        <p:txBody>
          <a:bodyPr wrap="square" rtlCol="0" anchor="ctr"/>
          <a:lstStyle/>
          <a:p>
            <a:pPr indent="0" marL="0">
              <a:buNone/>
            </a:pPr>
            <a:r>
              <a:rPr lang="en-US" sz="1000" b="1" spc="300" kern="0" dirty="0">
                <a:solidFill>
                  <a:srgbClr val="C69255"/>
                </a:solidFill>
                <a:latin typeface="Arial" pitchFamily="34" charset="0"/>
                <a:ea typeface="Arial" pitchFamily="34" charset="-122"/>
                <a:cs typeface="Arial" pitchFamily="34" charset="-120"/>
              </a:rPr>
              <a:t>THE EXPEDITION FLOW</a:t>
            </a:r>
            <a:endParaRPr lang="en-US" sz="1000" dirty="0"/>
          </a:p>
        </p:txBody>
      </p:sp>
      <p:sp>
        <p:nvSpPr>
          <p:cNvPr id="3" name="Text 1"/>
          <p:cNvSpPr/>
          <p:nvPr/>
        </p:nvSpPr>
        <p:spPr>
          <a:xfrm>
            <a:off x="731520" y="777240"/>
            <a:ext cx="10515600" cy="7315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Itinerary Overview: 6 Days / 5 Nights</a:t>
            </a:r>
            <a:endParaRPr lang="en-US" sz="2600" dirty="0"/>
          </a:p>
        </p:txBody>
      </p:sp>
      <p:sp>
        <p:nvSpPr>
          <p:cNvPr id="4" name="Shape 2"/>
          <p:cNvSpPr/>
          <p:nvPr/>
        </p:nvSpPr>
        <p:spPr>
          <a:xfrm>
            <a:off x="731520" y="1828800"/>
            <a:ext cx="3429000" cy="1920240"/>
          </a:xfrm>
          <a:prstGeom prst="rect">
            <a:avLst/>
          </a:prstGeom>
          <a:solidFill>
            <a:srgbClr val="1C1C1E"/>
          </a:solidFill>
          <a:ln w="12700">
            <a:solidFill>
              <a:srgbClr val="2A2A2D"/>
            </a:solidFill>
            <a:prstDash val="solid"/>
          </a:ln>
        </p:spPr>
      </p:sp>
      <p:sp>
        <p:nvSpPr>
          <p:cNvPr id="5" name="Text 3"/>
          <p:cNvSpPr/>
          <p:nvPr/>
        </p:nvSpPr>
        <p:spPr>
          <a:xfrm>
            <a:off x="1005840" y="2011680"/>
            <a:ext cx="2743200" cy="274320"/>
          </a:xfrm>
          <a:prstGeom prst="rect">
            <a:avLst/>
          </a:prstGeom>
          <a:noFill/>
          <a:ln/>
        </p:spPr>
        <p:txBody>
          <a:bodyPr wrap="square" rtlCol="0" anchor="ctr"/>
          <a:lstStyle/>
          <a:p>
            <a:pPr indent="0" marL="0">
              <a:buNone/>
            </a:pPr>
            <a:r>
              <a:rPr lang="en-US" sz="1000" b="1" spc="200" kern="0" dirty="0">
                <a:solidFill>
                  <a:srgbClr val="C69255"/>
                </a:solidFill>
                <a:latin typeface="Arial" pitchFamily="34" charset="0"/>
                <a:ea typeface="Arial" pitchFamily="34" charset="-122"/>
                <a:cs typeface="Arial" pitchFamily="34" charset="-120"/>
              </a:rPr>
              <a:t>DAY 1</a:t>
            </a:r>
            <a:endParaRPr lang="en-US" sz="1000" dirty="0"/>
          </a:p>
        </p:txBody>
      </p:sp>
      <p:sp>
        <p:nvSpPr>
          <p:cNvPr id="6" name="Text 4"/>
          <p:cNvSpPr/>
          <p:nvPr/>
        </p:nvSpPr>
        <p:spPr>
          <a:xfrm>
            <a:off x="1005840" y="2286000"/>
            <a:ext cx="2834640" cy="457200"/>
          </a:xfrm>
          <a:prstGeom prst="rect">
            <a:avLst/>
          </a:prstGeom>
          <a:noFill/>
          <a:ln/>
        </p:spPr>
        <p:txBody>
          <a:bodyPr wrap="square"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Arrival &amp; Living Earth</a:t>
            </a:r>
            <a:endParaRPr lang="en-US" sz="1500" dirty="0"/>
          </a:p>
        </p:txBody>
      </p:sp>
      <p:sp>
        <p:nvSpPr>
          <p:cNvPr id="7" name="Text 5"/>
          <p:cNvSpPr/>
          <p:nvPr/>
        </p:nvSpPr>
        <p:spPr>
          <a:xfrm>
            <a:off x="1005840" y="2834640"/>
            <a:ext cx="2834640" cy="320040"/>
          </a:xfrm>
          <a:prstGeom prst="rect">
            <a:avLst/>
          </a:prstGeom>
          <a:noFill/>
          <a:ln/>
        </p:spPr>
        <p:txBody>
          <a:bodyPr wrap="square" rtlCol="0" anchor="ctr"/>
          <a:lstStyle/>
          <a:p>
            <a:pPr indent="0" marL="0">
              <a:buNone/>
            </a:pPr>
            <a:r>
              <a:rPr lang="en-US" sz="1000" b="1" dirty="0">
                <a:solidFill>
                  <a:srgbClr val="3A7D8C"/>
                </a:solidFill>
                <a:latin typeface="Arial" pitchFamily="34" charset="0"/>
                <a:ea typeface="Arial" pitchFamily="34" charset="-122"/>
                <a:cs typeface="Arial" pitchFamily="34" charset="-120"/>
              </a:rPr>
              <a:t>Anta / Santa Cruz Lodge</a:t>
            </a:r>
            <a:endParaRPr lang="en-US" sz="1000" dirty="0"/>
          </a:p>
        </p:txBody>
      </p:sp>
      <p:sp>
        <p:nvSpPr>
          <p:cNvPr id="8" name="Text 6"/>
          <p:cNvSpPr/>
          <p:nvPr/>
        </p:nvSpPr>
        <p:spPr>
          <a:xfrm>
            <a:off x="1005840" y="3154680"/>
            <a:ext cx="2834640" cy="457200"/>
          </a:xfrm>
          <a:prstGeom prst="rect">
            <a:avLst/>
          </a:prstGeom>
          <a:noFill/>
          <a:ln/>
        </p:spPr>
        <p:txBody>
          <a:bodyPr wrap="square" rtlCol="0" anchor="ctr"/>
          <a:lstStyle/>
          <a:p>
            <a:pPr indent="0" marL="0">
              <a:buNone/>
            </a:pPr>
            <a:r>
              <a:rPr lang="en-US" sz="1000" dirty="0">
                <a:solidFill>
                  <a:srgbClr val="8E8E93"/>
                </a:solidFill>
                <a:latin typeface="Arial" pitchFamily="34" charset="0"/>
                <a:ea typeface="Arial" pitchFamily="34" charset="-122"/>
                <a:cs typeface="Arial" pitchFamily="34" charset="-120"/>
              </a:rPr>
              <a:t>Orchard harvest &amp; rural village walk</a:t>
            </a:r>
            <a:endParaRPr lang="en-US" sz="1000" dirty="0"/>
          </a:p>
        </p:txBody>
      </p:sp>
      <p:sp>
        <p:nvSpPr>
          <p:cNvPr id="9" name="Shape 7"/>
          <p:cNvSpPr/>
          <p:nvPr/>
        </p:nvSpPr>
        <p:spPr>
          <a:xfrm>
            <a:off x="4343400" y="1828800"/>
            <a:ext cx="3429000" cy="1920240"/>
          </a:xfrm>
          <a:prstGeom prst="rect">
            <a:avLst/>
          </a:prstGeom>
          <a:solidFill>
            <a:srgbClr val="1C1C1E"/>
          </a:solidFill>
          <a:ln w="12700">
            <a:solidFill>
              <a:srgbClr val="2A2A2D"/>
            </a:solidFill>
            <a:prstDash val="solid"/>
          </a:ln>
        </p:spPr>
      </p:sp>
      <p:sp>
        <p:nvSpPr>
          <p:cNvPr id="10" name="Text 8"/>
          <p:cNvSpPr/>
          <p:nvPr/>
        </p:nvSpPr>
        <p:spPr>
          <a:xfrm>
            <a:off x="4617720" y="2011680"/>
            <a:ext cx="2743200" cy="274320"/>
          </a:xfrm>
          <a:prstGeom prst="rect">
            <a:avLst/>
          </a:prstGeom>
          <a:noFill/>
          <a:ln/>
        </p:spPr>
        <p:txBody>
          <a:bodyPr wrap="square" rtlCol="0" anchor="ctr"/>
          <a:lstStyle/>
          <a:p>
            <a:pPr indent="0" marL="0">
              <a:buNone/>
            </a:pPr>
            <a:r>
              <a:rPr lang="en-US" sz="1000" b="1" spc="200" kern="0" dirty="0">
                <a:solidFill>
                  <a:srgbClr val="C69255"/>
                </a:solidFill>
                <a:latin typeface="Arial" pitchFamily="34" charset="0"/>
                <a:ea typeface="Arial" pitchFamily="34" charset="-122"/>
                <a:cs typeface="Arial" pitchFamily="34" charset="-120"/>
              </a:rPr>
              <a:t>DAY 2</a:t>
            </a:r>
            <a:endParaRPr lang="en-US" sz="1000" dirty="0"/>
          </a:p>
        </p:txBody>
      </p:sp>
      <p:sp>
        <p:nvSpPr>
          <p:cNvPr id="11" name="Text 9"/>
          <p:cNvSpPr/>
          <p:nvPr/>
        </p:nvSpPr>
        <p:spPr>
          <a:xfrm>
            <a:off x="4617720" y="2286000"/>
            <a:ext cx="2834640" cy="457200"/>
          </a:xfrm>
          <a:prstGeom prst="rect">
            <a:avLst/>
          </a:prstGeom>
          <a:noFill/>
          <a:ln/>
        </p:spPr>
        <p:txBody>
          <a:bodyPr wrap="square"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The Great Amphitheater</a:t>
            </a:r>
            <a:endParaRPr lang="en-US" sz="1500" dirty="0"/>
          </a:p>
        </p:txBody>
      </p:sp>
      <p:sp>
        <p:nvSpPr>
          <p:cNvPr id="12" name="Text 10"/>
          <p:cNvSpPr/>
          <p:nvPr/>
        </p:nvSpPr>
        <p:spPr>
          <a:xfrm>
            <a:off x="4617720" y="2834640"/>
            <a:ext cx="2834640" cy="320040"/>
          </a:xfrm>
          <a:prstGeom prst="rect">
            <a:avLst/>
          </a:prstGeom>
          <a:noFill/>
          <a:ln/>
        </p:spPr>
        <p:txBody>
          <a:bodyPr wrap="square" rtlCol="0" anchor="ctr"/>
          <a:lstStyle/>
          <a:p>
            <a:pPr indent="0" marL="0">
              <a:buNone/>
            </a:pPr>
            <a:r>
              <a:rPr lang="en-US" sz="1000" b="1" dirty="0">
                <a:solidFill>
                  <a:srgbClr val="3A7D8C"/>
                </a:solidFill>
                <a:latin typeface="Arial" pitchFamily="34" charset="0"/>
                <a:ea typeface="Arial" pitchFamily="34" charset="-122"/>
                <a:cs typeface="Arial" pitchFamily="34" charset="-120"/>
              </a:rPr>
              <a:t>Cordillera Negra &amp; Puyas</a:t>
            </a:r>
            <a:endParaRPr lang="en-US" sz="1000" dirty="0"/>
          </a:p>
        </p:txBody>
      </p:sp>
      <p:sp>
        <p:nvSpPr>
          <p:cNvPr id="13" name="Text 11"/>
          <p:cNvSpPr/>
          <p:nvPr/>
        </p:nvSpPr>
        <p:spPr>
          <a:xfrm>
            <a:off x="4617720" y="3154680"/>
            <a:ext cx="2834640" cy="457200"/>
          </a:xfrm>
          <a:prstGeom prst="rect">
            <a:avLst/>
          </a:prstGeom>
          <a:noFill/>
          <a:ln/>
        </p:spPr>
        <p:txBody>
          <a:bodyPr wrap="square" rtlCol="0" anchor="ctr"/>
          <a:lstStyle/>
          <a:p>
            <a:pPr indent="0" marL="0">
              <a:buNone/>
            </a:pPr>
            <a:r>
              <a:rPr lang="en-US" sz="1000" dirty="0">
                <a:solidFill>
                  <a:srgbClr val="8E8E93"/>
                </a:solidFill>
                <a:latin typeface="Arial" pitchFamily="34" charset="0"/>
                <a:ea typeface="Arial" pitchFamily="34" charset="-122"/>
                <a:cs typeface="Arial" pitchFamily="34" charset="-120"/>
              </a:rPr>
              <a:t>Puya Raimondii &amp; evening fire circle</a:t>
            </a:r>
            <a:endParaRPr lang="en-US" sz="1000" dirty="0"/>
          </a:p>
        </p:txBody>
      </p:sp>
      <p:sp>
        <p:nvSpPr>
          <p:cNvPr id="14" name="Shape 12"/>
          <p:cNvSpPr/>
          <p:nvPr/>
        </p:nvSpPr>
        <p:spPr>
          <a:xfrm>
            <a:off x="7955280" y="1828800"/>
            <a:ext cx="3429000" cy="1920240"/>
          </a:xfrm>
          <a:prstGeom prst="rect">
            <a:avLst/>
          </a:prstGeom>
          <a:solidFill>
            <a:srgbClr val="1C1C1E"/>
          </a:solidFill>
          <a:ln w="12700">
            <a:solidFill>
              <a:srgbClr val="2A2A2D"/>
            </a:solidFill>
            <a:prstDash val="solid"/>
          </a:ln>
        </p:spPr>
      </p:sp>
      <p:sp>
        <p:nvSpPr>
          <p:cNvPr id="15" name="Text 13"/>
          <p:cNvSpPr/>
          <p:nvPr/>
        </p:nvSpPr>
        <p:spPr>
          <a:xfrm>
            <a:off x="8229600" y="2011680"/>
            <a:ext cx="2743200" cy="274320"/>
          </a:xfrm>
          <a:prstGeom prst="rect">
            <a:avLst/>
          </a:prstGeom>
          <a:noFill/>
          <a:ln/>
        </p:spPr>
        <p:txBody>
          <a:bodyPr wrap="square" rtlCol="0" anchor="ctr"/>
          <a:lstStyle/>
          <a:p>
            <a:pPr indent="0" marL="0">
              <a:buNone/>
            </a:pPr>
            <a:r>
              <a:rPr lang="en-US" sz="1000" b="1" spc="200" kern="0" dirty="0">
                <a:solidFill>
                  <a:srgbClr val="C69255"/>
                </a:solidFill>
                <a:latin typeface="Arial" pitchFamily="34" charset="0"/>
                <a:ea typeface="Arial" pitchFamily="34" charset="-122"/>
                <a:cs typeface="Arial" pitchFamily="34" charset="-120"/>
              </a:rPr>
              <a:t>DAY 3</a:t>
            </a:r>
            <a:endParaRPr lang="en-US" sz="1000" dirty="0"/>
          </a:p>
        </p:txBody>
      </p:sp>
      <p:sp>
        <p:nvSpPr>
          <p:cNvPr id="16" name="Text 14"/>
          <p:cNvSpPr/>
          <p:nvPr/>
        </p:nvSpPr>
        <p:spPr>
          <a:xfrm>
            <a:off x="8229600" y="2286000"/>
            <a:ext cx="2834640" cy="457200"/>
          </a:xfrm>
          <a:prstGeom prst="rect">
            <a:avLst/>
          </a:prstGeom>
          <a:noFill/>
          <a:ln/>
        </p:spPr>
        <p:txBody>
          <a:bodyPr wrap="square"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Glacial Mirrors</a:t>
            </a:r>
            <a:endParaRPr lang="en-US" sz="1500" dirty="0"/>
          </a:p>
        </p:txBody>
      </p:sp>
      <p:sp>
        <p:nvSpPr>
          <p:cNvPr id="17" name="Text 15"/>
          <p:cNvSpPr/>
          <p:nvPr/>
        </p:nvSpPr>
        <p:spPr>
          <a:xfrm>
            <a:off x="8229600" y="2834640"/>
            <a:ext cx="2834640" cy="320040"/>
          </a:xfrm>
          <a:prstGeom prst="rect">
            <a:avLst/>
          </a:prstGeom>
          <a:noFill/>
          <a:ln/>
        </p:spPr>
        <p:txBody>
          <a:bodyPr wrap="square" rtlCol="0" anchor="ctr"/>
          <a:lstStyle/>
          <a:p>
            <a:pPr indent="0" marL="0">
              <a:buNone/>
            </a:pPr>
            <a:r>
              <a:rPr lang="en-US" sz="1000" b="1" dirty="0">
                <a:solidFill>
                  <a:srgbClr val="3A7D8C"/>
                </a:solidFill>
                <a:latin typeface="Arial" pitchFamily="34" charset="0"/>
                <a:ea typeface="Arial" pitchFamily="34" charset="-122"/>
                <a:cs typeface="Arial" pitchFamily="34" charset="-120"/>
              </a:rPr>
              <a:t>Laguna Parón / Llanganuco</a:t>
            </a:r>
            <a:endParaRPr lang="en-US" sz="1000" dirty="0"/>
          </a:p>
        </p:txBody>
      </p:sp>
      <p:sp>
        <p:nvSpPr>
          <p:cNvPr id="18" name="Text 16"/>
          <p:cNvSpPr/>
          <p:nvPr/>
        </p:nvSpPr>
        <p:spPr>
          <a:xfrm>
            <a:off x="8229600" y="3154680"/>
            <a:ext cx="2834640" cy="457200"/>
          </a:xfrm>
          <a:prstGeom prst="rect">
            <a:avLst/>
          </a:prstGeom>
          <a:noFill/>
          <a:ln/>
        </p:spPr>
        <p:txBody>
          <a:bodyPr wrap="square" rtlCol="0" anchor="ctr"/>
          <a:lstStyle/>
          <a:p>
            <a:pPr indent="0" marL="0">
              <a:buNone/>
            </a:pPr>
            <a:r>
              <a:rPr lang="en-US" sz="1000" dirty="0">
                <a:solidFill>
                  <a:srgbClr val="8E8E93"/>
                </a:solidFill>
                <a:latin typeface="Arial" pitchFamily="34" charset="0"/>
                <a:ea typeface="Arial" pitchFamily="34" charset="-122"/>
                <a:cs typeface="Arial" pitchFamily="34" charset="-120"/>
              </a:rPr>
              <a:t>Upper moraine traverse or Queñual woods</a:t>
            </a:r>
            <a:endParaRPr lang="en-US" sz="1000" dirty="0"/>
          </a:p>
        </p:txBody>
      </p:sp>
      <p:sp>
        <p:nvSpPr>
          <p:cNvPr id="19" name="Shape 17"/>
          <p:cNvSpPr/>
          <p:nvPr/>
        </p:nvSpPr>
        <p:spPr>
          <a:xfrm>
            <a:off x="731520" y="3931920"/>
            <a:ext cx="3429000" cy="1920240"/>
          </a:xfrm>
          <a:prstGeom prst="rect">
            <a:avLst/>
          </a:prstGeom>
          <a:solidFill>
            <a:srgbClr val="1C1C1E"/>
          </a:solidFill>
          <a:ln w="12700">
            <a:solidFill>
              <a:srgbClr val="2A2A2D"/>
            </a:solidFill>
            <a:prstDash val="solid"/>
          </a:ln>
        </p:spPr>
      </p:sp>
      <p:sp>
        <p:nvSpPr>
          <p:cNvPr id="20" name="Text 18"/>
          <p:cNvSpPr/>
          <p:nvPr/>
        </p:nvSpPr>
        <p:spPr>
          <a:xfrm>
            <a:off x="1005840" y="4114800"/>
            <a:ext cx="2743200" cy="274320"/>
          </a:xfrm>
          <a:prstGeom prst="rect">
            <a:avLst/>
          </a:prstGeom>
          <a:noFill/>
          <a:ln/>
        </p:spPr>
        <p:txBody>
          <a:bodyPr wrap="square" rtlCol="0" anchor="ctr"/>
          <a:lstStyle/>
          <a:p>
            <a:pPr indent="0" marL="0">
              <a:buNone/>
            </a:pPr>
            <a:r>
              <a:rPr lang="en-US" sz="1000" b="1" spc="200" kern="0" dirty="0">
                <a:solidFill>
                  <a:srgbClr val="C69255"/>
                </a:solidFill>
                <a:latin typeface="Arial" pitchFamily="34" charset="0"/>
                <a:ea typeface="Arial" pitchFamily="34" charset="-122"/>
                <a:cs typeface="Arial" pitchFamily="34" charset="-120"/>
              </a:rPr>
              <a:t>DAY 4</a:t>
            </a:r>
            <a:endParaRPr lang="en-US" sz="1000" dirty="0"/>
          </a:p>
        </p:txBody>
      </p:sp>
      <p:sp>
        <p:nvSpPr>
          <p:cNvPr id="21" name="Text 19"/>
          <p:cNvSpPr/>
          <p:nvPr/>
        </p:nvSpPr>
        <p:spPr>
          <a:xfrm>
            <a:off x="1005840" y="4389120"/>
            <a:ext cx="2834640" cy="457200"/>
          </a:xfrm>
          <a:prstGeom prst="rect">
            <a:avLst/>
          </a:prstGeom>
          <a:noFill/>
          <a:ln/>
        </p:spPr>
        <p:txBody>
          <a:bodyPr wrap="square"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Untouched Moraine Tarns</a:t>
            </a:r>
            <a:endParaRPr lang="en-US" sz="1500" dirty="0"/>
          </a:p>
        </p:txBody>
      </p:sp>
      <p:sp>
        <p:nvSpPr>
          <p:cNvPr id="22" name="Text 20"/>
          <p:cNvSpPr/>
          <p:nvPr/>
        </p:nvSpPr>
        <p:spPr>
          <a:xfrm>
            <a:off x="1005840" y="4937760"/>
            <a:ext cx="2834640" cy="320040"/>
          </a:xfrm>
          <a:prstGeom prst="rect">
            <a:avLst/>
          </a:prstGeom>
          <a:noFill/>
          <a:ln/>
        </p:spPr>
        <p:txBody>
          <a:bodyPr wrap="square" rtlCol="0" anchor="ctr"/>
          <a:lstStyle/>
          <a:p>
            <a:pPr indent="0" marL="0">
              <a:buNone/>
            </a:pPr>
            <a:r>
              <a:rPr lang="en-US" sz="1000" b="1" dirty="0">
                <a:solidFill>
                  <a:srgbClr val="3A7D8C"/>
                </a:solidFill>
                <a:latin typeface="Arial" pitchFamily="34" charset="0"/>
                <a:ea typeface="Arial" pitchFamily="34" charset="-122"/>
                <a:cs typeface="Arial" pitchFamily="34" charset="-120"/>
              </a:rPr>
              <a:t>Laguna 513 / Yungay Biking</a:t>
            </a:r>
            <a:endParaRPr lang="en-US" sz="1000" dirty="0"/>
          </a:p>
        </p:txBody>
      </p:sp>
      <p:sp>
        <p:nvSpPr>
          <p:cNvPr id="23" name="Text 21"/>
          <p:cNvSpPr/>
          <p:nvPr/>
        </p:nvSpPr>
        <p:spPr>
          <a:xfrm>
            <a:off x="1005840" y="5257800"/>
            <a:ext cx="2834640" cy="457200"/>
          </a:xfrm>
          <a:prstGeom prst="rect">
            <a:avLst/>
          </a:prstGeom>
          <a:noFill/>
          <a:ln/>
        </p:spPr>
        <p:txBody>
          <a:bodyPr wrap="square" rtlCol="0" anchor="ctr"/>
          <a:lstStyle/>
          <a:p>
            <a:pPr indent="0" marL="0">
              <a:buNone/>
            </a:pPr>
            <a:r>
              <a:rPr lang="en-US" sz="1000" dirty="0">
                <a:solidFill>
                  <a:srgbClr val="8E8E93"/>
                </a:solidFill>
                <a:latin typeface="Arial" pitchFamily="34" charset="0"/>
                <a:ea typeface="Arial" pitchFamily="34" charset="-122"/>
                <a:cs typeface="Arial" pitchFamily="34" charset="-120"/>
              </a:rPr>
              <a:t>Crowd-free waters &amp; Inca star night</a:t>
            </a:r>
            <a:endParaRPr lang="en-US" sz="1000" dirty="0"/>
          </a:p>
        </p:txBody>
      </p:sp>
      <p:sp>
        <p:nvSpPr>
          <p:cNvPr id="24" name="Shape 22"/>
          <p:cNvSpPr/>
          <p:nvPr/>
        </p:nvSpPr>
        <p:spPr>
          <a:xfrm>
            <a:off x="4343400" y="3931920"/>
            <a:ext cx="3429000" cy="1920240"/>
          </a:xfrm>
          <a:prstGeom prst="rect">
            <a:avLst/>
          </a:prstGeom>
          <a:solidFill>
            <a:srgbClr val="1C1C1E"/>
          </a:solidFill>
          <a:ln w="12700">
            <a:solidFill>
              <a:srgbClr val="2A2A2D"/>
            </a:solidFill>
            <a:prstDash val="solid"/>
          </a:ln>
        </p:spPr>
      </p:sp>
      <p:sp>
        <p:nvSpPr>
          <p:cNvPr id="25" name="Text 23"/>
          <p:cNvSpPr/>
          <p:nvPr/>
        </p:nvSpPr>
        <p:spPr>
          <a:xfrm>
            <a:off x="4617720" y="4114800"/>
            <a:ext cx="2743200" cy="274320"/>
          </a:xfrm>
          <a:prstGeom prst="rect">
            <a:avLst/>
          </a:prstGeom>
          <a:noFill/>
          <a:ln/>
        </p:spPr>
        <p:txBody>
          <a:bodyPr wrap="square" rtlCol="0" anchor="ctr"/>
          <a:lstStyle/>
          <a:p>
            <a:pPr indent="0" marL="0">
              <a:buNone/>
            </a:pPr>
            <a:r>
              <a:rPr lang="en-US" sz="1000" b="1" spc="200" kern="0" dirty="0">
                <a:solidFill>
                  <a:srgbClr val="C69255"/>
                </a:solidFill>
                <a:latin typeface="Arial" pitchFamily="34" charset="0"/>
                <a:ea typeface="Arial" pitchFamily="34" charset="-122"/>
                <a:cs typeface="Arial" pitchFamily="34" charset="-120"/>
              </a:rPr>
              <a:t>DAY 5</a:t>
            </a:r>
            <a:endParaRPr lang="en-US" sz="1000" dirty="0"/>
          </a:p>
        </p:txBody>
      </p:sp>
      <p:sp>
        <p:nvSpPr>
          <p:cNvPr id="26" name="Text 24"/>
          <p:cNvSpPr/>
          <p:nvPr/>
        </p:nvSpPr>
        <p:spPr>
          <a:xfrm>
            <a:off x="4617720" y="4389120"/>
            <a:ext cx="2834640" cy="457200"/>
          </a:xfrm>
          <a:prstGeom prst="rect">
            <a:avLst/>
          </a:prstGeom>
          <a:noFill/>
          <a:ln/>
        </p:spPr>
        <p:txBody>
          <a:bodyPr wrap="square"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The Continental Divide</a:t>
            </a:r>
            <a:endParaRPr lang="en-US" sz="1500" dirty="0"/>
          </a:p>
        </p:txBody>
      </p:sp>
      <p:sp>
        <p:nvSpPr>
          <p:cNvPr id="27" name="Text 25"/>
          <p:cNvSpPr/>
          <p:nvPr/>
        </p:nvSpPr>
        <p:spPr>
          <a:xfrm>
            <a:off x="4617720" y="4937760"/>
            <a:ext cx="2834640" cy="320040"/>
          </a:xfrm>
          <a:prstGeom prst="rect">
            <a:avLst/>
          </a:prstGeom>
          <a:noFill/>
          <a:ln/>
        </p:spPr>
        <p:txBody>
          <a:bodyPr wrap="square" rtlCol="0" anchor="ctr"/>
          <a:lstStyle/>
          <a:p>
            <a:pPr indent="0" marL="0">
              <a:buNone/>
            </a:pPr>
            <a:r>
              <a:rPr lang="en-US" sz="1000" b="1" dirty="0">
                <a:solidFill>
                  <a:srgbClr val="3A7D8C"/>
                </a:solidFill>
                <a:latin typeface="Arial" pitchFamily="34" charset="0"/>
                <a:ea typeface="Arial" pitchFamily="34" charset="-122"/>
                <a:cs typeface="Arial" pitchFamily="34" charset="-120"/>
              </a:rPr>
              <a:t>Punta Olímpica &amp; Chacas</a:t>
            </a:r>
            <a:endParaRPr lang="en-US" sz="1000" dirty="0"/>
          </a:p>
        </p:txBody>
      </p:sp>
      <p:sp>
        <p:nvSpPr>
          <p:cNvPr id="28" name="Text 26"/>
          <p:cNvSpPr/>
          <p:nvPr/>
        </p:nvSpPr>
        <p:spPr>
          <a:xfrm>
            <a:off x="4617720" y="5257800"/>
            <a:ext cx="2834640" cy="457200"/>
          </a:xfrm>
          <a:prstGeom prst="rect">
            <a:avLst/>
          </a:prstGeom>
          <a:noFill/>
          <a:ln/>
        </p:spPr>
        <p:txBody>
          <a:bodyPr wrap="square" rtlCol="0" anchor="ctr"/>
          <a:lstStyle/>
          <a:p>
            <a:pPr indent="0" marL="0">
              <a:buNone/>
            </a:pPr>
            <a:r>
              <a:rPr lang="en-US" sz="1000" dirty="0">
                <a:solidFill>
                  <a:srgbClr val="8E8E93"/>
                </a:solidFill>
                <a:latin typeface="Arial" pitchFamily="34" charset="0"/>
                <a:ea typeface="Arial" pitchFamily="34" charset="-122"/>
                <a:cs typeface="Arial" pitchFamily="34" charset="-120"/>
              </a:rPr>
              <a:t>Don Bosco ateliers &amp; Huascarán</a:t>
            </a:r>
            <a:endParaRPr lang="en-US" sz="1000" dirty="0"/>
          </a:p>
        </p:txBody>
      </p:sp>
      <p:sp>
        <p:nvSpPr>
          <p:cNvPr id="29" name="Shape 27"/>
          <p:cNvSpPr/>
          <p:nvPr/>
        </p:nvSpPr>
        <p:spPr>
          <a:xfrm>
            <a:off x="7955280" y="3931920"/>
            <a:ext cx="3429000" cy="1920240"/>
          </a:xfrm>
          <a:prstGeom prst="rect">
            <a:avLst/>
          </a:prstGeom>
          <a:solidFill>
            <a:srgbClr val="1C1C1E"/>
          </a:solidFill>
          <a:ln w="12700">
            <a:solidFill>
              <a:srgbClr val="2A2A2D"/>
            </a:solidFill>
            <a:prstDash val="solid"/>
          </a:ln>
        </p:spPr>
      </p:sp>
      <p:sp>
        <p:nvSpPr>
          <p:cNvPr id="30" name="Text 28"/>
          <p:cNvSpPr/>
          <p:nvPr/>
        </p:nvSpPr>
        <p:spPr>
          <a:xfrm>
            <a:off x="8229600" y="4114800"/>
            <a:ext cx="2743200" cy="274320"/>
          </a:xfrm>
          <a:prstGeom prst="rect">
            <a:avLst/>
          </a:prstGeom>
          <a:noFill/>
          <a:ln/>
        </p:spPr>
        <p:txBody>
          <a:bodyPr wrap="square" rtlCol="0" anchor="ctr"/>
          <a:lstStyle/>
          <a:p>
            <a:pPr indent="0" marL="0">
              <a:buNone/>
            </a:pPr>
            <a:r>
              <a:rPr lang="en-US" sz="1000" b="1" spc="200" kern="0" dirty="0">
                <a:solidFill>
                  <a:srgbClr val="C69255"/>
                </a:solidFill>
                <a:latin typeface="Arial" pitchFamily="34" charset="0"/>
                <a:ea typeface="Arial" pitchFamily="34" charset="-122"/>
                <a:cs typeface="Arial" pitchFamily="34" charset="-120"/>
              </a:rPr>
              <a:t>DAY 6</a:t>
            </a:r>
            <a:endParaRPr lang="en-US" sz="1000" dirty="0"/>
          </a:p>
        </p:txBody>
      </p:sp>
      <p:sp>
        <p:nvSpPr>
          <p:cNvPr id="31" name="Text 29"/>
          <p:cNvSpPr/>
          <p:nvPr/>
        </p:nvSpPr>
        <p:spPr>
          <a:xfrm>
            <a:off x="8229600" y="4389120"/>
            <a:ext cx="2834640" cy="457200"/>
          </a:xfrm>
          <a:prstGeom prst="rect">
            <a:avLst/>
          </a:prstGeom>
          <a:noFill/>
          <a:ln/>
        </p:spPr>
        <p:txBody>
          <a:bodyPr wrap="square"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Farewell or Summit Leap</a:t>
            </a:r>
            <a:endParaRPr lang="en-US" sz="1500" dirty="0"/>
          </a:p>
        </p:txBody>
      </p:sp>
      <p:sp>
        <p:nvSpPr>
          <p:cNvPr id="32" name="Text 30"/>
          <p:cNvSpPr/>
          <p:nvPr/>
        </p:nvSpPr>
        <p:spPr>
          <a:xfrm>
            <a:off x="8229600" y="4937760"/>
            <a:ext cx="2834640" cy="320040"/>
          </a:xfrm>
          <a:prstGeom prst="rect">
            <a:avLst/>
          </a:prstGeom>
          <a:noFill/>
          <a:ln/>
        </p:spPr>
        <p:txBody>
          <a:bodyPr wrap="square" rtlCol="0" anchor="ctr"/>
          <a:lstStyle/>
          <a:p>
            <a:pPr indent="0" marL="0">
              <a:buNone/>
            </a:pPr>
            <a:r>
              <a:rPr lang="en-US" sz="1000" b="1" dirty="0">
                <a:solidFill>
                  <a:srgbClr val="3A7D8C"/>
                </a:solidFill>
                <a:latin typeface="Arial" pitchFamily="34" charset="0"/>
                <a:ea typeface="Arial" pitchFamily="34" charset="-122"/>
                <a:cs typeface="Arial" pitchFamily="34" charset="-120"/>
              </a:rPr>
              <a:t>Anta Out / Optional Summit</a:t>
            </a:r>
            <a:endParaRPr lang="en-US" sz="1000" dirty="0"/>
          </a:p>
        </p:txBody>
      </p:sp>
      <p:sp>
        <p:nvSpPr>
          <p:cNvPr id="33" name="Text 31"/>
          <p:cNvSpPr/>
          <p:nvPr/>
        </p:nvSpPr>
        <p:spPr>
          <a:xfrm>
            <a:off x="8229600" y="5257800"/>
            <a:ext cx="2834640" cy="457200"/>
          </a:xfrm>
          <a:prstGeom prst="rect">
            <a:avLst/>
          </a:prstGeom>
          <a:noFill/>
          <a:ln/>
        </p:spPr>
        <p:txBody>
          <a:bodyPr wrap="square" rtlCol="0" anchor="ctr"/>
          <a:lstStyle/>
          <a:p>
            <a:pPr indent="0" marL="0">
              <a:buNone/>
            </a:pPr>
            <a:r>
              <a:rPr lang="en-US" sz="1000" dirty="0">
                <a:solidFill>
                  <a:srgbClr val="8E8E93"/>
                </a:solidFill>
                <a:latin typeface="Arial" pitchFamily="34" charset="0"/>
                <a:ea typeface="Arial" pitchFamily="34" charset="-122"/>
                <a:cs typeface="Arial" pitchFamily="34" charset="-120"/>
              </a:rPr>
              <a:t>Flight to Lima or Alpine Extension</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2ED"/>
        </a:solidFill>
      </p:bgPr>
    </p:bg>
    <p:spTree>
      <p:nvGrpSpPr>
        <p:cNvPr id="1" name=""/>
        <p:cNvGrpSpPr/>
        <p:nvPr/>
      </p:nvGrpSpPr>
      <p:grpSpPr>
        <a:xfrm>
          <a:off x="0" y="0"/>
          <a:ext cx="0" cy="0"/>
          <a:chOff x="0" y="0"/>
          <a:chExt cx="0" cy="0"/>
        </a:xfrm>
      </p:grpSpPr>
      <p:sp>
        <p:nvSpPr>
          <p:cNvPr id="2" name="Text 0"/>
          <p:cNvSpPr/>
          <p:nvPr/>
        </p:nvSpPr>
        <p:spPr>
          <a:xfrm>
            <a:off x="731520" y="457200"/>
            <a:ext cx="7315200" cy="274320"/>
          </a:xfrm>
          <a:prstGeom prst="rect">
            <a:avLst/>
          </a:prstGeom>
          <a:noFill/>
          <a:ln/>
        </p:spPr>
        <p:txBody>
          <a:bodyPr wrap="square" rtlCol="0" anchor="ctr"/>
          <a:lstStyle/>
          <a:p>
            <a:pPr indent="0" marL="0">
              <a:buNone/>
            </a:pPr>
            <a:r>
              <a:rPr lang="en-US" sz="1000" b="1" spc="300" kern="0" dirty="0">
                <a:solidFill>
                  <a:srgbClr val="666666"/>
                </a:solidFill>
                <a:latin typeface="Arial" pitchFamily="34" charset="0"/>
                <a:ea typeface="Arial" pitchFamily="34" charset="-122"/>
                <a:cs typeface="Arial" pitchFamily="34" charset="-120"/>
              </a:rPr>
              <a:t>DETAILED ITINERARY</a:t>
            </a:r>
            <a:endParaRPr lang="en-US" sz="1000" dirty="0"/>
          </a:p>
        </p:txBody>
      </p:sp>
      <p:sp>
        <p:nvSpPr>
          <p:cNvPr id="3" name="Text 1"/>
          <p:cNvSpPr/>
          <p:nvPr/>
        </p:nvSpPr>
        <p:spPr>
          <a:xfrm>
            <a:off x="731520" y="777240"/>
            <a:ext cx="10515600" cy="731520"/>
          </a:xfrm>
          <a:prstGeom prst="rect">
            <a:avLst/>
          </a:prstGeom>
          <a:noFill/>
          <a:ln/>
        </p:spPr>
        <p:txBody>
          <a:bodyPr wrap="square" rtlCol="0" anchor="ctr"/>
          <a:lstStyle/>
          <a:p>
            <a:pPr indent="0" marL="0">
              <a:buNone/>
            </a:pPr>
            <a:r>
              <a:rPr lang="en-US" sz="2600" b="1" dirty="0">
                <a:solidFill>
                  <a:srgbClr val="111111"/>
                </a:solidFill>
                <a:latin typeface="Georgia" pitchFamily="34" charset="0"/>
                <a:ea typeface="Georgia" pitchFamily="34" charset="-122"/>
                <a:cs typeface="Georgia" pitchFamily="34" charset="-120"/>
              </a:rPr>
              <a:t>Day 1: Welcome to the Huaylas Valley &amp; Orchard Harvest</a:t>
            </a:r>
            <a:endParaRPr lang="en-US" sz="2600" dirty="0"/>
          </a:p>
        </p:txBody>
      </p:sp>
      <p:sp>
        <p:nvSpPr>
          <p:cNvPr id="4" name="Text 2"/>
          <p:cNvSpPr/>
          <p:nvPr/>
        </p:nvSpPr>
        <p:spPr>
          <a:xfrm>
            <a:off x="731520" y="1645920"/>
            <a:ext cx="5029200" cy="274320"/>
          </a:xfrm>
          <a:prstGeom prst="rect">
            <a:avLst/>
          </a:prstGeom>
          <a:noFill/>
          <a:ln/>
        </p:spPr>
        <p:txBody>
          <a:bodyPr wrap="square" rtlCol="0" anchor="ctr"/>
          <a:lstStyle/>
          <a:p>
            <a:pPr indent="0" marL="0">
              <a:buNone/>
            </a:pPr>
            <a:r>
              <a:rPr lang="en-US" sz="1100" b="1" spc="100" kern="0" dirty="0">
                <a:solidFill>
                  <a:srgbClr val="C69255"/>
                </a:solidFill>
                <a:latin typeface="Arial" pitchFamily="34" charset="0"/>
                <a:ea typeface="Arial" pitchFamily="34" charset="-122"/>
                <a:cs typeface="Arial" pitchFamily="34" charset="-120"/>
              </a:rPr>
              <a:t>Exploration Context</a:t>
            </a:r>
            <a:endParaRPr lang="en-US" sz="1100" dirty="0"/>
          </a:p>
        </p:txBody>
      </p:sp>
      <p:sp>
        <p:nvSpPr>
          <p:cNvPr id="5" name="Text 3"/>
          <p:cNvSpPr/>
          <p:nvPr/>
        </p:nvSpPr>
        <p:spPr>
          <a:xfrm>
            <a:off x="731520" y="2011680"/>
            <a:ext cx="5303520" cy="2926080"/>
          </a:xfrm>
          <a:prstGeom prst="rect">
            <a:avLst/>
          </a:prstGeom>
          <a:noFill/>
          <a:ln/>
        </p:spPr>
        <p:txBody>
          <a:bodyPr wrap="square" rtlCol="0" anchor="ctr"/>
          <a:lstStyle/>
          <a:p>
            <a:pPr indent="0" marL="0">
              <a:lnSpc>
                <a:spcPts val="1900"/>
              </a:lnSpc>
              <a:buNone/>
            </a:pPr>
            <a:r>
              <a:rPr lang="en-US" sz="1200" dirty="0">
                <a:solidFill>
                  <a:srgbClr val="333333"/>
                </a:solidFill>
                <a:latin typeface="Arial" pitchFamily="34" charset="0"/>
                <a:ea typeface="Arial" pitchFamily="34" charset="-122"/>
                <a:cs typeface="Arial" pitchFamily="34" charset="-120"/>
              </a:rPr>
              <a:t>Touching down at Anta Airport framed by 20,000-foot peaks. The expedition begins gently in the sheltered microclimate of Caraz. At Santa Cruz Lodge, we immediately touch the soil: harvesting directly in the lodge’s organic orchards (Andean herbs, heirloom tubers, and berries) before taking a quiet acclimatization stroll through village paths to converse with Quechua families about ancestral irrigation canals and mountain agriculture.</a:t>
            </a:r>
            <a:endParaRPr lang="en-US" sz="1200" dirty="0"/>
          </a:p>
        </p:txBody>
      </p:sp>
      <p:sp>
        <p:nvSpPr>
          <p:cNvPr id="6" name="Shape 4"/>
          <p:cNvSpPr/>
          <p:nvPr/>
        </p:nvSpPr>
        <p:spPr>
          <a:xfrm>
            <a:off x="6400800" y="1645920"/>
            <a:ext cx="5029200" cy="4389120"/>
          </a:xfrm>
          <a:prstGeom prst="rect">
            <a:avLst/>
          </a:prstGeom>
          <a:solidFill>
            <a:srgbClr val="FFFFFF"/>
          </a:solidFill>
          <a:ln w="12700">
            <a:solidFill>
              <a:srgbClr val="DDD9CF"/>
            </a:solidFill>
            <a:prstDash val="solid"/>
          </a:ln>
        </p:spPr>
      </p:sp>
      <p:sp>
        <p:nvSpPr>
          <p:cNvPr id="7" name="Text 5"/>
          <p:cNvSpPr/>
          <p:nvPr/>
        </p:nvSpPr>
        <p:spPr>
          <a:xfrm>
            <a:off x="6766560" y="1920240"/>
            <a:ext cx="4297680" cy="274320"/>
          </a:xfrm>
          <a:prstGeom prst="rect">
            <a:avLst/>
          </a:prstGeom>
          <a:noFill/>
          <a:ln/>
        </p:spPr>
        <p:txBody>
          <a:bodyPr wrap="square" rtlCol="0" anchor="ctr"/>
          <a:lstStyle/>
          <a:p>
            <a:pPr indent="0" marL="0">
              <a:buNone/>
            </a:pPr>
            <a:r>
              <a:rPr lang="en-US" sz="1000" b="1" dirty="0">
                <a:solidFill>
                  <a:srgbClr val="C69255"/>
                </a:solidFill>
                <a:latin typeface="Arial" pitchFamily="34" charset="0"/>
                <a:ea typeface="Arial" pitchFamily="34" charset="-122"/>
                <a:cs typeface="Arial" pitchFamily="34" charset="-120"/>
              </a:rPr>
              <a:t>EXPEDITION BRIEF</a:t>
            </a:r>
            <a:endParaRPr lang="en-US" sz="1000" dirty="0"/>
          </a:p>
        </p:txBody>
      </p:sp>
      <p:sp>
        <p:nvSpPr>
          <p:cNvPr id="8" name="Text 6"/>
          <p:cNvSpPr/>
          <p:nvPr/>
        </p:nvSpPr>
        <p:spPr>
          <a:xfrm>
            <a:off x="6766560" y="2377440"/>
            <a:ext cx="4297680" cy="3383280"/>
          </a:xfrm>
          <a:prstGeom prst="rect">
            <a:avLst/>
          </a:prstGeom>
          <a:noFill/>
          <a:ln/>
        </p:spPr>
        <p:txBody>
          <a:bodyPr wrap="square" rtlCol="0" anchor="ctr"/>
          <a:lstStyle/>
          <a:p>
            <a:pPr indent="0" marL="0">
              <a:lnSpc>
                <a:spcPts val="2000"/>
              </a:lnSpc>
              <a:buNone/>
            </a:pPr>
            <a:r>
              <a:rPr lang="en-US" sz="1100" dirty="0">
                <a:solidFill>
                  <a:srgbClr val="444444"/>
                </a:solidFill>
                <a:latin typeface="Arial" pitchFamily="34" charset="0"/>
                <a:ea typeface="Arial" pitchFamily="34" charset="-122"/>
                <a:cs typeface="Arial" pitchFamily="34" charset="-120"/>
              </a:rPr>
              <a:t>• Arrival: Anta Airport (Comandante FAP Germán Arias Graziani)</a:t>
            </a:r>
            <a:endParaRPr lang="en-US" sz="1100" dirty="0"/>
          </a:p>
          <a:p>
            <a:pPr indent="0" marL="0">
              <a:lnSpc>
                <a:spcPts val="2000"/>
              </a:lnSpc>
              <a:buNone/>
            </a:pPr>
            <a:r>
              <a:rPr lang="en-US" sz="1100" dirty="0">
                <a:solidFill>
                  <a:srgbClr val="444444"/>
                </a:solidFill>
                <a:latin typeface="Arial" pitchFamily="34" charset="0"/>
                <a:ea typeface="Arial" pitchFamily="34" charset="-122"/>
                <a:cs typeface="Arial" pitchFamily="34" charset="-120"/>
              </a:rPr>
              <a:t>• Signature Experience: Organic orchard harvest &amp; unhurried local dialogue</a:t>
            </a:r>
            <a:endParaRPr lang="en-US" sz="1100" dirty="0"/>
          </a:p>
          <a:p>
            <a:pPr indent="0" marL="0">
              <a:lnSpc>
                <a:spcPts val="2000"/>
              </a:lnSpc>
              <a:buNone/>
            </a:pPr>
            <a:r>
              <a:rPr lang="en-US" sz="1100" dirty="0">
                <a:solidFill>
                  <a:srgbClr val="444444"/>
                </a:solidFill>
                <a:latin typeface="Arial" pitchFamily="34" charset="0"/>
                <a:ea typeface="Arial" pitchFamily="34" charset="-122"/>
                <a:cs typeface="Arial" pitchFamily="34" charset="-120"/>
              </a:rPr>
              <a:t>• Gentle Acclimatization Walk: 2 hours along flat rural stone tracks</a:t>
            </a:r>
            <a:endParaRPr lang="en-US" sz="1100" dirty="0"/>
          </a:p>
          <a:p>
            <a:pPr indent="0" marL="0">
              <a:lnSpc>
                <a:spcPts val="2000"/>
              </a:lnSpc>
              <a:buNone/>
            </a:pPr>
            <a:r>
              <a:rPr lang="en-US" sz="1100" dirty="0">
                <a:solidFill>
                  <a:srgbClr val="444444"/>
                </a:solidFill>
                <a:latin typeface="Arial" pitchFamily="34" charset="0"/>
                <a:ea typeface="Arial" pitchFamily="34" charset="-122"/>
                <a:cs typeface="Arial" pitchFamily="34" charset="-120"/>
              </a:rPr>
              <a:t>• Lodge Outpost: Santa Cruz Lodge (Caraz)</a:t>
            </a:r>
            <a:endParaRPr lang="en-US" sz="1100" dirty="0"/>
          </a:p>
          <a:p>
            <a:pPr indent="0" marL="0">
              <a:lnSpc>
                <a:spcPts val="2000"/>
              </a:lnSpc>
              <a:buNone/>
            </a:pPr>
            <a:r>
              <a:rPr lang="en-US" sz="1100" dirty="0">
                <a:solidFill>
                  <a:srgbClr val="444444"/>
                </a:solidFill>
                <a:latin typeface="Arial" pitchFamily="34" charset="0"/>
                <a:ea typeface="Arial" pitchFamily="34" charset="-122"/>
                <a:cs typeface="Arial" pitchFamily="34" charset="-120"/>
              </a:rPr>
              <a:t>• Sleep Elevation: 7,380 ft / 2,250 m (protected low-altitude rest)</a:t>
            </a:r>
            <a:endParaRPr lang="en-US" sz="1100" dirty="0"/>
          </a:p>
          <a:p>
            <a:pPr indent="0" marL="0">
              <a:lnSpc>
                <a:spcPts val="2000"/>
              </a:lnSpc>
              <a:buNone/>
            </a:pPr>
            <a:r>
              <a:rPr lang="en-US" sz="1100" dirty="0">
                <a:solidFill>
                  <a:srgbClr val="444444"/>
                </a:solidFill>
                <a:latin typeface="Arial" pitchFamily="34" charset="0"/>
                <a:ea typeface="Arial" pitchFamily="34" charset="-122"/>
                <a:cs typeface="Arial" pitchFamily="34" charset="-120"/>
              </a:rPr>
              <a:t>• Dining: Garden-to-table welcome dinner &amp; comprehensive expedition orientation</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2ED"/>
        </a:solidFill>
      </p:bgPr>
    </p:bg>
    <p:spTree>
      <p:nvGrpSpPr>
        <p:cNvPr id="1" name=""/>
        <p:cNvGrpSpPr/>
        <p:nvPr/>
      </p:nvGrpSpPr>
      <p:grpSpPr>
        <a:xfrm>
          <a:off x="0" y="0"/>
          <a:ext cx="0" cy="0"/>
          <a:chOff x="0" y="0"/>
          <a:chExt cx="0" cy="0"/>
        </a:xfrm>
      </p:grpSpPr>
      <p:sp>
        <p:nvSpPr>
          <p:cNvPr id="2" name="Text 0"/>
          <p:cNvSpPr/>
          <p:nvPr/>
        </p:nvSpPr>
        <p:spPr>
          <a:xfrm>
            <a:off x="731520" y="457200"/>
            <a:ext cx="7315200" cy="274320"/>
          </a:xfrm>
          <a:prstGeom prst="rect">
            <a:avLst/>
          </a:prstGeom>
          <a:noFill/>
          <a:ln/>
        </p:spPr>
        <p:txBody>
          <a:bodyPr wrap="square" rtlCol="0" anchor="ctr"/>
          <a:lstStyle/>
          <a:p>
            <a:pPr indent="0" marL="0">
              <a:buNone/>
            </a:pPr>
            <a:r>
              <a:rPr lang="en-US" sz="1000" b="1" spc="300" kern="0" dirty="0">
                <a:solidFill>
                  <a:srgbClr val="666666"/>
                </a:solidFill>
                <a:latin typeface="Arial" pitchFamily="34" charset="0"/>
                <a:ea typeface="Arial" pitchFamily="34" charset="-122"/>
                <a:cs typeface="Arial" pitchFamily="34" charset="-120"/>
              </a:rPr>
              <a:t>DETAILED ITINERARY</a:t>
            </a:r>
            <a:endParaRPr lang="en-US" sz="1000" dirty="0"/>
          </a:p>
        </p:txBody>
      </p:sp>
      <p:sp>
        <p:nvSpPr>
          <p:cNvPr id="3" name="Text 1"/>
          <p:cNvSpPr/>
          <p:nvPr/>
        </p:nvSpPr>
        <p:spPr>
          <a:xfrm>
            <a:off x="731520" y="777240"/>
            <a:ext cx="10515600" cy="731520"/>
          </a:xfrm>
          <a:prstGeom prst="rect">
            <a:avLst/>
          </a:prstGeom>
          <a:noFill/>
          <a:ln/>
        </p:spPr>
        <p:txBody>
          <a:bodyPr wrap="square" rtlCol="0" anchor="ctr"/>
          <a:lstStyle/>
          <a:p>
            <a:pPr indent="0" marL="0">
              <a:buNone/>
            </a:pPr>
            <a:r>
              <a:rPr lang="en-US" sz="2600" b="1" dirty="0">
                <a:solidFill>
                  <a:srgbClr val="111111"/>
                </a:solidFill>
                <a:latin typeface="Georgia" pitchFamily="34" charset="0"/>
                <a:ea typeface="Georgia" pitchFamily="34" charset="-122"/>
                <a:cs typeface="Georgia" pitchFamily="34" charset="-120"/>
              </a:rPr>
              <a:t>Day 2: The Mineral Watchtower &amp; Puya Raimondii Sanctuaries</a:t>
            </a:r>
            <a:endParaRPr lang="en-US" sz="2600" dirty="0"/>
          </a:p>
        </p:txBody>
      </p:sp>
      <p:sp>
        <p:nvSpPr>
          <p:cNvPr id="4" name="Text 2"/>
          <p:cNvSpPr/>
          <p:nvPr/>
        </p:nvSpPr>
        <p:spPr>
          <a:xfrm>
            <a:off x="731520" y="1645920"/>
            <a:ext cx="5029200" cy="274320"/>
          </a:xfrm>
          <a:prstGeom prst="rect">
            <a:avLst/>
          </a:prstGeom>
          <a:noFill/>
          <a:ln/>
        </p:spPr>
        <p:txBody>
          <a:bodyPr wrap="square" rtlCol="0" anchor="ctr"/>
          <a:lstStyle/>
          <a:p>
            <a:pPr indent="0" marL="0">
              <a:buNone/>
            </a:pPr>
            <a:r>
              <a:rPr lang="en-US" sz="1100" b="1" spc="100" kern="0" dirty="0">
                <a:solidFill>
                  <a:srgbClr val="C69255"/>
                </a:solidFill>
                <a:latin typeface="Arial" pitchFamily="34" charset="0"/>
                <a:ea typeface="Arial" pitchFamily="34" charset="-122"/>
                <a:cs typeface="Arial" pitchFamily="34" charset="-120"/>
              </a:rPr>
              <a:t>Exploration Context</a:t>
            </a:r>
            <a:endParaRPr lang="en-US" sz="1100" dirty="0"/>
          </a:p>
        </p:txBody>
      </p:sp>
      <p:sp>
        <p:nvSpPr>
          <p:cNvPr id="5" name="Text 3"/>
          <p:cNvSpPr/>
          <p:nvPr/>
        </p:nvSpPr>
        <p:spPr>
          <a:xfrm>
            <a:off x="731520" y="2011680"/>
            <a:ext cx="5303520" cy="3108960"/>
          </a:xfrm>
          <a:prstGeom prst="rect">
            <a:avLst/>
          </a:prstGeom>
          <a:noFill/>
          <a:ln/>
        </p:spPr>
        <p:txBody>
          <a:bodyPr wrap="square" rtlCol="0" anchor="ctr"/>
          <a:lstStyle/>
          <a:p>
            <a:pPr indent="0" marL="0">
              <a:lnSpc>
                <a:spcPts val="1900"/>
              </a:lnSpc>
              <a:buNone/>
            </a:pPr>
            <a:r>
              <a:rPr lang="en-US" sz="1200" dirty="0">
                <a:solidFill>
                  <a:srgbClr val="333333"/>
                </a:solidFill>
                <a:latin typeface="Arial" pitchFamily="34" charset="0"/>
                <a:ea typeface="Arial" pitchFamily="34" charset="-122"/>
                <a:cs typeface="Arial" pitchFamily="34" charset="-120"/>
              </a:rPr>
              <a:t>To truly grasp the scale of the Cordillera Blanca, one must first look at it from across the valley. We ascend into the mineral highlands of the Cordillera Negra, a snowless range acting as an elevated natural grandstand across from 110 miles of uninterrupted glaciers. We walk through high-altitude sanctuaries of Puya raimondii, the prehistoric Queen of the Andes that lives up to a century and produces towering 30-foot flower spikes.</a:t>
            </a:r>
            <a:endParaRPr lang="en-US" sz="1200" dirty="0"/>
          </a:p>
          <a:p>
            <a:pPr indent="0" marL="0">
              <a:lnSpc>
                <a:spcPts val="1900"/>
              </a:lnSpc>
              <a:buNone/>
            </a:pPr>
            <a:endParaRPr lang="en-US" sz="1200" dirty="0"/>
          </a:p>
          <a:p>
            <a:pPr indent="0" marL="0">
              <a:lnSpc>
                <a:spcPts val="1900"/>
              </a:lnSpc>
              <a:buNone/>
            </a:pPr>
            <a:r>
              <a:rPr lang="en-US" sz="1200" dirty="0">
                <a:solidFill>
                  <a:srgbClr val="333333"/>
                </a:solidFill>
                <a:latin typeface="Arial" pitchFamily="34" charset="0"/>
                <a:ea typeface="Arial" pitchFamily="34" charset="-122"/>
                <a:cs typeface="Arial" pitchFamily="34" charset="-120"/>
              </a:rPr>
              <a:t>In the evening, we gather around a ceremonial hearth at the lodge to set intentions and honor the mountain Apus before entering the snowline.</a:t>
            </a:r>
            <a:endParaRPr lang="en-US" sz="1200" dirty="0"/>
          </a:p>
        </p:txBody>
      </p:sp>
      <p:sp>
        <p:nvSpPr>
          <p:cNvPr id="6" name="Shape 4"/>
          <p:cNvSpPr/>
          <p:nvPr/>
        </p:nvSpPr>
        <p:spPr>
          <a:xfrm>
            <a:off x="6400800" y="1645920"/>
            <a:ext cx="5029200" cy="4389120"/>
          </a:xfrm>
          <a:prstGeom prst="rect">
            <a:avLst/>
          </a:prstGeom>
          <a:solidFill>
            <a:srgbClr val="FFFFFF"/>
          </a:solidFill>
          <a:ln w="12700">
            <a:solidFill>
              <a:srgbClr val="DDD9CF"/>
            </a:solidFill>
            <a:prstDash val="solid"/>
          </a:ln>
        </p:spPr>
      </p:sp>
      <p:sp>
        <p:nvSpPr>
          <p:cNvPr id="7" name="Text 5"/>
          <p:cNvSpPr/>
          <p:nvPr/>
        </p:nvSpPr>
        <p:spPr>
          <a:xfrm>
            <a:off x="6766560" y="1920240"/>
            <a:ext cx="4297680" cy="274320"/>
          </a:xfrm>
          <a:prstGeom prst="rect">
            <a:avLst/>
          </a:prstGeom>
          <a:noFill/>
          <a:ln/>
        </p:spPr>
        <p:txBody>
          <a:bodyPr wrap="square" rtlCol="0" anchor="ctr"/>
          <a:lstStyle/>
          <a:p>
            <a:pPr indent="0" marL="0">
              <a:buNone/>
            </a:pPr>
            <a:r>
              <a:rPr lang="en-US" sz="1000" b="1" dirty="0">
                <a:solidFill>
                  <a:srgbClr val="C69255"/>
                </a:solidFill>
                <a:latin typeface="Arial" pitchFamily="34" charset="0"/>
                <a:ea typeface="Arial" pitchFamily="34" charset="-122"/>
                <a:cs typeface="Arial" pitchFamily="34" charset="-120"/>
              </a:rPr>
              <a:t>EXPEDITION BRIEF</a:t>
            </a:r>
            <a:endParaRPr lang="en-US" sz="1000" dirty="0"/>
          </a:p>
        </p:txBody>
      </p:sp>
      <p:sp>
        <p:nvSpPr>
          <p:cNvPr id="8" name="Text 6"/>
          <p:cNvSpPr/>
          <p:nvPr/>
        </p:nvSpPr>
        <p:spPr>
          <a:xfrm>
            <a:off x="6766560" y="2377440"/>
            <a:ext cx="4297680" cy="3383280"/>
          </a:xfrm>
          <a:prstGeom prst="rect">
            <a:avLst/>
          </a:prstGeom>
          <a:noFill/>
          <a:ln/>
        </p:spPr>
        <p:txBody>
          <a:bodyPr wrap="square" rtlCol="0" anchor="ctr"/>
          <a:lstStyle/>
          <a:p>
            <a:pPr indent="0" marL="0">
              <a:lnSpc>
                <a:spcPts val="2000"/>
              </a:lnSpc>
              <a:buNone/>
            </a:pPr>
            <a:r>
              <a:rPr lang="en-US" sz="1100" dirty="0">
                <a:solidFill>
                  <a:srgbClr val="444444"/>
                </a:solidFill>
                <a:latin typeface="Arial" pitchFamily="34" charset="0"/>
                <a:ea typeface="Arial" pitchFamily="34" charset="-122"/>
                <a:cs typeface="Arial" pitchFamily="34" charset="-120"/>
              </a:rPr>
              <a:t>• Trail Experience: Panoramic highland trek across Cordillera Negra among giant Puyas</a:t>
            </a:r>
            <a:endParaRPr lang="en-US" sz="1100" dirty="0"/>
          </a:p>
          <a:p>
            <a:pPr indent="0" marL="0">
              <a:lnSpc>
                <a:spcPts val="2000"/>
              </a:lnSpc>
              <a:buNone/>
            </a:pPr>
            <a:r>
              <a:rPr lang="en-US" sz="1100" dirty="0">
                <a:solidFill>
                  <a:srgbClr val="444444"/>
                </a:solidFill>
                <a:latin typeface="Arial" pitchFamily="34" charset="0"/>
                <a:ea typeface="Arial" pitchFamily="34" charset="-122"/>
                <a:cs typeface="Arial" pitchFamily="34" charset="-120"/>
              </a:rPr>
              <a:t>• Vista Highlight: 360° unobstructed amphitheater of Huascarán, Huandoy, and Santa Cruz</a:t>
            </a:r>
            <a:endParaRPr lang="en-US" sz="1100" dirty="0"/>
          </a:p>
          <a:p>
            <a:pPr indent="0" marL="0">
              <a:lnSpc>
                <a:spcPts val="2000"/>
              </a:lnSpc>
              <a:buNone/>
            </a:pPr>
            <a:r>
              <a:rPr lang="en-US" sz="1100" dirty="0">
                <a:solidFill>
                  <a:srgbClr val="444444"/>
                </a:solidFill>
                <a:latin typeface="Arial" pitchFamily="34" charset="0"/>
                <a:ea typeface="Arial" pitchFamily="34" charset="-122"/>
                <a:cs typeface="Arial" pitchFamily="34" charset="-120"/>
              </a:rPr>
              <a:t>• Evening Gathering: Fireside ritual and mountain orientation at Santa Cruz Lodge</a:t>
            </a:r>
            <a:endParaRPr lang="en-US" sz="1100" dirty="0"/>
          </a:p>
          <a:p>
            <a:pPr indent="0" marL="0">
              <a:lnSpc>
                <a:spcPts val="2000"/>
              </a:lnSpc>
              <a:buNone/>
            </a:pPr>
            <a:r>
              <a:rPr lang="en-US" sz="1100" dirty="0">
                <a:solidFill>
                  <a:srgbClr val="444444"/>
                </a:solidFill>
                <a:latin typeface="Arial" pitchFamily="34" charset="0"/>
                <a:ea typeface="Arial" pitchFamily="34" charset="-122"/>
                <a:cs typeface="Arial" pitchFamily="34" charset="-120"/>
              </a:rPr>
              <a:t>• Trail Distance: 4.5 miles / 4 - 5 hrs steady cadence</a:t>
            </a:r>
            <a:endParaRPr lang="en-US" sz="1100" dirty="0"/>
          </a:p>
          <a:p>
            <a:pPr indent="0" marL="0">
              <a:lnSpc>
                <a:spcPts val="2000"/>
              </a:lnSpc>
              <a:buNone/>
            </a:pPr>
            <a:r>
              <a:rPr lang="en-US" sz="1100" dirty="0">
                <a:solidFill>
                  <a:srgbClr val="444444"/>
                </a:solidFill>
                <a:latin typeface="Arial" pitchFamily="34" charset="0"/>
                <a:ea typeface="Arial" pitchFamily="34" charset="-122"/>
                <a:cs typeface="Arial" pitchFamily="34" charset="-120"/>
              </a:rPr>
              <a:t>• Peak Elevation: 12,950 ft | Sleep Elevation: 7,380 ft (Santa Cruz Lodge)</a:t>
            </a:r>
            <a:endParaRPr lang="en-US" sz="1100" dirty="0"/>
          </a:p>
          <a:p>
            <a:pPr indent="0" marL="0">
              <a:lnSpc>
                <a:spcPts val="2000"/>
              </a:lnSpc>
              <a:buNone/>
            </a:pPr>
            <a:r>
              <a:rPr lang="en-US" sz="1100" dirty="0">
                <a:solidFill>
                  <a:srgbClr val="444444"/>
                </a:solidFill>
                <a:latin typeface="Arial" pitchFamily="34" charset="0"/>
                <a:ea typeface="Arial" pitchFamily="34" charset="-122"/>
                <a:cs typeface="Arial" pitchFamily="34" charset="-120"/>
              </a:rPr>
              <a:t>• Physiological Value: Optimal daytime hypoxic stimulus with low-altitude sleep recovery</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2ED"/>
        </a:solidFill>
      </p:bgPr>
    </p:bg>
    <p:spTree>
      <p:nvGrpSpPr>
        <p:cNvPr id="1" name=""/>
        <p:cNvGrpSpPr/>
        <p:nvPr/>
      </p:nvGrpSpPr>
      <p:grpSpPr>
        <a:xfrm>
          <a:off x="0" y="0"/>
          <a:ext cx="0" cy="0"/>
          <a:chOff x="0" y="0"/>
          <a:chExt cx="0" cy="0"/>
        </a:xfrm>
      </p:grpSpPr>
      <p:sp>
        <p:nvSpPr>
          <p:cNvPr id="2" name="Text 0"/>
          <p:cNvSpPr/>
          <p:nvPr/>
        </p:nvSpPr>
        <p:spPr>
          <a:xfrm>
            <a:off x="731520" y="457200"/>
            <a:ext cx="7315200" cy="274320"/>
          </a:xfrm>
          <a:prstGeom prst="rect">
            <a:avLst/>
          </a:prstGeom>
          <a:noFill/>
          <a:ln/>
        </p:spPr>
        <p:txBody>
          <a:bodyPr wrap="square" rtlCol="0" anchor="ctr"/>
          <a:lstStyle/>
          <a:p>
            <a:pPr indent="0" marL="0">
              <a:buNone/>
            </a:pPr>
            <a:r>
              <a:rPr lang="en-US" sz="1000" b="1" spc="300" kern="0" dirty="0">
                <a:solidFill>
                  <a:srgbClr val="666666"/>
                </a:solidFill>
                <a:latin typeface="Arial" pitchFamily="34" charset="0"/>
                <a:ea typeface="Arial" pitchFamily="34" charset="-122"/>
                <a:cs typeface="Arial" pitchFamily="34" charset="-120"/>
              </a:rPr>
              <a:t>DETAILED ITINERARY</a:t>
            </a:r>
            <a:endParaRPr lang="en-US" sz="1000" dirty="0"/>
          </a:p>
        </p:txBody>
      </p:sp>
      <p:sp>
        <p:nvSpPr>
          <p:cNvPr id="3" name="Text 1"/>
          <p:cNvSpPr/>
          <p:nvPr/>
        </p:nvSpPr>
        <p:spPr>
          <a:xfrm>
            <a:off x="731520" y="777240"/>
            <a:ext cx="10515600" cy="731520"/>
          </a:xfrm>
          <a:prstGeom prst="rect">
            <a:avLst/>
          </a:prstGeom>
          <a:noFill/>
          <a:ln/>
        </p:spPr>
        <p:txBody>
          <a:bodyPr wrap="square" rtlCol="0" anchor="ctr"/>
          <a:lstStyle/>
          <a:p>
            <a:pPr indent="0" marL="0">
              <a:buNone/>
            </a:pPr>
            <a:r>
              <a:rPr lang="en-US" sz="2600" b="1" dirty="0">
                <a:solidFill>
                  <a:srgbClr val="111111"/>
                </a:solidFill>
                <a:latin typeface="Georgia" pitchFamily="34" charset="0"/>
                <a:ea typeface="Georgia" pitchFamily="34" charset="-122"/>
                <a:cs typeface="Georgia" pitchFamily="34" charset="-120"/>
              </a:rPr>
              <a:t>Day 3: Parón Upper Moraine Traverse or Llanganuco Paper-Bark Forests</a:t>
            </a:r>
            <a:endParaRPr lang="en-US" sz="2600" dirty="0"/>
          </a:p>
        </p:txBody>
      </p:sp>
      <p:sp>
        <p:nvSpPr>
          <p:cNvPr id="4" name="Text 2"/>
          <p:cNvSpPr/>
          <p:nvPr/>
        </p:nvSpPr>
        <p:spPr>
          <a:xfrm>
            <a:off x="731520" y="1645920"/>
            <a:ext cx="5029200" cy="274320"/>
          </a:xfrm>
          <a:prstGeom prst="rect">
            <a:avLst/>
          </a:prstGeom>
          <a:noFill/>
          <a:ln/>
        </p:spPr>
        <p:txBody>
          <a:bodyPr wrap="square" rtlCol="0" anchor="ctr"/>
          <a:lstStyle/>
          <a:p>
            <a:pPr indent="0" marL="0">
              <a:buNone/>
            </a:pPr>
            <a:r>
              <a:rPr lang="en-US" sz="1100" b="1" spc="100" kern="0" dirty="0">
                <a:solidFill>
                  <a:srgbClr val="C69255"/>
                </a:solidFill>
                <a:latin typeface="Arial" pitchFamily="34" charset="0"/>
                <a:ea typeface="Arial" pitchFamily="34" charset="-122"/>
                <a:cs typeface="Arial" pitchFamily="34" charset="-120"/>
              </a:rPr>
              <a:t>Two Distinct Paths, Equal Wilderness Depth</a:t>
            </a:r>
            <a:endParaRPr lang="en-US" sz="1100" dirty="0"/>
          </a:p>
        </p:txBody>
      </p:sp>
      <p:sp>
        <p:nvSpPr>
          <p:cNvPr id="5" name="Text 3"/>
          <p:cNvSpPr/>
          <p:nvPr/>
        </p:nvSpPr>
        <p:spPr>
          <a:xfrm>
            <a:off x="731520" y="2011680"/>
            <a:ext cx="5303520" cy="3291840"/>
          </a:xfrm>
          <a:prstGeom prst="rect">
            <a:avLst/>
          </a:prstGeom>
          <a:noFill/>
          <a:ln/>
        </p:spPr>
        <p:txBody>
          <a:bodyPr wrap="square" rtlCol="0" anchor="ctr"/>
          <a:lstStyle/>
          <a:p>
            <a:pPr indent="0" marL="0">
              <a:lnSpc>
                <a:spcPts val="1800"/>
              </a:lnSpc>
              <a:buNone/>
            </a:pPr>
            <a:r>
              <a:rPr lang="en-US" sz="1150" dirty="0">
                <a:solidFill>
                  <a:srgbClr val="333333"/>
                </a:solidFill>
                <a:latin typeface="Arial" pitchFamily="34" charset="0"/>
                <a:ea typeface="Arial" pitchFamily="34" charset="-122"/>
                <a:cs typeface="Arial" pitchFamily="34" charset="-120"/>
              </a:rPr>
              <a:t>We enter Huascarán National Park. Travelers choose their trail rhythm:</a:t>
            </a:r>
            <a:endParaRPr lang="en-US" sz="1150" dirty="0"/>
          </a:p>
          <a:p>
            <a:pPr indent="0" marL="0">
              <a:lnSpc>
                <a:spcPts val="1800"/>
              </a:lnSpc>
              <a:buNone/>
            </a:pPr>
            <a:endParaRPr lang="en-US" sz="1150" dirty="0"/>
          </a:p>
          <a:p>
            <a:pPr indent="0" marL="0">
              <a:lnSpc>
                <a:spcPts val="1800"/>
              </a:lnSpc>
              <a:buNone/>
            </a:pPr>
            <a:r>
              <a:rPr lang="en-US" sz="1150" dirty="0">
                <a:solidFill>
                  <a:srgbClr val="333333"/>
                </a:solidFill>
                <a:latin typeface="Arial" pitchFamily="34" charset="0"/>
                <a:ea typeface="Arial" pitchFamily="34" charset="-122"/>
                <a:cs typeface="Arial" pitchFamily="34" charset="-120"/>
              </a:rPr>
              <a:t>• High Mountain Traverse (Laguna Parón, 13,730 ft):</a:t>
            </a:r>
            <a:endParaRPr lang="en-US" sz="1150" dirty="0"/>
          </a:p>
          <a:p>
            <a:pPr indent="0" marL="0">
              <a:lnSpc>
                <a:spcPts val="1800"/>
              </a:lnSpc>
              <a:buNone/>
            </a:pPr>
            <a:r>
              <a:rPr lang="en-US" sz="1150" dirty="0">
                <a:solidFill>
                  <a:srgbClr val="333333"/>
                </a:solidFill>
                <a:latin typeface="Arial" pitchFamily="34" charset="0"/>
                <a:ea typeface="Arial" pitchFamily="34" charset="-122"/>
                <a:cs typeface="Arial" pitchFamily="34" charset="-120"/>
              </a:rPr>
              <a:t>Leaving the crowded day-tourist viewpoint far behind, we follow an off-the-beaten-path high traverse along the northern moraine toward the upper glacial tarns beneath the sheer pyramid of Mount Artesonraju.</a:t>
            </a:r>
            <a:endParaRPr lang="en-US" sz="1150" dirty="0"/>
          </a:p>
          <a:p>
            <a:pPr indent="0" marL="0">
              <a:lnSpc>
                <a:spcPts val="1800"/>
              </a:lnSpc>
              <a:buNone/>
            </a:pPr>
            <a:endParaRPr lang="en-US" sz="1150" dirty="0"/>
          </a:p>
          <a:p>
            <a:pPr indent="0" marL="0">
              <a:lnSpc>
                <a:spcPts val="1800"/>
              </a:lnSpc>
              <a:buNone/>
            </a:pPr>
            <a:r>
              <a:rPr lang="en-US" sz="1150" dirty="0">
                <a:solidFill>
                  <a:srgbClr val="333333"/>
                </a:solidFill>
                <a:latin typeface="Arial" pitchFamily="34" charset="0"/>
                <a:ea typeface="Arial" pitchFamily="34" charset="-122"/>
                <a:cs typeface="Arial" pitchFamily="34" charset="-120"/>
              </a:rPr>
              <a:t>• Contemplative Botanical Path (Llanganuco Valley, 12,630 ft):</a:t>
            </a:r>
            <a:endParaRPr lang="en-US" sz="1150" dirty="0"/>
          </a:p>
          <a:p>
            <a:pPr indent="0" marL="0">
              <a:lnSpc>
                <a:spcPts val="1800"/>
              </a:lnSpc>
              <a:buNone/>
            </a:pPr>
            <a:r>
              <a:rPr lang="en-US" sz="1150" dirty="0">
                <a:solidFill>
                  <a:srgbClr val="333333"/>
                </a:solidFill>
                <a:latin typeface="Arial" pitchFamily="34" charset="0"/>
                <a:ea typeface="Arial" pitchFamily="34" charset="-122"/>
                <a:cs typeface="Arial" pitchFamily="34" charset="-120"/>
              </a:rPr>
              <a:t>The María Josefa trail between Chinancocha and Orconcocha tarns: an ancient sanctuary of paper-bark Queñual (Polylepis) trees draped in bromeliads, orchids, and crystal glacial brooks.</a:t>
            </a:r>
            <a:endParaRPr lang="en-US" sz="1150" dirty="0"/>
          </a:p>
        </p:txBody>
      </p:sp>
      <p:sp>
        <p:nvSpPr>
          <p:cNvPr id="6" name="Shape 4"/>
          <p:cNvSpPr/>
          <p:nvPr/>
        </p:nvSpPr>
        <p:spPr>
          <a:xfrm>
            <a:off x="6400800" y="1645920"/>
            <a:ext cx="5029200" cy="4389120"/>
          </a:xfrm>
          <a:prstGeom prst="rect">
            <a:avLst/>
          </a:prstGeom>
          <a:solidFill>
            <a:srgbClr val="FFFFFF"/>
          </a:solidFill>
          <a:ln w="12700">
            <a:solidFill>
              <a:srgbClr val="DDD9CF"/>
            </a:solidFill>
            <a:prstDash val="solid"/>
          </a:ln>
        </p:spPr>
      </p:sp>
      <p:sp>
        <p:nvSpPr>
          <p:cNvPr id="7" name="Text 5"/>
          <p:cNvSpPr/>
          <p:nvPr/>
        </p:nvSpPr>
        <p:spPr>
          <a:xfrm>
            <a:off x="6766560" y="1920240"/>
            <a:ext cx="4297680" cy="274320"/>
          </a:xfrm>
          <a:prstGeom prst="rect">
            <a:avLst/>
          </a:prstGeom>
          <a:noFill/>
          <a:ln/>
        </p:spPr>
        <p:txBody>
          <a:bodyPr wrap="square" rtlCol="0" anchor="ctr"/>
          <a:lstStyle/>
          <a:p>
            <a:pPr indent="0" marL="0">
              <a:buNone/>
            </a:pPr>
            <a:r>
              <a:rPr lang="en-US" sz="1000" b="1" dirty="0">
                <a:solidFill>
                  <a:srgbClr val="C69255"/>
                </a:solidFill>
                <a:latin typeface="Arial" pitchFamily="34" charset="0"/>
                <a:ea typeface="Arial" pitchFamily="34" charset="-122"/>
                <a:cs typeface="Arial" pitchFamily="34" charset="-120"/>
              </a:rPr>
              <a:t>LOGISTICS &amp; LODGING</a:t>
            </a:r>
            <a:endParaRPr lang="en-US" sz="1000" dirty="0"/>
          </a:p>
        </p:txBody>
      </p:sp>
      <p:sp>
        <p:nvSpPr>
          <p:cNvPr id="8" name="Text 6"/>
          <p:cNvSpPr/>
          <p:nvPr/>
        </p:nvSpPr>
        <p:spPr>
          <a:xfrm>
            <a:off x="6766560" y="2377440"/>
            <a:ext cx="4297680" cy="3383280"/>
          </a:xfrm>
          <a:prstGeom prst="rect">
            <a:avLst/>
          </a:prstGeom>
          <a:noFill/>
          <a:ln/>
        </p:spPr>
        <p:txBody>
          <a:bodyPr wrap="square" rtlCol="0" anchor="ctr"/>
          <a:lstStyle/>
          <a:p>
            <a:pPr indent="0" marL="0">
              <a:lnSpc>
                <a:spcPts val="2000"/>
              </a:lnSpc>
              <a:buNone/>
            </a:pPr>
            <a:r>
              <a:rPr lang="en-US" sz="1100" dirty="0">
                <a:solidFill>
                  <a:srgbClr val="444444"/>
                </a:solidFill>
                <a:latin typeface="Arial" pitchFamily="34" charset="0"/>
                <a:ea typeface="Arial" pitchFamily="34" charset="-122"/>
                <a:cs typeface="Arial" pitchFamily="34" charset="-120"/>
              </a:rPr>
              <a:t>• Base Camp: Wayarumi Eco-Lodge (Yungay / Mancos sector)</a:t>
            </a:r>
            <a:endParaRPr lang="en-US" sz="1100" dirty="0"/>
          </a:p>
          <a:p>
            <a:pPr indent="0" marL="0">
              <a:lnSpc>
                <a:spcPts val="2000"/>
              </a:lnSpc>
              <a:buNone/>
            </a:pPr>
            <a:r>
              <a:rPr lang="en-US" sz="1100" dirty="0">
                <a:solidFill>
                  <a:srgbClr val="444444"/>
                </a:solidFill>
                <a:latin typeface="Arial" pitchFamily="34" charset="0"/>
                <a:ea typeface="Arial" pitchFamily="34" charset="-122"/>
                <a:cs typeface="Arial" pitchFamily="34" charset="-120"/>
              </a:rPr>
              <a:t>• Sleep Elevation: 8,200 ft / 2,500 m</a:t>
            </a:r>
            <a:endParaRPr lang="en-US" sz="1100" dirty="0"/>
          </a:p>
          <a:p>
            <a:pPr indent="0" marL="0">
              <a:lnSpc>
                <a:spcPts val="2000"/>
              </a:lnSpc>
              <a:buNone/>
            </a:pPr>
            <a:r>
              <a:rPr lang="en-US" sz="1100" dirty="0">
                <a:solidFill>
                  <a:srgbClr val="444444"/>
                </a:solidFill>
                <a:latin typeface="Arial" pitchFamily="34" charset="0"/>
                <a:ea typeface="Arial" pitchFamily="34" charset="-122"/>
                <a:cs typeface="Arial" pitchFamily="34" charset="-120"/>
              </a:rPr>
              <a:t>• Peak Elevation: 13,730 ft (Parón High Route) / 12,630 ft (Llanganuco)</a:t>
            </a:r>
            <a:endParaRPr lang="en-US" sz="1100" dirty="0"/>
          </a:p>
          <a:p>
            <a:pPr indent="0" marL="0">
              <a:lnSpc>
                <a:spcPts val="2000"/>
              </a:lnSpc>
              <a:buNone/>
            </a:pPr>
            <a:r>
              <a:rPr lang="en-US" sz="1100" dirty="0">
                <a:solidFill>
                  <a:srgbClr val="444444"/>
                </a:solidFill>
                <a:latin typeface="Arial" pitchFamily="34" charset="0"/>
                <a:ea typeface="Arial" pitchFamily="34" charset="-122"/>
                <a:cs typeface="Arial" pitchFamily="34" charset="-120"/>
              </a:rPr>
              <a:t>• Crowd Mitigation: Remote upper moraine trail bypassing crowded parking lots</a:t>
            </a:r>
            <a:endParaRPr lang="en-US" sz="1100" dirty="0"/>
          </a:p>
          <a:p>
            <a:pPr indent="0" marL="0">
              <a:lnSpc>
                <a:spcPts val="2000"/>
              </a:lnSpc>
              <a:buNone/>
            </a:pPr>
            <a:r>
              <a:rPr lang="en-US" sz="1100" dirty="0">
                <a:solidFill>
                  <a:srgbClr val="444444"/>
                </a:solidFill>
                <a:latin typeface="Arial" pitchFamily="34" charset="0"/>
                <a:ea typeface="Arial" pitchFamily="34" charset="-122"/>
                <a:cs typeface="Arial" pitchFamily="34" charset="-120"/>
              </a:rPr>
              <a:t>• Mountain Dining: Wholesome trail pack-lunch crafted for endurance, followed by fireside dinner at Wayarumi</a:t>
            </a:r>
            <a:endParaRPr lang="en-US" sz="1100" dirty="0"/>
          </a:p>
          <a:p>
            <a:pPr indent="0" marL="0">
              <a:lnSpc>
                <a:spcPts val="2000"/>
              </a:lnSpc>
              <a:buNone/>
            </a:pPr>
            <a:r>
              <a:rPr lang="en-US" sz="1100" dirty="0">
                <a:solidFill>
                  <a:srgbClr val="444444"/>
                </a:solidFill>
                <a:latin typeface="Arial" pitchFamily="34" charset="0"/>
                <a:ea typeface="Arial" pitchFamily="34" charset="-122"/>
                <a:cs typeface="Arial" pitchFamily="34" charset="-120"/>
              </a:rPr>
              <a:t>• Sunset: Direct front-row views of Mount Huascarán’s western face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2ED"/>
        </a:solidFill>
      </p:bgPr>
    </p:bg>
    <p:spTree>
      <p:nvGrpSpPr>
        <p:cNvPr id="1" name=""/>
        <p:cNvGrpSpPr/>
        <p:nvPr/>
      </p:nvGrpSpPr>
      <p:grpSpPr>
        <a:xfrm>
          <a:off x="0" y="0"/>
          <a:ext cx="0" cy="0"/>
          <a:chOff x="0" y="0"/>
          <a:chExt cx="0" cy="0"/>
        </a:xfrm>
      </p:grpSpPr>
      <p:sp>
        <p:nvSpPr>
          <p:cNvPr id="2" name="Text 0"/>
          <p:cNvSpPr/>
          <p:nvPr/>
        </p:nvSpPr>
        <p:spPr>
          <a:xfrm>
            <a:off x="731520" y="457200"/>
            <a:ext cx="7315200" cy="274320"/>
          </a:xfrm>
          <a:prstGeom prst="rect">
            <a:avLst/>
          </a:prstGeom>
          <a:noFill/>
          <a:ln/>
        </p:spPr>
        <p:txBody>
          <a:bodyPr wrap="square" rtlCol="0" anchor="ctr"/>
          <a:lstStyle/>
          <a:p>
            <a:pPr indent="0" marL="0">
              <a:buNone/>
            </a:pPr>
            <a:r>
              <a:rPr lang="en-US" sz="1000" b="1" spc="300" kern="0" dirty="0">
                <a:solidFill>
                  <a:srgbClr val="666666"/>
                </a:solidFill>
                <a:latin typeface="Arial" pitchFamily="34" charset="0"/>
                <a:ea typeface="Arial" pitchFamily="34" charset="-122"/>
                <a:cs typeface="Arial" pitchFamily="34" charset="-120"/>
              </a:rPr>
              <a:t>DETAILED ITINERARY</a:t>
            </a:r>
            <a:endParaRPr lang="en-US" sz="1000" dirty="0"/>
          </a:p>
        </p:txBody>
      </p:sp>
      <p:sp>
        <p:nvSpPr>
          <p:cNvPr id="3" name="Text 1"/>
          <p:cNvSpPr/>
          <p:nvPr/>
        </p:nvSpPr>
        <p:spPr>
          <a:xfrm>
            <a:off x="731520" y="777240"/>
            <a:ext cx="10515600" cy="731520"/>
          </a:xfrm>
          <a:prstGeom prst="rect">
            <a:avLst/>
          </a:prstGeom>
          <a:noFill/>
          <a:ln/>
        </p:spPr>
        <p:txBody>
          <a:bodyPr wrap="square" rtlCol="0" anchor="ctr"/>
          <a:lstStyle/>
          <a:p>
            <a:pPr indent="0" marL="0">
              <a:buNone/>
            </a:pPr>
            <a:r>
              <a:rPr lang="en-US" sz="2600" b="1" dirty="0">
                <a:solidFill>
                  <a:srgbClr val="111111"/>
                </a:solidFill>
                <a:latin typeface="Georgia" pitchFamily="34" charset="0"/>
                <a:ea typeface="Georgia" pitchFamily="34" charset="-122"/>
                <a:cs typeface="Georgia" pitchFamily="34" charset="-120"/>
              </a:rPr>
              <a:t>Day 4: Laguna 513 Basin, Valley Gravel Biking &amp; Pre-Inca Astronomy</a:t>
            </a:r>
            <a:endParaRPr lang="en-US" sz="2600" dirty="0"/>
          </a:p>
        </p:txBody>
      </p:sp>
      <p:sp>
        <p:nvSpPr>
          <p:cNvPr id="4" name="Text 2"/>
          <p:cNvSpPr/>
          <p:nvPr/>
        </p:nvSpPr>
        <p:spPr>
          <a:xfrm>
            <a:off x="731520" y="1645920"/>
            <a:ext cx="5029200" cy="274320"/>
          </a:xfrm>
          <a:prstGeom prst="rect">
            <a:avLst/>
          </a:prstGeom>
          <a:noFill/>
          <a:ln/>
        </p:spPr>
        <p:txBody>
          <a:bodyPr wrap="square" rtlCol="0" anchor="ctr"/>
          <a:lstStyle/>
          <a:p>
            <a:pPr indent="0" marL="0">
              <a:buNone/>
            </a:pPr>
            <a:r>
              <a:rPr lang="en-US" sz="1100" b="1" spc="100" kern="0" dirty="0">
                <a:solidFill>
                  <a:srgbClr val="C69255"/>
                </a:solidFill>
                <a:latin typeface="Arial" pitchFamily="34" charset="0"/>
                <a:ea typeface="Arial" pitchFamily="34" charset="-122"/>
                <a:cs typeface="Arial" pitchFamily="34" charset="-120"/>
              </a:rPr>
              <a:t>True Wilderness Off the Tourist Map</a:t>
            </a:r>
            <a:endParaRPr lang="en-US" sz="1100" dirty="0"/>
          </a:p>
        </p:txBody>
      </p:sp>
      <p:sp>
        <p:nvSpPr>
          <p:cNvPr id="5" name="Text 3"/>
          <p:cNvSpPr/>
          <p:nvPr/>
        </p:nvSpPr>
        <p:spPr>
          <a:xfrm>
            <a:off x="731520" y="2011680"/>
            <a:ext cx="5303520" cy="3383280"/>
          </a:xfrm>
          <a:prstGeom prst="rect">
            <a:avLst/>
          </a:prstGeom>
          <a:noFill/>
          <a:ln/>
        </p:spPr>
        <p:txBody>
          <a:bodyPr wrap="square" rtlCol="0" anchor="ctr"/>
          <a:lstStyle/>
          <a:p>
            <a:pPr indent="0" marL="0">
              <a:lnSpc>
                <a:spcPts val="1800"/>
              </a:lnSpc>
              <a:buNone/>
            </a:pPr>
            <a:r>
              <a:rPr lang="en-US" sz="1150" dirty="0">
                <a:solidFill>
                  <a:srgbClr val="333333"/>
                </a:solidFill>
                <a:latin typeface="Arial" pitchFamily="34" charset="0"/>
                <a:ea typeface="Arial" pitchFamily="34" charset="-122"/>
                <a:cs typeface="Arial" pitchFamily="34" charset="-120"/>
              </a:rPr>
              <a:t>Far from commercial tourist herds, we hike into the untouched basin of Laguna 513 (14,530 ft), cupped directly under the hanging icefalls of Mount Hualcán. Cascading waterfalls, jade-tinted tarns, and pristine moraines unfold in total silence.</a:t>
            </a:r>
            <a:endParaRPr lang="en-US" sz="1150" dirty="0"/>
          </a:p>
          <a:p>
            <a:pPr indent="0" marL="0">
              <a:lnSpc>
                <a:spcPts val="1800"/>
              </a:lnSpc>
              <a:buNone/>
            </a:pPr>
            <a:endParaRPr lang="en-US" sz="1150" dirty="0"/>
          </a:p>
          <a:p>
            <a:pPr indent="0" marL="0">
              <a:lnSpc>
                <a:spcPts val="1800"/>
              </a:lnSpc>
              <a:buNone/>
            </a:pPr>
            <a:r>
              <a:rPr lang="en-US" sz="1150" dirty="0">
                <a:solidFill>
                  <a:srgbClr val="333333"/>
                </a:solidFill>
                <a:latin typeface="Arial" pitchFamily="34" charset="0"/>
                <a:ea typeface="Arial" pitchFamily="34" charset="-122"/>
                <a:cs typeface="Arial" pitchFamily="34" charset="-120"/>
              </a:rPr>
              <a:t>• Adventure Alternative: Guided 15-mile gravel bike descent through Yungay’s agricultural foothills.</a:t>
            </a:r>
            <a:endParaRPr lang="en-US" sz="1150" dirty="0"/>
          </a:p>
          <a:p>
            <a:pPr indent="0" marL="0">
              <a:lnSpc>
                <a:spcPts val="1800"/>
              </a:lnSpc>
              <a:buNone/>
            </a:pPr>
            <a:r>
              <a:rPr lang="en-US" sz="1150" dirty="0">
                <a:solidFill>
                  <a:srgbClr val="333333"/>
                </a:solidFill>
                <a:latin typeface="Arial" pitchFamily="34" charset="0"/>
                <a:ea typeface="Arial" pitchFamily="34" charset="-122"/>
                <a:cs typeface="Arial" pitchFamily="34" charset="-120"/>
              </a:rPr>
              <a:t>• Relaxed Alternative: Gentle walk in Quebrada Rocotuyoc exploring community water preservation.</a:t>
            </a:r>
            <a:endParaRPr lang="en-US" sz="1150" dirty="0"/>
          </a:p>
          <a:p>
            <a:pPr indent="0" marL="0">
              <a:lnSpc>
                <a:spcPts val="1800"/>
              </a:lnSpc>
              <a:buNone/>
            </a:pPr>
            <a:endParaRPr lang="en-US" sz="1150" dirty="0"/>
          </a:p>
          <a:p>
            <a:pPr indent="0" marL="0">
              <a:lnSpc>
                <a:spcPts val="1800"/>
              </a:lnSpc>
              <a:buNone/>
            </a:pPr>
            <a:r>
              <a:rPr lang="en-US" sz="1150" dirty="0">
                <a:solidFill>
                  <a:srgbClr val="333333"/>
                </a:solidFill>
                <a:latin typeface="Arial" pitchFamily="34" charset="0"/>
                <a:ea typeface="Arial" pitchFamily="34" charset="-122"/>
                <a:cs typeface="Arial" pitchFamily="34" charset="-120"/>
              </a:rPr>
              <a:t>Nightfall: Archaeo-astronomy session at the lodge, decoding Quechua dark-cloud constellations (Yacana, the cosmic water llama).</a:t>
            </a:r>
            <a:endParaRPr lang="en-US" sz="1150" dirty="0"/>
          </a:p>
        </p:txBody>
      </p:sp>
      <p:sp>
        <p:nvSpPr>
          <p:cNvPr id="6" name="Shape 4"/>
          <p:cNvSpPr/>
          <p:nvPr/>
        </p:nvSpPr>
        <p:spPr>
          <a:xfrm>
            <a:off x="6400800" y="1645920"/>
            <a:ext cx="5029200" cy="4389120"/>
          </a:xfrm>
          <a:prstGeom prst="rect">
            <a:avLst/>
          </a:prstGeom>
          <a:solidFill>
            <a:srgbClr val="FFFFFF"/>
          </a:solidFill>
          <a:ln w="12700">
            <a:solidFill>
              <a:srgbClr val="DDD9CF"/>
            </a:solidFill>
            <a:prstDash val="solid"/>
          </a:ln>
        </p:spPr>
      </p:sp>
      <p:sp>
        <p:nvSpPr>
          <p:cNvPr id="7" name="Text 5"/>
          <p:cNvSpPr/>
          <p:nvPr/>
        </p:nvSpPr>
        <p:spPr>
          <a:xfrm>
            <a:off x="6766560" y="1920240"/>
            <a:ext cx="4297680" cy="274320"/>
          </a:xfrm>
          <a:prstGeom prst="rect">
            <a:avLst/>
          </a:prstGeom>
          <a:noFill/>
          <a:ln/>
        </p:spPr>
        <p:txBody>
          <a:bodyPr wrap="square" rtlCol="0" anchor="ctr"/>
          <a:lstStyle/>
          <a:p>
            <a:pPr indent="0" marL="0">
              <a:buNone/>
            </a:pPr>
            <a:r>
              <a:rPr lang="en-US" sz="1000" b="1" dirty="0">
                <a:solidFill>
                  <a:srgbClr val="C69255"/>
                </a:solidFill>
                <a:latin typeface="Arial" pitchFamily="34" charset="0"/>
                <a:ea typeface="Arial" pitchFamily="34" charset="-122"/>
                <a:cs typeface="Arial" pitchFamily="34" charset="-120"/>
              </a:rPr>
              <a:t>EXPEDITION BRIEF</a:t>
            </a:r>
            <a:endParaRPr lang="en-US" sz="1000" dirty="0"/>
          </a:p>
        </p:txBody>
      </p:sp>
      <p:sp>
        <p:nvSpPr>
          <p:cNvPr id="8" name="Text 6"/>
          <p:cNvSpPr/>
          <p:nvPr/>
        </p:nvSpPr>
        <p:spPr>
          <a:xfrm>
            <a:off x="6766560" y="2377440"/>
            <a:ext cx="4297680" cy="3383280"/>
          </a:xfrm>
          <a:prstGeom prst="rect">
            <a:avLst/>
          </a:prstGeom>
          <a:noFill/>
          <a:ln/>
        </p:spPr>
        <p:txBody>
          <a:bodyPr wrap="square" rtlCol="0" anchor="ctr"/>
          <a:lstStyle/>
          <a:p>
            <a:pPr indent="0" marL="0">
              <a:lnSpc>
                <a:spcPts val="2000"/>
              </a:lnSpc>
              <a:buNone/>
            </a:pPr>
            <a:r>
              <a:rPr lang="en-US" sz="1100" dirty="0">
                <a:solidFill>
                  <a:srgbClr val="444444"/>
                </a:solidFill>
                <a:latin typeface="Arial" pitchFamily="34" charset="0"/>
                <a:ea typeface="Arial" pitchFamily="34" charset="-122"/>
                <a:cs typeface="Arial" pitchFamily="34" charset="-120"/>
              </a:rPr>
              <a:t>• Key Highlight: Laguna 513 (14,530 ft) &amp; Mount Hualcán hanging glacier</a:t>
            </a:r>
            <a:endParaRPr lang="en-US" sz="1100" dirty="0"/>
          </a:p>
          <a:p>
            <a:pPr indent="0" marL="0">
              <a:lnSpc>
                <a:spcPts val="2000"/>
              </a:lnSpc>
              <a:buNone/>
            </a:pPr>
            <a:r>
              <a:rPr lang="en-US" sz="1100" dirty="0">
                <a:solidFill>
                  <a:srgbClr val="444444"/>
                </a:solidFill>
                <a:latin typeface="Arial" pitchFamily="34" charset="0"/>
                <a:ea typeface="Arial" pitchFamily="34" charset="-122"/>
                <a:cs typeface="Arial" pitchFamily="34" charset="-120"/>
              </a:rPr>
              <a:t>• Biking Option: 15-mile gravel route descending through rural Huaylas farmland</a:t>
            </a:r>
            <a:endParaRPr lang="en-US" sz="1100" dirty="0"/>
          </a:p>
          <a:p>
            <a:pPr indent="0" marL="0">
              <a:lnSpc>
                <a:spcPts val="2000"/>
              </a:lnSpc>
              <a:buNone/>
            </a:pPr>
            <a:r>
              <a:rPr lang="en-US" sz="1100" dirty="0">
                <a:solidFill>
                  <a:srgbClr val="444444"/>
                </a:solidFill>
                <a:latin typeface="Arial" pitchFamily="34" charset="0"/>
                <a:ea typeface="Arial" pitchFamily="34" charset="-122"/>
                <a:cs typeface="Arial" pitchFamily="34" charset="-120"/>
              </a:rPr>
              <a:t>• Night Experience: Andean ethno-astronomy under clear high-altitude skies</a:t>
            </a:r>
            <a:endParaRPr lang="en-US" sz="1100" dirty="0"/>
          </a:p>
          <a:p>
            <a:pPr indent="0" marL="0">
              <a:lnSpc>
                <a:spcPts val="2000"/>
              </a:lnSpc>
              <a:buNone/>
            </a:pPr>
            <a:r>
              <a:rPr lang="en-US" sz="1100" dirty="0">
                <a:solidFill>
                  <a:srgbClr val="444444"/>
                </a:solidFill>
                <a:latin typeface="Arial" pitchFamily="34" charset="0"/>
                <a:ea typeface="Arial" pitchFamily="34" charset="-122"/>
                <a:cs typeface="Arial" pitchFamily="34" charset="-120"/>
              </a:rPr>
              <a:t>• Laguna 513 Difficulty: Challenging / 6 hrs / 2,130 ft positive elevation gain</a:t>
            </a:r>
            <a:endParaRPr lang="en-US" sz="1100" dirty="0"/>
          </a:p>
          <a:p>
            <a:pPr indent="0" marL="0">
              <a:lnSpc>
                <a:spcPts val="2000"/>
              </a:lnSpc>
              <a:buNone/>
            </a:pPr>
            <a:r>
              <a:rPr lang="en-US" sz="1100" dirty="0">
                <a:solidFill>
                  <a:srgbClr val="444444"/>
                </a:solidFill>
                <a:latin typeface="Arial" pitchFamily="34" charset="0"/>
                <a:ea typeface="Arial" pitchFamily="34" charset="-122"/>
                <a:cs typeface="Arial" pitchFamily="34" charset="-120"/>
              </a:rPr>
              <a:t>• Lodging: Wayarumi Eco-Lodge (8,200 ft)</a:t>
            </a:r>
            <a:endParaRPr lang="en-US" sz="1100" dirty="0"/>
          </a:p>
          <a:p>
            <a:pPr indent="0" marL="0">
              <a:lnSpc>
                <a:spcPts val="2000"/>
              </a:lnSpc>
              <a:buNone/>
            </a:pPr>
            <a:r>
              <a:rPr lang="en-US" sz="1100" dirty="0">
                <a:solidFill>
                  <a:srgbClr val="444444"/>
                </a:solidFill>
                <a:latin typeface="Arial" pitchFamily="34" charset="0"/>
                <a:ea typeface="Arial" pitchFamily="34" charset="-122"/>
                <a:cs typeface="Arial" pitchFamily="34" charset="-120"/>
              </a:rPr>
              <a:t>• Atmosphere: The authentic silence of the high Andes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2ED"/>
        </a:solidFill>
      </p:bgPr>
    </p:bg>
    <p:spTree>
      <p:nvGrpSpPr>
        <p:cNvPr id="1" name=""/>
        <p:cNvGrpSpPr/>
        <p:nvPr/>
      </p:nvGrpSpPr>
      <p:grpSpPr>
        <a:xfrm>
          <a:off x="0" y="0"/>
          <a:ext cx="0" cy="0"/>
          <a:chOff x="0" y="0"/>
          <a:chExt cx="0" cy="0"/>
        </a:xfrm>
      </p:grpSpPr>
      <p:sp>
        <p:nvSpPr>
          <p:cNvPr id="2" name="Text 0"/>
          <p:cNvSpPr/>
          <p:nvPr/>
        </p:nvSpPr>
        <p:spPr>
          <a:xfrm>
            <a:off x="731520" y="457200"/>
            <a:ext cx="7315200" cy="274320"/>
          </a:xfrm>
          <a:prstGeom prst="rect">
            <a:avLst/>
          </a:prstGeom>
          <a:noFill/>
          <a:ln/>
        </p:spPr>
        <p:txBody>
          <a:bodyPr wrap="square" rtlCol="0" anchor="ctr"/>
          <a:lstStyle/>
          <a:p>
            <a:pPr indent="0" marL="0">
              <a:buNone/>
            </a:pPr>
            <a:r>
              <a:rPr lang="en-US" sz="1000" b="1" spc="300" kern="0" dirty="0">
                <a:solidFill>
                  <a:srgbClr val="666666"/>
                </a:solidFill>
                <a:latin typeface="Arial" pitchFamily="34" charset="0"/>
                <a:ea typeface="Arial" pitchFamily="34" charset="-122"/>
                <a:cs typeface="Arial" pitchFamily="34" charset="-120"/>
              </a:rPr>
              <a:t>DETAILED ITINERARY</a:t>
            </a:r>
            <a:endParaRPr lang="en-US" sz="1000" dirty="0"/>
          </a:p>
        </p:txBody>
      </p:sp>
      <p:sp>
        <p:nvSpPr>
          <p:cNvPr id="3" name="Text 1"/>
          <p:cNvSpPr/>
          <p:nvPr/>
        </p:nvSpPr>
        <p:spPr>
          <a:xfrm>
            <a:off x="731520" y="777240"/>
            <a:ext cx="10515600" cy="731520"/>
          </a:xfrm>
          <a:prstGeom prst="rect">
            <a:avLst/>
          </a:prstGeom>
          <a:noFill/>
          <a:ln/>
        </p:spPr>
        <p:txBody>
          <a:bodyPr wrap="square" rtlCol="0" anchor="ctr"/>
          <a:lstStyle/>
          <a:p>
            <a:pPr indent="0" marL="0">
              <a:buNone/>
            </a:pPr>
            <a:r>
              <a:rPr lang="en-US" sz="2600" b="1" dirty="0">
                <a:solidFill>
                  <a:srgbClr val="111111"/>
                </a:solidFill>
                <a:latin typeface="Georgia" pitchFamily="34" charset="0"/>
                <a:ea typeface="Georgia" pitchFamily="34" charset="-122"/>
                <a:cs typeface="Georgia" pitchFamily="34" charset="-120"/>
              </a:rPr>
              <a:t>Day 5: Punta Olímpica Pass &amp; the Master Artisans of Chacas</a:t>
            </a:r>
            <a:endParaRPr lang="en-US" sz="2600" dirty="0"/>
          </a:p>
        </p:txBody>
      </p:sp>
      <p:sp>
        <p:nvSpPr>
          <p:cNvPr id="4" name="Text 2"/>
          <p:cNvSpPr/>
          <p:nvPr/>
        </p:nvSpPr>
        <p:spPr>
          <a:xfrm>
            <a:off x="731520" y="1645920"/>
            <a:ext cx="5029200" cy="274320"/>
          </a:xfrm>
          <a:prstGeom prst="rect">
            <a:avLst/>
          </a:prstGeom>
          <a:noFill/>
          <a:ln/>
        </p:spPr>
        <p:txBody>
          <a:bodyPr wrap="square" rtlCol="0" anchor="ctr"/>
          <a:lstStyle/>
          <a:p>
            <a:pPr indent="0" marL="0">
              <a:buNone/>
            </a:pPr>
            <a:r>
              <a:rPr lang="en-US" sz="1100" b="1" spc="100" kern="0" dirty="0">
                <a:solidFill>
                  <a:srgbClr val="C69255"/>
                </a:solidFill>
                <a:latin typeface="Arial" pitchFamily="34" charset="0"/>
                <a:ea typeface="Arial" pitchFamily="34" charset="-122"/>
                <a:cs typeface="Arial" pitchFamily="34" charset="-120"/>
              </a:rPr>
              <a:t>Crossing the Continental Divide to the Amazon Slope</a:t>
            </a:r>
            <a:endParaRPr lang="en-US" sz="1100" dirty="0"/>
          </a:p>
        </p:txBody>
      </p:sp>
      <p:sp>
        <p:nvSpPr>
          <p:cNvPr id="5" name="Text 3"/>
          <p:cNvSpPr/>
          <p:nvPr/>
        </p:nvSpPr>
        <p:spPr>
          <a:xfrm>
            <a:off x="731520" y="2011680"/>
            <a:ext cx="5303520" cy="3383280"/>
          </a:xfrm>
          <a:prstGeom prst="rect">
            <a:avLst/>
          </a:prstGeom>
          <a:noFill/>
          <a:ln/>
        </p:spPr>
        <p:txBody>
          <a:bodyPr wrap="square" rtlCol="0" anchor="ctr"/>
          <a:lstStyle/>
          <a:p>
            <a:pPr indent="0" marL="0">
              <a:lnSpc>
                <a:spcPts val="1800"/>
              </a:lnSpc>
              <a:buNone/>
            </a:pPr>
            <a:r>
              <a:rPr lang="en-US" sz="1150" dirty="0">
                <a:solidFill>
                  <a:srgbClr val="333333"/>
                </a:solidFill>
                <a:latin typeface="Arial" pitchFamily="34" charset="0"/>
                <a:ea typeface="Arial" pitchFamily="34" charset="-122"/>
                <a:cs typeface="Arial" pitchFamily="34" charset="-120"/>
              </a:rPr>
              <a:t>A scenic overland crossing of the continental divide, tracing the rugged pass between Mount Huascarán and Chopicalqui before piercing Punta Olímpica at 15,530 feet. As the route reveals Huascarán from dramatic, ever-shifting angles, the high alpine gives way to the verdant eastern valleys of Chacas, a tranquil colonial enclave famed for its carved timber balconies.</a:t>
            </a:r>
            <a:endParaRPr lang="en-US" sz="1150" dirty="0"/>
          </a:p>
          <a:p>
            <a:pPr indent="0" marL="0">
              <a:lnSpc>
                <a:spcPts val="1800"/>
              </a:lnSpc>
              <a:buNone/>
            </a:pPr>
            <a:endParaRPr lang="en-US" sz="1150" dirty="0"/>
          </a:p>
          <a:p>
            <a:pPr indent="0" marL="0">
              <a:lnSpc>
                <a:spcPts val="1800"/>
              </a:lnSpc>
              <a:buNone/>
            </a:pPr>
            <a:r>
              <a:rPr lang="en-US" sz="1150" dirty="0">
                <a:solidFill>
                  <a:srgbClr val="333333"/>
                </a:solidFill>
                <a:latin typeface="Arial" pitchFamily="34" charset="0"/>
                <a:ea typeface="Arial" pitchFamily="34" charset="-122"/>
                <a:cs typeface="Arial" pitchFamily="34" charset="-120"/>
              </a:rPr>
              <a:t>Here, travelers encounter one of the Andes’ most profound social legacies: the Don Bosco ateliers founded by Father Ugo de Censi, where Quechua craftspeople master Renaissance joinery, stone sculpture, and stained glass commissioned by cathedrals worldwide and the Vatican.</a:t>
            </a:r>
            <a:endParaRPr lang="en-US" sz="1150" dirty="0"/>
          </a:p>
          <a:p>
            <a:pPr indent="0" marL="0">
              <a:lnSpc>
                <a:spcPts val="1800"/>
              </a:lnSpc>
              <a:buNone/>
            </a:pPr>
            <a:endParaRPr lang="en-US" sz="1150" dirty="0"/>
          </a:p>
          <a:p>
            <a:pPr indent="0" marL="0">
              <a:lnSpc>
                <a:spcPts val="1800"/>
              </a:lnSpc>
              <a:buNone/>
            </a:pPr>
            <a:r>
              <a:rPr lang="en-US" sz="1150" dirty="0">
                <a:solidFill>
                  <a:srgbClr val="333333"/>
                </a:solidFill>
                <a:latin typeface="Arial" pitchFamily="34" charset="0"/>
                <a:ea typeface="Arial" pitchFamily="34" charset="-122"/>
                <a:cs typeface="Arial" pitchFamily="34" charset="-120"/>
              </a:rPr>
              <a:t>The day draws to a close at Cuesta Serena Lodge, with evening views across the Cordillera Blanca.</a:t>
            </a:r>
            <a:endParaRPr lang="en-US" sz="1150" dirty="0"/>
          </a:p>
        </p:txBody>
      </p:sp>
      <p:sp>
        <p:nvSpPr>
          <p:cNvPr id="6" name="Shape 4"/>
          <p:cNvSpPr/>
          <p:nvPr/>
        </p:nvSpPr>
        <p:spPr>
          <a:xfrm>
            <a:off x="6400800" y="1645920"/>
            <a:ext cx="5029200" cy="4389120"/>
          </a:xfrm>
          <a:prstGeom prst="rect">
            <a:avLst/>
          </a:prstGeom>
          <a:solidFill>
            <a:srgbClr val="FFFFFF"/>
          </a:solidFill>
          <a:ln w="12700">
            <a:solidFill>
              <a:srgbClr val="DDD9CF"/>
            </a:solidFill>
            <a:prstDash val="solid"/>
          </a:ln>
        </p:spPr>
      </p:sp>
      <p:sp>
        <p:nvSpPr>
          <p:cNvPr id="7" name="Text 5"/>
          <p:cNvSpPr/>
          <p:nvPr/>
        </p:nvSpPr>
        <p:spPr>
          <a:xfrm>
            <a:off x="6766560" y="1920240"/>
            <a:ext cx="4297680" cy="274320"/>
          </a:xfrm>
          <a:prstGeom prst="rect">
            <a:avLst/>
          </a:prstGeom>
          <a:noFill/>
          <a:ln/>
        </p:spPr>
        <p:txBody>
          <a:bodyPr wrap="square" rtlCol="0" anchor="ctr"/>
          <a:lstStyle/>
          <a:p>
            <a:pPr indent="0" marL="0">
              <a:buNone/>
            </a:pPr>
            <a:r>
              <a:rPr lang="en-US" sz="1000" b="1" dirty="0">
                <a:solidFill>
                  <a:srgbClr val="C69255"/>
                </a:solidFill>
                <a:latin typeface="Arial" pitchFamily="34" charset="0"/>
                <a:ea typeface="Arial" pitchFamily="34" charset="-122"/>
                <a:cs typeface="Arial" pitchFamily="34" charset="-120"/>
              </a:rPr>
              <a:t>EXPEDITION BRIEF</a:t>
            </a:r>
            <a:endParaRPr lang="en-US" sz="1000" dirty="0"/>
          </a:p>
        </p:txBody>
      </p:sp>
      <p:sp>
        <p:nvSpPr>
          <p:cNvPr id="8" name="Text 6"/>
          <p:cNvSpPr/>
          <p:nvPr/>
        </p:nvSpPr>
        <p:spPr>
          <a:xfrm>
            <a:off x="6766560" y="2377440"/>
            <a:ext cx="4297680" cy="3383280"/>
          </a:xfrm>
          <a:prstGeom prst="rect">
            <a:avLst/>
          </a:prstGeom>
          <a:noFill/>
          <a:ln/>
        </p:spPr>
        <p:txBody>
          <a:bodyPr wrap="square" rtlCol="0" anchor="ctr"/>
          <a:lstStyle/>
          <a:p>
            <a:pPr indent="0" marL="0">
              <a:lnSpc>
                <a:spcPts val="2000"/>
              </a:lnSpc>
              <a:buNone/>
            </a:pPr>
            <a:r>
              <a:rPr lang="en-US" sz="1100" dirty="0">
                <a:solidFill>
                  <a:srgbClr val="444444"/>
                </a:solidFill>
                <a:latin typeface="Arial" pitchFamily="34" charset="0"/>
                <a:ea typeface="Arial" pitchFamily="34" charset="-122"/>
                <a:cs typeface="Arial" pitchFamily="34" charset="-120"/>
              </a:rPr>
              <a:t>• Continental Pass: Punta Olímpica Tunnel at 15,530 ft (views of five 20,000 ft massifs)</a:t>
            </a:r>
            <a:endParaRPr lang="en-US" sz="1100" dirty="0"/>
          </a:p>
          <a:p>
            <a:pPr indent="0" marL="0">
              <a:lnSpc>
                <a:spcPts val="2000"/>
              </a:lnSpc>
              <a:buNone/>
            </a:pPr>
            <a:r>
              <a:rPr lang="en-US" sz="1100" dirty="0">
                <a:solidFill>
                  <a:srgbClr val="444444"/>
                </a:solidFill>
                <a:latin typeface="Arial" pitchFamily="34" charset="0"/>
                <a:ea typeface="Arial" pitchFamily="34" charset="-122"/>
                <a:cs typeface="Arial" pitchFamily="34" charset="-120"/>
              </a:rPr>
              <a:t>• Cultural Milestone: Private atelier visits with Don Bosco artisans &amp; Chacas Sanctuary</a:t>
            </a:r>
            <a:endParaRPr lang="en-US" sz="1100" dirty="0"/>
          </a:p>
          <a:p>
            <a:pPr indent="0" marL="0">
              <a:lnSpc>
                <a:spcPts val="2000"/>
              </a:lnSpc>
              <a:buNone/>
            </a:pPr>
            <a:r>
              <a:rPr lang="en-US" sz="1100" dirty="0">
                <a:solidFill>
                  <a:srgbClr val="444444"/>
                </a:solidFill>
                <a:latin typeface="Arial" pitchFamily="34" charset="0"/>
                <a:ea typeface="Arial" pitchFamily="34" charset="-122"/>
                <a:cs typeface="Arial" pitchFamily="34" charset="-120"/>
              </a:rPr>
              <a:t>• Base Camp: Cuesta Serena Lodge (boutique luxury retreat in Anta/Marcará)</a:t>
            </a:r>
            <a:endParaRPr lang="en-US" sz="1100" dirty="0"/>
          </a:p>
          <a:p>
            <a:pPr indent="0" marL="0">
              <a:lnSpc>
                <a:spcPts val="2000"/>
              </a:lnSpc>
              <a:buNone/>
            </a:pPr>
            <a:r>
              <a:rPr lang="en-US" sz="1100" dirty="0">
                <a:solidFill>
                  <a:srgbClr val="444444"/>
                </a:solidFill>
                <a:latin typeface="Arial" pitchFamily="34" charset="0"/>
                <a:ea typeface="Arial" pitchFamily="34" charset="-122"/>
                <a:cs typeface="Arial" pitchFamily="34" charset="-120"/>
              </a:rPr>
              <a:t>• Sleep Elevation: 9,180 ft / 2,800 m</a:t>
            </a:r>
            <a:endParaRPr lang="en-US" sz="1100" dirty="0"/>
          </a:p>
          <a:p>
            <a:pPr indent="0" marL="0">
              <a:lnSpc>
                <a:spcPts val="2000"/>
              </a:lnSpc>
              <a:buNone/>
            </a:pPr>
            <a:r>
              <a:rPr lang="en-US" sz="1100" dirty="0">
                <a:solidFill>
                  <a:srgbClr val="444444"/>
                </a:solidFill>
                <a:latin typeface="Arial" pitchFamily="34" charset="0"/>
                <a:ea typeface="Arial" pitchFamily="34" charset="-122"/>
                <a:cs typeface="Arial" pitchFamily="34" charset="-120"/>
              </a:rPr>
              <a:t>• Gastronomy: Multi-course celebration dinner paired with Andean spirits at Cuesta Serena</a:t>
            </a:r>
            <a:endParaRPr lang="en-US" sz="1100" dirty="0"/>
          </a:p>
          <a:p>
            <a:pPr indent="0" marL="0">
              <a:lnSpc>
                <a:spcPts val="2000"/>
              </a:lnSpc>
              <a:buNone/>
            </a:pPr>
            <a:r>
              <a:rPr lang="en-US" sz="1100" dirty="0">
                <a:solidFill>
                  <a:srgbClr val="444444"/>
                </a:solidFill>
                <a:latin typeface="Arial" pitchFamily="34" charset="0"/>
                <a:ea typeface="Arial" pitchFamily="34" charset="-122"/>
                <a:cs typeface="Arial" pitchFamily="34" charset="-120"/>
              </a:rPr>
              <a:t>• Heritage: Hand-carved cedar and walnut balconies unique in South America</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731520" y="457200"/>
            <a:ext cx="7315200" cy="274320"/>
          </a:xfrm>
          <a:prstGeom prst="rect">
            <a:avLst/>
          </a:prstGeom>
          <a:noFill/>
          <a:ln/>
        </p:spPr>
        <p:txBody>
          <a:bodyPr wrap="square" rtlCol="0" anchor="ctr"/>
          <a:lstStyle/>
          <a:p>
            <a:pPr indent="0" marL="0">
              <a:buNone/>
            </a:pPr>
            <a:r>
              <a:rPr lang="en-US" sz="1000" b="1" spc="300" kern="0" dirty="0">
                <a:solidFill>
                  <a:srgbClr val="C69255"/>
                </a:solidFill>
                <a:latin typeface="Arial" pitchFamily="34" charset="0"/>
                <a:ea typeface="Arial" pitchFamily="34" charset="-122"/>
                <a:cs typeface="Arial" pitchFamily="34" charset="-120"/>
              </a:rPr>
              <a:t>LIVING MOUNTAIN HERITAGE</a:t>
            </a:r>
            <a:endParaRPr lang="en-US" sz="1000" dirty="0"/>
          </a:p>
        </p:txBody>
      </p:sp>
      <p:sp>
        <p:nvSpPr>
          <p:cNvPr id="3" name="Text 1"/>
          <p:cNvSpPr/>
          <p:nvPr/>
        </p:nvSpPr>
        <p:spPr>
          <a:xfrm>
            <a:off x="731520" y="777240"/>
            <a:ext cx="10515600" cy="7315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The Andean Renaissance: Don Bosco Artisans in Chacas</a:t>
            </a:r>
            <a:endParaRPr lang="en-US" sz="2600" dirty="0"/>
          </a:p>
        </p:txBody>
      </p:sp>
      <p:sp>
        <p:nvSpPr>
          <p:cNvPr id="4" name="Text 2"/>
          <p:cNvSpPr/>
          <p:nvPr/>
        </p:nvSpPr>
        <p:spPr>
          <a:xfrm>
            <a:off x="731520" y="1645920"/>
            <a:ext cx="10698480" cy="457200"/>
          </a:xfrm>
          <a:prstGeom prst="rect">
            <a:avLst/>
          </a:prstGeom>
          <a:noFill/>
          <a:ln/>
        </p:spPr>
        <p:txBody>
          <a:bodyPr wrap="square" rtlCol="0" anchor="ctr"/>
          <a:lstStyle/>
          <a:p>
            <a:pPr indent="0" marL="0">
              <a:buNone/>
            </a:pPr>
            <a:r>
              <a:rPr lang="en-US" sz="1600" i="1" dirty="0">
                <a:solidFill>
                  <a:srgbClr val="C69255"/>
                </a:solidFill>
                <a:latin typeface="Georgia" pitchFamily="34" charset="0"/>
                <a:ea typeface="Georgia" pitchFamily="34" charset="-122"/>
                <a:cs typeface="Georgia" pitchFamily="34" charset="-120"/>
              </a:rPr>
              <a:t>Why is Chacas an essential cornerstone of this Explora expedition?</a:t>
            </a:r>
            <a:endParaRPr lang="en-US" sz="1600" dirty="0"/>
          </a:p>
        </p:txBody>
      </p:sp>
      <p:sp>
        <p:nvSpPr>
          <p:cNvPr id="5" name="Shape 3"/>
          <p:cNvSpPr/>
          <p:nvPr/>
        </p:nvSpPr>
        <p:spPr>
          <a:xfrm>
            <a:off x="731520" y="2377440"/>
            <a:ext cx="3429000" cy="3474720"/>
          </a:xfrm>
          <a:prstGeom prst="rect">
            <a:avLst/>
          </a:prstGeom>
          <a:solidFill>
            <a:srgbClr val="1C1C1E"/>
          </a:solidFill>
          <a:ln w="12700">
            <a:solidFill>
              <a:srgbClr val="2E2E32"/>
            </a:solidFill>
            <a:prstDash val="solid"/>
          </a:ln>
        </p:spPr>
      </p:sp>
      <p:sp>
        <p:nvSpPr>
          <p:cNvPr id="6" name="Text 4"/>
          <p:cNvSpPr/>
          <p:nvPr/>
        </p:nvSpPr>
        <p:spPr>
          <a:xfrm>
            <a:off x="1005840" y="2651760"/>
            <a:ext cx="2880360" cy="548640"/>
          </a:xfrm>
          <a:prstGeom prst="rect">
            <a:avLst/>
          </a:prstGeom>
          <a:noFill/>
          <a:ln/>
        </p:spPr>
        <p:txBody>
          <a:bodyPr wrap="square"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Father Ugo’s Vision</a:t>
            </a:r>
            <a:endParaRPr lang="en-US" sz="1500" dirty="0"/>
          </a:p>
        </p:txBody>
      </p:sp>
      <p:sp>
        <p:nvSpPr>
          <p:cNvPr id="7" name="Text 5"/>
          <p:cNvSpPr/>
          <p:nvPr/>
        </p:nvSpPr>
        <p:spPr>
          <a:xfrm>
            <a:off x="1005840" y="3383280"/>
            <a:ext cx="2880360" cy="2194560"/>
          </a:xfrm>
          <a:prstGeom prst="rect">
            <a:avLst/>
          </a:prstGeom>
          <a:noFill/>
          <a:ln/>
        </p:spPr>
        <p:txBody>
          <a:bodyPr wrap="square" rtlCol="0" anchor="ctr"/>
          <a:lstStyle/>
          <a:p>
            <a:pPr indent="0" marL="0">
              <a:lnSpc>
                <a:spcPts val="1800"/>
              </a:lnSpc>
              <a:buNone/>
            </a:pPr>
            <a:r>
              <a:rPr lang="en-US" sz="1100" dirty="0">
                <a:solidFill>
                  <a:srgbClr val="8E8E93"/>
                </a:solidFill>
                <a:latin typeface="Arial" pitchFamily="34" charset="0"/>
                <a:ea typeface="Arial" pitchFamily="34" charset="-122"/>
                <a:cs typeface="Arial" pitchFamily="34" charset="-120"/>
              </a:rPr>
              <a:t>In 1976, Italian Salesian priest Ugo de Censi arrived in isolated Chacas. Rejecting passive charity, he founded a tuition-free vocational school teaching Renaissance woodworking, stone carving, and glasscraft to young Quechua farmers.</a:t>
            </a:r>
            <a:endParaRPr lang="en-US" sz="1100" dirty="0"/>
          </a:p>
        </p:txBody>
      </p:sp>
      <p:sp>
        <p:nvSpPr>
          <p:cNvPr id="8" name="Shape 6"/>
          <p:cNvSpPr/>
          <p:nvPr/>
        </p:nvSpPr>
        <p:spPr>
          <a:xfrm>
            <a:off x="4343400" y="2377440"/>
            <a:ext cx="3429000" cy="3474720"/>
          </a:xfrm>
          <a:prstGeom prst="rect">
            <a:avLst/>
          </a:prstGeom>
          <a:solidFill>
            <a:srgbClr val="1C1C1E"/>
          </a:solidFill>
          <a:ln w="12700">
            <a:solidFill>
              <a:srgbClr val="2E2E32"/>
            </a:solidFill>
            <a:prstDash val="solid"/>
          </a:ln>
        </p:spPr>
      </p:sp>
      <p:sp>
        <p:nvSpPr>
          <p:cNvPr id="9" name="Text 7"/>
          <p:cNvSpPr/>
          <p:nvPr/>
        </p:nvSpPr>
        <p:spPr>
          <a:xfrm>
            <a:off x="4617720" y="2651760"/>
            <a:ext cx="2880360" cy="548640"/>
          </a:xfrm>
          <a:prstGeom prst="rect">
            <a:avLst/>
          </a:prstGeom>
          <a:noFill/>
          <a:ln/>
        </p:spPr>
        <p:txBody>
          <a:bodyPr wrap="square"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Renaissance Mastery</a:t>
            </a:r>
            <a:endParaRPr lang="en-US" sz="1500" dirty="0"/>
          </a:p>
        </p:txBody>
      </p:sp>
      <p:sp>
        <p:nvSpPr>
          <p:cNvPr id="10" name="Text 8"/>
          <p:cNvSpPr/>
          <p:nvPr/>
        </p:nvSpPr>
        <p:spPr>
          <a:xfrm>
            <a:off x="4617720" y="3383280"/>
            <a:ext cx="2880360" cy="2194560"/>
          </a:xfrm>
          <a:prstGeom prst="rect">
            <a:avLst/>
          </a:prstGeom>
          <a:noFill/>
          <a:ln/>
        </p:spPr>
        <p:txBody>
          <a:bodyPr wrap="square" rtlCol="0" anchor="ctr"/>
          <a:lstStyle/>
          <a:p>
            <a:pPr indent="0" marL="0">
              <a:lnSpc>
                <a:spcPts val="1800"/>
              </a:lnSpc>
              <a:buNone/>
            </a:pPr>
            <a:r>
              <a:rPr lang="en-US" sz="1100" dirty="0">
                <a:solidFill>
                  <a:srgbClr val="8E8E93"/>
                </a:solidFill>
                <a:latin typeface="Arial" pitchFamily="34" charset="0"/>
                <a:ea typeface="Arial" pitchFamily="34" charset="-122"/>
                <a:cs typeface="Arial" pitchFamily="34" charset="-120"/>
              </a:rPr>
              <a:t>Generations of indigenous artisans mastered fine joinery, stone sculpting, bronze casting, and stained-glass assembly. Their sacred art now adorns European cathedrals and private international collections.</a:t>
            </a:r>
            <a:endParaRPr lang="en-US" sz="1100" dirty="0"/>
          </a:p>
        </p:txBody>
      </p:sp>
      <p:sp>
        <p:nvSpPr>
          <p:cNvPr id="11" name="Shape 9"/>
          <p:cNvSpPr/>
          <p:nvPr/>
        </p:nvSpPr>
        <p:spPr>
          <a:xfrm>
            <a:off x="7955280" y="2377440"/>
            <a:ext cx="3429000" cy="3474720"/>
          </a:xfrm>
          <a:prstGeom prst="rect">
            <a:avLst/>
          </a:prstGeom>
          <a:solidFill>
            <a:srgbClr val="1C1C1E"/>
          </a:solidFill>
          <a:ln w="12700">
            <a:solidFill>
              <a:srgbClr val="2E2E32"/>
            </a:solidFill>
            <a:prstDash val="solid"/>
          </a:ln>
        </p:spPr>
      </p:sp>
      <p:sp>
        <p:nvSpPr>
          <p:cNvPr id="12" name="Text 10"/>
          <p:cNvSpPr/>
          <p:nvPr/>
        </p:nvSpPr>
        <p:spPr>
          <a:xfrm>
            <a:off x="8229600" y="2651760"/>
            <a:ext cx="2880360" cy="548640"/>
          </a:xfrm>
          <a:prstGeom prst="rect">
            <a:avLst/>
          </a:prstGeom>
          <a:noFill/>
          <a:ln/>
        </p:spPr>
        <p:txBody>
          <a:bodyPr wrap="square"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Solidarity Economy</a:t>
            </a:r>
            <a:endParaRPr lang="en-US" sz="1500" dirty="0"/>
          </a:p>
        </p:txBody>
      </p:sp>
      <p:sp>
        <p:nvSpPr>
          <p:cNvPr id="13" name="Text 11"/>
          <p:cNvSpPr/>
          <p:nvPr/>
        </p:nvSpPr>
        <p:spPr>
          <a:xfrm>
            <a:off x="8229600" y="3383280"/>
            <a:ext cx="2880360" cy="2194560"/>
          </a:xfrm>
          <a:prstGeom prst="rect">
            <a:avLst/>
          </a:prstGeom>
          <a:noFill/>
          <a:ln/>
        </p:spPr>
        <p:txBody>
          <a:bodyPr wrap="square" rtlCol="0" anchor="ctr"/>
          <a:lstStyle/>
          <a:p>
            <a:pPr indent="0" marL="0">
              <a:lnSpc>
                <a:spcPts val="1800"/>
              </a:lnSpc>
              <a:buNone/>
            </a:pPr>
            <a:r>
              <a:rPr lang="en-US" sz="1100" dirty="0">
                <a:solidFill>
                  <a:srgbClr val="8E8E93"/>
                </a:solidFill>
                <a:latin typeface="Arial" pitchFamily="34" charset="0"/>
                <a:ea typeface="Arial" pitchFamily="34" charset="-122"/>
                <a:cs typeface="Arial" pitchFamily="34" charset="-120"/>
              </a:rPr>
              <a:t>The workshops operate as worker cooperatives. 100% of revenue directly funds Mama Ashu Hospital (free medical care for peasants), elderly care, and technical schools throughout the region.</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2ED"/>
        </a:solidFill>
      </p:bgPr>
    </p:bg>
    <p:spTree>
      <p:nvGrpSpPr>
        <p:cNvPr id="1" name=""/>
        <p:cNvGrpSpPr/>
        <p:nvPr/>
      </p:nvGrpSpPr>
      <p:grpSpPr>
        <a:xfrm>
          <a:off x="0" y="0"/>
          <a:ext cx="0" cy="0"/>
          <a:chOff x="0" y="0"/>
          <a:chExt cx="0" cy="0"/>
        </a:xfrm>
      </p:grpSpPr>
      <p:sp>
        <p:nvSpPr>
          <p:cNvPr id="2" name="Text 0"/>
          <p:cNvSpPr/>
          <p:nvPr/>
        </p:nvSpPr>
        <p:spPr>
          <a:xfrm>
            <a:off x="731520" y="457200"/>
            <a:ext cx="7315200" cy="274320"/>
          </a:xfrm>
          <a:prstGeom prst="rect">
            <a:avLst/>
          </a:prstGeom>
          <a:noFill/>
          <a:ln/>
        </p:spPr>
        <p:txBody>
          <a:bodyPr wrap="square" rtlCol="0" anchor="ctr"/>
          <a:lstStyle/>
          <a:p>
            <a:pPr indent="0" marL="0">
              <a:buNone/>
            </a:pPr>
            <a:r>
              <a:rPr lang="en-US" sz="1000" b="1" spc="300" kern="0" dirty="0">
                <a:solidFill>
                  <a:srgbClr val="666666"/>
                </a:solidFill>
                <a:latin typeface="Arial" pitchFamily="34" charset="0"/>
                <a:ea typeface="Arial" pitchFamily="34" charset="-122"/>
                <a:cs typeface="Arial" pitchFamily="34" charset="-120"/>
              </a:rPr>
              <a:t>DETAILED ITINERARY</a:t>
            </a:r>
            <a:endParaRPr lang="en-US" sz="1000" dirty="0"/>
          </a:p>
        </p:txBody>
      </p:sp>
      <p:sp>
        <p:nvSpPr>
          <p:cNvPr id="3" name="Text 1"/>
          <p:cNvSpPr/>
          <p:nvPr/>
        </p:nvSpPr>
        <p:spPr>
          <a:xfrm>
            <a:off x="731520" y="777240"/>
            <a:ext cx="10515600" cy="731520"/>
          </a:xfrm>
          <a:prstGeom prst="rect">
            <a:avLst/>
          </a:prstGeom>
          <a:noFill/>
          <a:ln/>
        </p:spPr>
        <p:txBody>
          <a:bodyPr wrap="square" rtlCol="0" anchor="ctr"/>
          <a:lstStyle/>
          <a:p>
            <a:pPr indent="0" marL="0">
              <a:buNone/>
            </a:pPr>
            <a:r>
              <a:rPr lang="en-US" sz="2600" b="1" dirty="0">
                <a:solidFill>
                  <a:srgbClr val="111111"/>
                </a:solidFill>
                <a:latin typeface="Georgia" pitchFamily="34" charset="0"/>
                <a:ea typeface="Georgia" pitchFamily="34" charset="-122"/>
                <a:cs typeface="Georgia" pitchFamily="34" charset="-120"/>
              </a:rPr>
              <a:t>Day 6: Expedition Farewell or Leap to the High Summit</a:t>
            </a:r>
            <a:endParaRPr lang="en-US" sz="2600" dirty="0"/>
          </a:p>
        </p:txBody>
      </p:sp>
      <p:sp>
        <p:nvSpPr>
          <p:cNvPr id="4" name="Text 2"/>
          <p:cNvSpPr/>
          <p:nvPr/>
        </p:nvSpPr>
        <p:spPr>
          <a:xfrm>
            <a:off x="731520" y="1645920"/>
            <a:ext cx="5029200" cy="365760"/>
          </a:xfrm>
          <a:prstGeom prst="rect">
            <a:avLst/>
          </a:prstGeom>
          <a:noFill/>
          <a:ln/>
        </p:spPr>
        <p:txBody>
          <a:bodyPr wrap="square" rtlCol="0" anchor="ctr"/>
          <a:lstStyle/>
          <a:p>
            <a:pPr indent="0" marL="0">
              <a:buNone/>
            </a:pPr>
            <a:r>
              <a:rPr lang="en-US" sz="1300" b="1" dirty="0">
                <a:solidFill>
                  <a:srgbClr val="111111"/>
                </a:solidFill>
                <a:latin typeface="Georgia" pitchFamily="34" charset="0"/>
                <a:ea typeface="Georgia" pitchFamily="34" charset="-122"/>
                <a:cs typeface="Georgia" pitchFamily="34" charset="-120"/>
              </a:rPr>
              <a:t>For Standard Program Travelers (6 Days / 5 Nights):</a:t>
            </a:r>
            <a:endParaRPr lang="en-US" sz="1300" dirty="0"/>
          </a:p>
        </p:txBody>
      </p:sp>
      <p:sp>
        <p:nvSpPr>
          <p:cNvPr id="5" name="Text 3"/>
          <p:cNvSpPr/>
          <p:nvPr/>
        </p:nvSpPr>
        <p:spPr>
          <a:xfrm>
            <a:off x="731520" y="2103120"/>
            <a:ext cx="5029200" cy="3200400"/>
          </a:xfrm>
          <a:prstGeom prst="rect">
            <a:avLst/>
          </a:prstGeom>
          <a:noFill/>
          <a:ln/>
        </p:spPr>
        <p:txBody>
          <a:bodyPr wrap="square" rtlCol="0" anchor="ctr"/>
          <a:lstStyle/>
          <a:p>
            <a:pPr indent="0" marL="0">
              <a:lnSpc>
                <a:spcPts val="1900"/>
              </a:lnSpc>
              <a:buNone/>
            </a:pPr>
            <a:r>
              <a:rPr lang="en-US" sz="1200" dirty="0">
                <a:solidFill>
                  <a:srgbClr val="444444"/>
                </a:solidFill>
                <a:latin typeface="Arial" pitchFamily="34" charset="0"/>
                <a:ea typeface="Arial" pitchFamily="34" charset="-122"/>
                <a:cs typeface="Arial" pitchFamily="34" charset="-120"/>
              </a:rPr>
              <a:t>A leisurely morning in Cuesta Serena’s gardens with the Cordillera Blanca glowing under golden dawn light. Time to reflect on the lived journey. Private 25-minute transfer to Anta Airport for the direct morning flight to Lima, connecting with international departures.</a:t>
            </a:r>
            <a:endParaRPr lang="en-US" sz="1200" dirty="0"/>
          </a:p>
        </p:txBody>
      </p:sp>
      <p:sp>
        <p:nvSpPr>
          <p:cNvPr id="6" name="Shape 4"/>
          <p:cNvSpPr/>
          <p:nvPr/>
        </p:nvSpPr>
        <p:spPr>
          <a:xfrm>
            <a:off x="6217920" y="1645920"/>
            <a:ext cx="5212080" cy="4389120"/>
          </a:xfrm>
          <a:prstGeom prst="rect">
            <a:avLst/>
          </a:prstGeom>
          <a:solidFill>
            <a:srgbClr val="18181A"/>
          </a:solidFill>
          <a:ln w="12700">
            <a:solidFill>
              <a:srgbClr val="C69255"/>
            </a:solidFill>
            <a:prstDash val="solid"/>
          </a:ln>
        </p:spPr>
      </p:sp>
      <p:sp>
        <p:nvSpPr>
          <p:cNvPr id="7" name="Text 5"/>
          <p:cNvSpPr/>
          <p:nvPr/>
        </p:nvSpPr>
        <p:spPr>
          <a:xfrm>
            <a:off x="6583680" y="1920240"/>
            <a:ext cx="4480560" cy="274320"/>
          </a:xfrm>
          <a:prstGeom prst="rect">
            <a:avLst/>
          </a:prstGeom>
          <a:noFill/>
          <a:ln/>
        </p:spPr>
        <p:txBody>
          <a:bodyPr wrap="square" rtlCol="0" anchor="ctr"/>
          <a:lstStyle/>
          <a:p>
            <a:pPr indent="0" marL="0">
              <a:buNone/>
            </a:pPr>
            <a:r>
              <a:rPr lang="en-US" sz="1000" b="1" spc="200" kern="0" dirty="0">
                <a:solidFill>
                  <a:srgbClr val="C69255"/>
                </a:solidFill>
                <a:latin typeface="Arial" pitchFamily="34" charset="0"/>
                <a:ea typeface="Arial" pitchFamily="34" charset="-122"/>
                <a:cs typeface="Arial" pitchFamily="34" charset="-120"/>
              </a:rPr>
              <a:t>OPTIONAL HIGH MOUNTAIN EXTENSION</a:t>
            </a:r>
            <a:endParaRPr lang="en-US" sz="1000" dirty="0"/>
          </a:p>
        </p:txBody>
      </p:sp>
      <p:sp>
        <p:nvSpPr>
          <p:cNvPr id="8" name="Text 6"/>
          <p:cNvSpPr/>
          <p:nvPr/>
        </p:nvSpPr>
        <p:spPr>
          <a:xfrm>
            <a:off x="6583680" y="2286000"/>
            <a:ext cx="4480560" cy="640080"/>
          </a:xfrm>
          <a:prstGeom prst="rect">
            <a:avLst/>
          </a:prstGeom>
          <a:noFill/>
          <a:ln/>
        </p:spPr>
        <p:txBody>
          <a:bodyPr wrap="square"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Aspiring to summit an 18,600-foot glacial peak?</a:t>
            </a:r>
            <a:endParaRPr lang="en-US" sz="1600" dirty="0"/>
          </a:p>
        </p:txBody>
      </p:sp>
      <p:sp>
        <p:nvSpPr>
          <p:cNvPr id="9" name="Text 7"/>
          <p:cNvSpPr/>
          <p:nvPr/>
        </p:nvSpPr>
        <p:spPr>
          <a:xfrm>
            <a:off x="6583680" y="3017520"/>
            <a:ext cx="4480560" cy="2743200"/>
          </a:xfrm>
          <a:prstGeom prst="rect">
            <a:avLst/>
          </a:prstGeom>
          <a:noFill/>
          <a:ln/>
        </p:spPr>
        <p:txBody>
          <a:bodyPr wrap="square" rtlCol="0" anchor="ctr"/>
          <a:lstStyle/>
          <a:p>
            <a:pPr indent="0" marL="0">
              <a:lnSpc>
                <a:spcPts val="1800"/>
              </a:lnSpc>
              <a:buNone/>
            </a:pPr>
            <a:r>
              <a:rPr lang="en-US" sz="1100" dirty="0">
                <a:solidFill>
                  <a:srgbClr val="CCCCCC"/>
                </a:solidFill>
                <a:latin typeface="Arial" pitchFamily="34" charset="0"/>
                <a:ea typeface="Arial" pitchFamily="34" charset="-122"/>
                <a:cs typeface="Arial" pitchFamily="34" charset="-120"/>
              </a:rPr>
              <a:t>Cordillera Blanca is South America’s premier alpine mountaineering mecca. For travelers wishing to elevate their expedition into a glacial summit experience, we offer an exclusive 2-night private extension (Days 6 to 8):</a:t>
            </a:r>
            <a:endParaRPr lang="en-US" sz="1100" dirty="0"/>
          </a:p>
          <a:p>
            <a:pPr indent="0" marL="0">
              <a:lnSpc>
                <a:spcPts val="1800"/>
              </a:lnSpc>
              <a:buNone/>
            </a:pPr>
            <a:endParaRPr lang="en-US" sz="1100" dirty="0"/>
          </a:p>
          <a:p>
            <a:pPr indent="0" marL="0">
              <a:lnSpc>
                <a:spcPts val="1800"/>
              </a:lnSpc>
              <a:buNone/>
            </a:pPr>
            <a:r>
              <a:rPr lang="en-US" sz="1100" dirty="0">
                <a:solidFill>
                  <a:srgbClr val="CCCCCC"/>
                </a:solidFill>
                <a:latin typeface="Arial" pitchFamily="34" charset="0"/>
                <a:ea typeface="Arial" pitchFamily="34" charset="-122"/>
                <a:cs typeface="Arial" pitchFamily="34" charset="-120"/>
              </a:rPr>
              <a:t>• Day 6: Transfer to Quebrada Llaca &amp; Llaca Refuge (14,665 ft). Ice school with crampons and ice axes.</a:t>
            </a:r>
            <a:endParaRPr lang="en-US" sz="1100" dirty="0"/>
          </a:p>
          <a:p>
            <a:pPr indent="0" marL="0">
              <a:lnSpc>
                <a:spcPts val="1800"/>
              </a:lnSpc>
              <a:buNone/>
            </a:pPr>
            <a:r>
              <a:rPr lang="en-US" sz="1100" dirty="0">
                <a:solidFill>
                  <a:srgbClr val="CCCCCC"/>
                </a:solidFill>
                <a:latin typeface="Arial" pitchFamily="34" charset="0"/>
                <a:ea typeface="Arial" pitchFamily="34" charset="-122"/>
                <a:cs typeface="Arial" pitchFamily="34" charset="-120"/>
              </a:rPr>
              <a:t>• Day 7: Alpine summit push on Mount Vallunaraju (18,655 ft / 5,686 m). Return to Huaraz / Cuesta Serena.</a:t>
            </a:r>
            <a:endParaRPr lang="en-US" sz="1100" dirty="0"/>
          </a:p>
          <a:p>
            <a:pPr indent="0" marL="0">
              <a:lnSpc>
                <a:spcPts val="1800"/>
              </a:lnSpc>
              <a:buNone/>
            </a:pPr>
            <a:r>
              <a:rPr lang="en-US" sz="1100" dirty="0">
                <a:solidFill>
                  <a:srgbClr val="CCCCCC"/>
                </a:solidFill>
                <a:latin typeface="Arial" pitchFamily="34" charset="0"/>
                <a:ea typeface="Arial" pitchFamily="34" charset="-122"/>
                <a:cs typeface="Arial" pitchFamily="34" charset="-120"/>
              </a:rPr>
              <a:t>• Day 8: Transfer to Anta Airport and flight to Lima.</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731520" y="457200"/>
            <a:ext cx="7315200" cy="274320"/>
          </a:xfrm>
          <a:prstGeom prst="rect">
            <a:avLst/>
          </a:prstGeom>
          <a:noFill/>
          <a:ln/>
        </p:spPr>
        <p:txBody>
          <a:bodyPr wrap="square" rtlCol="0" anchor="ctr"/>
          <a:lstStyle/>
          <a:p>
            <a:pPr indent="0" marL="0">
              <a:buNone/>
            </a:pPr>
            <a:r>
              <a:rPr lang="en-US" sz="1000" b="1" spc="300" kern="0" dirty="0">
                <a:solidFill>
                  <a:srgbClr val="C69255"/>
                </a:solidFill>
                <a:latin typeface="Arial" pitchFamily="34" charset="0"/>
                <a:ea typeface="Arial" pitchFamily="34" charset="-122"/>
                <a:cs typeface="Arial" pitchFamily="34" charset="-120"/>
              </a:rPr>
              <a:t>OPTIONAL PROGRAM (8 DAYS / 7 NIGHTS)</a:t>
            </a:r>
            <a:endParaRPr lang="en-US" sz="1000" dirty="0"/>
          </a:p>
        </p:txBody>
      </p:sp>
      <p:sp>
        <p:nvSpPr>
          <p:cNvPr id="3" name="Text 1"/>
          <p:cNvSpPr/>
          <p:nvPr/>
        </p:nvSpPr>
        <p:spPr>
          <a:xfrm>
            <a:off x="731520" y="777240"/>
            <a:ext cx="10515600" cy="7315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High Mountain Extension: Mount Vallunaraju (18,655 ft / 5,686 m)</a:t>
            </a:r>
            <a:endParaRPr lang="en-US" sz="2600" dirty="0"/>
          </a:p>
        </p:txBody>
      </p:sp>
      <p:sp>
        <p:nvSpPr>
          <p:cNvPr id="4" name="Shape 2"/>
          <p:cNvSpPr/>
          <p:nvPr/>
        </p:nvSpPr>
        <p:spPr>
          <a:xfrm>
            <a:off x="731520" y="1645920"/>
            <a:ext cx="3429000" cy="4389120"/>
          </a:xfrm>
          <a:prstGeom prst="rect">
            <a:avLst/>
          </a:prstGeom>
          <a:solidFill>
            <a:srgbClr val="1C1C1E"/>
          </a:solidFill>
          <a:ln w="12700">
            <a:solidFill>
              <a:srgbClr val="2F2F33"/>
            </a:solidFill>
            <a:prstDash val="solid"/>
          </a:ln>
        </p:spPr>
      </p:sp>
      <p:sp>
        <p:nvSpPr>
          <p:cNvPr id="5" name="Text 3"/>
          <p:cNvSpPr/>
          <p:nvPr/>
        </p:nvSpPr>
        <p:spPr>
          <a:xfrm>
            <a:off x="1005840" y="1920240"/>
            <a:ext cx="2880360" cy="274320"/>
          </a:xfrm>
          <a:prstGeom prst="rect">
            <a:avLst/>
          </a:prstGeom>
          <a:noFill/>
          <a:ln/>
        </p:spPr>
        <p:txBody>
          <a:bodyPr wrap="square" rtlCol="0" anchor="ctr"/>
          <a:lstStyle/>
          <a:p>
            <a:pPr indent="0" marL="0">
              <a:buNone/>
            </a:pPr>
            <a:r>
              <a:rPr lang="en-US" sz="900" b="1" spc="200" kern="0" dirty="0">
                <a:solidFill>
                  <a:srgbClr val="C69255"/>
                </a:solidFill>
                <a:latin typeface="Arial" pitchFamily="34" charset="0"/>
                <a:ea typeface="Arial" pitchFamily="34" charset="-122"/>
                <a:cs typeface="Arial" pitchFamily="34" charset="-120"/>
              </a:rPr>
              <a:t>DAY 6 (EXTENSION)</a:t>
            </a:r>
            <a:endParaRPr lang="en-US" sz="900" dirty="0"/>
          </a:p>
        </p:txBody>
      </p:sp>
      <p:sp>
        <p:nvSpPr>
          <p:cNvPr id="6" name="Text 4"/>
          <p:cNvSpPr/>
          <p:nvPr/>
        </p:nvSpPr>
        <p:spPr>
          <a:xfrm>
            <a:off x="1005840" y="2286000"/>
            <a:ext cx="2880360" cy="548640"/>
          </a:xfrm>
          <a:prstGeom prst="rect">
            <a:avLst/>
          </a:prstGeom>
          <a:noFill/>
          <a:ln/>
        </p:spPr>
        <p:txBody>
          <a:bodyPr wrap="square"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Quebrada Llaca &amp; Ice School</a:t>
            </a:r>
            <a:endParaRPr lang="en-US" sz="1500" dirty="0"/>
          </a:p>
        </p:txBody>
      </p:sp>
      <p:sp>
        <p:nvSpPr>
          <p:cNvPr id="7" name="Text 5"/>
          <p:cNvSpPr/>
          <p:nvPr/>
        </p:nvSpPr>
        <p:spPr>
          <a:xfrm>
            <a:off x="1005840" y="2834640"/>
            <a:ext cx="2880360" cy="274320"/>
          </a:xfrm>
          <a:prstGeom prst="rect">
            <a:avLst/>
          </a:prstGeom>
          <a:noFill/>
          <a:ln/>
        </p:spPr>
        <p:txBody>
          <a:bodyPr wrap="square" rtlCol="0" anchor="ctr"/>
          <a:lstStyle/>
          <a:p>
            <a:pPr indent="0" marL="0">
              <a:buNone/>
            </a:pPr>
            <a:r>
              <a:rPr lang="en-US" sz="1000" b="1" dirty="0">
                <a:solidFill>
                  <a:srgbClr val="3A7D8C"/>
                </a:solidFill>
                <a:latin typeface="Arial" pitchFamily="34" charset="0"/>
                <a:ea typeface="Arial" pitchFamily="34" charset="-122"/>
                <a:cs typeface="Arial" pitchFamily="34" charset="-120"/>
              </a:rPr>
              <a:t>Llaca Refuge (14,665 ft / 4,470 m)</a:t>
            </a:r>
            <a:endParaRPr lang="en-US" sz="1000" dirty="0"/>
          </a:p>
        </p:txBody>
      </p:sp>
      <p:sp>
        <p:nvSpPr>
          <p:cNvPr id="8" name="Text 6"/>
          <p:cNvSpPr/>
          <p:nvPr/>
        </p:nvSpPr>
        <p:spPr>
          <a:xfrm>
            <a:off x="1005840" y="3200400"/>
            <a:ext cx="2880360" cy="2560320"/>
          </a:xfrm>
          <a:prstGeom prst="rect">
            <a:avLst/>
          </a:prstGeom>
          <a:noFill/>
          <a:ln/>
        </p:spPr>
        <p:txBody>
          <a:bodyPr wrap="square" rtlCol="0" anchor="ctr"/>
          <a:lstStyle/>
          <a:p>
            <a:pPr indent="0" marL="0">
              <a:lnSpc>
                <a:spcPts val="1700"/>
              </a:lnSpc>
              <a:buNone/>
            </a:pPr>
            <a:r>
              <a:rPr lang="en-US" sz="1100" dirty="0">
                <a:solidFill>
                  <a:srgbClr val="8E8E93"/>
                </a:solidFill>
                <a:latin typeface="Arial" pitchFamily="34" charset="0"/>
                <a:ea typeface="Arial" pitchFamily="34" charset="-122"/>
                <a:cs typeface="Arial" pitchFamily="34" charset="-120"/>
              </a:rPr>
              <a:t>4x4 transfer into rugged Quebrada Llaca. Afternoon technical glacier instruction with UIAGM mountain guides: crampon footwork, ice-axe self-arrest, rope teams, and fine acclimatization. Dinner and early alpine rest.</a:t>
            </a:r>
            <a:endParaRPr lang="en-US" sz="1100" dirty="0"/>
          </a:p>
        </p:txBody>
      </p:sp>
      <p:sp>
        <p:nvSpPr>
          <p:cNvPr id="9" name="Shape 7"/>
          <p:cNvSpPr/>
          <p:nvPr/>
        </p:nvSpPr>
        <p:spPr>
          <a:xfrm>
            <a:off x="4343400" y="1645920"/>
            <a:ext cx="3429000" cy="4389120"/>
          </a:xfrm>
          <a:prstGeom prst="rect">
            <a:avLst/>
          </a:prstGeom>
          <a:solidFill>
            <a:srgbClr val="1C1C1E"/>
          </a:solidFill>
          <a:ln w="12700">
            <a:solidFill>
              <a:srgbClr val="2F2F33"/>
            </a:solidFill>
            <a:prstDash val="solid"/>
          </a:ln>
        </p:spPr>
      </p:sp>
      <p:sp>
        <p:nvSpPr>
          <p:cNvPr id="10" name="Text 8"/>
          <p:cNvSpPr/>
          <p:nvPr/>
        </p:nvSpPr>
        <p:spPr>
          <a:xfrm>
            <a:off x="4617720" y="1920240"/>
            <a:ext cx="2880360" cy="274320"/>
          </a:xfrm>
          <a:prstGeom prst="rect">
            <a:avLst/>
          </a:prstGeom>
          <a:noFill/>
          <a:ln/>
        </p:spPr>
        <p:txBody>
          <a:bodyPr wrap="square" rtlCol="0" anchor="ctr"/>
          <a:lstStyle/>
          <a:p>
            <a:pPr indent="0" marL="0">
              <a:buNone/>
            </a:pPr>
            <a:r>
              <a:rPr lang="en-US" sz="900" b="1" spc="200" kern="0" dirty="0">
                <a:solidFill>
                  <a:srgbClr val="C69255"/>
                </a:solidFill>
                <a:latin typeface="Arial" pitchFamily="34" charset="0"/>
                <a:ea typeface="Arial" pitchFamily="34" charset="-122"/>
                <a:cs typeface="Arial" pitchFamily="34" charset="-120"/>
              </a:rPr>
              <a:t>DAY 7 (EXTENSION)</a:t>
            </a:r>
            <a:endParaRPr lang="en-US" sz="900" dirty="0"/>
          </a:p>
        </p:txBody>
      </p:sp>
      <p:sp>
        <p:nvSpPr>
          <p:cNvPr id="11" name="Text 9"/>
          <p:cNvSpPr/>
          <p:nvPr/>
        </p:nvSpPr>
        <p:spPr>
          <a:xfrm>
            <a:off x="4617720" y="2286000"/>
            <a:ext cx="2880360" cy="548640"/>
          </a:xfrm>
          <a:prstGeom prst="rect">
            <a:avLst/>
          </a:prstGeom>
          <a:noFill/>
          <a:ln/>
        </p:spPr>
        <p:txBody>
          <a:bodyPr wrap="square"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Summit Push: Mount Vallunaraju</a:t>
            </a:r>
            <a:endParaRPr lang="en-US" sz="1500" dirty="0"/>
          </a:p>
        </p:txBody>
      </p:sp>
      <p:sp>
        <p:nvSpPr>
          <p:cNvPr id="12" name="Text 10"/>
          <p:cNvSpPr/>
          <p:nvPr/>
        </p:nvSpPr>
        <p:spPr>
          <a:xfrm>
            <a:off x="4617720" y="2834640"/>
            <a:ext cx="2880360" cy="274320"/>
          </a:xfrm>
          <a:prstGeom prst="rect">
            <a:avLst/>
          </a:prstGeom>
          <a:noFill/>
          <a:ln/>
        </p:spPr>
        <p:txBody>
          <a:bodyPr wrap="square" rtlCol="0" anchor="ctr"/>
          <a:lstStyle/>
          <a:p>
            <a:pPr indent="0" marL="0">
              <a:buNone/>
            </a:pPr>
            <a:r>
              <a:rPr lang="en-US" sz="1000" b="1" dirty="0">
                <a:solidFill>
                  <a:srgbClr val="3A7D8C"/>
                </a:solidFill>
                <a:latin typeface="Arial" pitchFamily="34" charset="0"/>
                <a:ea typeface="Arial" pitchFamily="34" charset="-122"/>
                <a:cs typeface="Arial" pitchFamily="34" charset="-120"/>
              </a:rPr>
              <a:t>Summit at 18,655 ft / 5,686 m</a:t>
            </a:r>
            <a:endParaRPr lang="en-US" sz="1000" dirty="0"/>
          </a:p>
        </p:txBody>
      </p:sp>
      <p:sp>
        <p:nvSpPr>
          <p:cNvPr id="13" name="Text 11"/>
          <p:cNvSpPr/>
          <p:nvPr/>
        </p:nvSpPr>
        <p:spPr>
          <a:xfrm>
            <a:off x="4617720" y="3200400"/>
            <a:ext cx="2880360" cy="2560320"/>
          </a:xfrm>
          <a:prstGeom prst="rect">
            <a:avLst/>
          </a:prstGeom>
          <a:noFill/>
          <a:ln/>
        </p:spPr>
        <p:txBody>
          <a:bodyPr wrap="square" rtlCol="0" anchor="ctr"/>
          <a:lstStyle/>
          <a:p>
            <a:pPr indent="0" marL="0">
              <a:lnSpc>
                <a:spcPts val="1700"/>
              </a:lnSpc>
              <a:buNone/>
            </a:pPr>
            <a:r>
              <a:rPr lang="en-US" sz="1100" dirty="0">
                <a:solidFill>
                  <a:srgbClr val="8E8E93"/>
                </a:solidFill>
                <a:latin typeface="Arial" pitchFamily="34" charset="0"/>
                <a:ea typeface="Arial" pitchFamily="34" charset="-122"/>
                <a:cs typeface="Arial" pitchFamily="34" charset="-120"/>
              </a:rPr>
              <a:t>Alpine start at 02:00 AM under star-studded skies. Continuous ascent along snow slopes and seracs (35°-45°) to gain the razor-sharp South Summit. Sweeping vistas of Huascarán, Ranrapalca, and Ocshapalca. Descent to Huaraz.</a:t>
            </a:r>
            <a:endParaRPr lang="en-US" sz="1100" dirty="0"/>
          </a:p>
        </p:txBody>
      </p:sp>
      <p:sp>
        <p:nvSpPr>
          <p:cNvPr id="14" name="Shape 12"/>
          <p:cNvSpPr/>
          <p:nvPr/>
        </p:nvSpPr>
        <p:spPr>
          <a:xfrm>
            <a:off x="7955280" y="1645920"/>
            <a:ext cx="3429000" cy="4389120"/>
          </a:xfrm>
          <a:prstGeom prst="rect">
            <a:avLst/>
          </a:prstGeom>
          <a:solidFill>
            <a:srgbClr val="1C1C1E"/>
          </a:solidFill>
          <a:ln w="12700">
            <a:solidFill>
              <a:srgbClr val="2F2F33"/>
            </a:solidFill>
            <a:prstDash val="solid"/>
          </a:ln>
        </p:spPr>
      </p:sp>
      <p:sp>
        <p:nvSpPr>
          <p:cNvPr id="15" name="Text 13"/>
          <p:cNvSpPr/>
          <p:nvPr/>
        </p:nvSpPr>
        <p:spPr>
          <a:xfrm>
            <a:off x="8229600" y="1920240"/>
            <a:ext cx="2880360" cy="274320"/>
          </a:xfrm>
          <a:prstGeom prst="rect">
            <a:avLst/>
          </a:prstGeom>
          <a:noFill/>
          <a:ln/>
        </p:spPr>
        <p:txBody>
          <a:bodyPr wrap="square" rtlCol="0" anchor="ctr"/>
          <a:lstStyle/>
          <a:p>
            <a:pPr indent="0" marL="0">
              <a:buNone/>
            </a:pPr>
            <a:r>
              <a:rPr lang="en-US" sz="900" b="1" spc="200" kern="0" dirty="0">
                <a:solidFill>
                  <a:srgbClr val="C69255"/>
                </a:solidFill>
                <a:latin typeface="Arial" pitchFamily="34" charset="0"/>
                <a:ea typeface="Arial" pitchFamily="34" charset="-122"/>
                <a:cs typeface="Arial" pitchFamily="34" charset="-120"/>
              </a:rPr>
              <a:t>DAY 8 (EXTENSION)</a:t>
            </a:r>
            <a:endParaRPr lang="en-US" sz="900" dirty="0"/>
          </a:p>
        </p:txBody>
      </p:sp>
      <p:sp>
        <p:nvSpPr>
          <p:cNvPr id="16" name="Text 14"/>
          <p:cNvSpPr/>
          <p:nvPr/>
        </p:nvSpPr>
        <p:spPr>
          <a:xfrm>
            <a:off x="8229600" y="2286000"/>
            <a:ext cx="2880360" cy="548640"/>
          </a:xfrm>
          <a:prstGeom prst="rect">
            <a:avLst/>
          </a:prstGeom>
          <a:noFill/>
          <a:ln/>
        </p:spPr>
        <p:txBody>
          <a:bodyPr wrap="square"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Summit Celebration &amp; Flight Out</a:t>
            </a:r>
            <a:endParaRPr lang="en-US" sz="1500" dirty="0"/>
          </a:p>
        </p:txBody>
      </p:sp>
      <p:sp>
        <p:nvSpPr>
          <p:cNvPr id="17" name="Text 15"/>
          <p:cNvSpPr/>
          <p:nvPr/>
        </p:nvSpPr>
        <p:spPr>
          <a:xfrm>
            <a:off x="8229600" y="2834640"/>
            <a:ext cx="2880360" cy="274320"/>
          </a:xfrm>
          <a:prstGeom prst="rect">
            <a:avLst/>
          </a:prstGeom>
          <a:noFill/>
          <a:ln/>
        </p:spPr>
        <p:txBody>
          <a:bodyPr wrap="square" rtlCol="0" anchor="ctr"/>
          <a:lstStyle/>
          <a:p>
            <a:pPr indent="0" marL="0">
              <a:buNone/>
            </a:pPr>
            <a:r>
              <a:rPr lang="en-US" sz="1000" b="1" dirty="0">
                <a:solidFill>
                  <a:srgbClr val="3A7D8C"/>
                </a:solidFill>
                <a:latin typeface="Arial" pitchFamily="34" charset="0"/>
                <a:ea typeface="Arial" pitchFamily="34" charset="-122"/>
                <a:cs typeface="Arial" pitchFamily="34" charset="-120"/>
              </a:rPr>
              <a:t>Anta -&gt; Lima</a:t>
            </a:r>
            <a:endParaRPr lang="en-US" sz="1000" dirty="0"/>
          </a:p>
        </p:txBody>
      </p:sp>
      <p:sp>
        <p:nvSpPr>
          <p:cNvPr id="18" name="Text 16"/>
          <p:cNvSpPr/>
          <p:nvPr/>
        </p:nvSpPr>
        <p:spPr>
          <a:xfrm>
            <a:off x="8229600" y="3200400"/>
            <a:ext cx="2880360" cy="2560320"/>
          </a:xfrm>
          <a:prstGeom prst="rect">
            <a:avLst/>
          </a:prstGeom>
          <a:noFill/>
          <a:ln/>
        </p:spPr>
        <p:txBody>
          <a:bodyPr wrap="square" rtlCol="0" anchor="ctr"/>
          <a:lstStyle/>
          <a:p>
            <a:pPr indent="0" marL="0">
              <a:lnSpc>
                <a:spcPts val="1700"/>
              </a:lnSpc>
              <a:buNone/>
            </a:pPr>
            <a:r>
              <a:rPr lang="en-US" sz="1100" dirty="0">
                <a:solidFill>
                  <a:srgbClr val="8E8E93"/>
                </a:solidFill>
                <a:latin typeface="Arial" pitchFamily="34" charset="0"/>
                <a:ea typeface="Arial" pitchFamily="34" charset="-122"/>
                <a:cs typeface="Arial" pitchFamily="34" charset="-120"/>
              </a:rPr>
              <a:t>Mountain celebratory breakfast. Transfer to Anta Airport and panoramic flight across the Andes back to Lima, carrying the indelible memory of touching the tropical alpine sky.</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2ED"/>
        </a:solidFill>
      </p:bgPr>
    </p:bg>
    <p:spTree>
      <p:nvGrpSpPr>
        <p:cNvPr id="1" name=""/>
        <p:cNvGrpSpPr/>
        <p:nvPr/>
      </p:nvGrpSpPr>
      <p:grpSpPr>
        <a:xfrm>
          <a:off x="0" y="0"/>
          <a:ext cx="0" cy="0"/>
          <a:chOff x="0" y="0"/>
          <a:chExt cx="0" cy="0"/>
        </a:xfrm>
      </p:grpSpPr>
      <p:sp>
        <p:nvSpPr>
          <p:cNvPr id="2" name="Text 0"/>
          <p:cNvSpPr/>
          <p:nvPr/>
        </p:nvSpPr>
        <p:spPr>
          <a:xfrm>
            <a:off x="731520" y="457200"/>
            <a:ext cx="7315200" cy="274320"/>
          </a:xfrm>
          <a:prstGeom prst="rect">
            <a:avLst/>
          </a:prstGeom>
          <a:noFill/>
          <a:ln/>
        </p:spPr>
        <p:txBody>
          <a:bodyPr wrap="square" rtlCol="0" anchor="ctr"/>
          <a:lstStyle/>
          <a:p>
            <a:pPr indent="0" marL="0">
              <a:buNone/>
            </a:pPr>
            <a:r>
              <a:rPr lang="en-US" sz="1000" b="1" spc="300" kern="0" dirty="0">
                <a:solidFill>
                  <a:srgbClr val="666666"/>
                </a:solidFill>
                <a:latin typeface="Arial" pitchFamily="34" charset="0"/>
                <a:ea typeface="Arial" pitchFamily="34" charset="-122"/>
                <a:cs typeface="Arial" pitchFamily="34" charset="-120"/>
              </a:rPr>
              <a:t>CURATED MOUNTAIN LODGES</a:t>
            </a:r>
            <a:endParaRPr lang="en-US" sz="1000" dirty="0"/>
          </a:p>
        </p:txBody>
      </p:sp>
      <p:sp>
        <p:nvSpPr>
          <p:cNvPr id="3" name="Text 1"/>
          <p:cNvSpPr/>
          <p:nvPr/>
        </p:nvSpPr>
        <p:spPr>
          <a:xfrm>
            <a:off x="731520" y="777240"/>
            <a:ext cx="10515600" cy="731520"/>
          </a:xfrm>
          <a:prstGeom prst="rect">
            <a:avLst/>
          </a:prstGeom>
          <a:noFill/>
          <a:ln/>
        </p:spPr>
        <p:txBody>
          <a:bodyPr wrap="square" rtlCol="0" anchor="ctr"/>
          <a:lstStyle/>
          <a:p>
            <a:pPr indent="0" marL="0">
              <a:buNone/>
            </a:pPr>
            <a:r>
              <a:rPr lang="en-US" sz="2600" b="1" dirty="0">
                <a:solidFill>
                  <a:srgbClr val="111111"/>
                </a:solidFill>
                <a:latin typeface="Georgia" pitchFamily="34" charset="0"/>
                <a:ea typeface="Georgia" pitchFamily="34" charset="-122"/>
                <a:cs typeface="Georgia" pitchFamily="34" charset="-120"/>
              </a:rPr>
              <a:t>Base Camps: The Luxury of the Essential</a:t>
            </a:r>
            <a:endParaRPr lang="en-US" sz="2600" dirty="0"/>
          </a:p>
        </p:txBody>
      </p:sp>
      <p:sp>
        <p:nvSpPr>
          <p:cNvPr id="4" name="Text 2"/>
          <p:cNvSpPr/>
          <p:nvPr/>
        </p:nvSpPr>
        <p:spPr>
          <a:xfrm>
            <a:off x="731520" y="1051560"/>
            <a:ext cx="10515600" cy="411480"/>
          </a:xfrm>
          <a:prstGeom prst="rect">
            <a:avLst/>
          </a:prstGeom>
          <a:noFill/>
          <a:ln/>
        </p:spPr>
        <p:txBody>
          <a:bodyPr wrap="square" rtlCol="0" anchor="ctr"/>
          <a:lstStyle/>
          <a:p>
            <a:pPr indent="0" marL="0">
              <a:buNone/>
            </a:pPr>
            <a:r>
              <a:rPr lang="en-US" sz="1150" dirty="0">
                <a:solidFill>
                  <a:srgbClr val="555555"/>
                </a:solidFill>
                <a:latin typeface="Arial" pitchFamily="34" charset="0"/>
                <a:ea typeface="Arial" pitchFamily="34" charset="-122"/>
                <a:cs typeface="Arial" pitchFamily="34" charset="-120"/>
              </a:rPr>
              <a:t>Explora’s lodging philosophy embraces "the luxury of the essential": intimate, character-filled mountain properties serving as strategic sanctuaries for restorative sleep, altitude oxygenation, and territorial immersion.</a:t>
            </a:r>
            <a:endParaRPr lang="en-US" sz="1150" dirty="0"/>
          </a:p>
        </p:txBody>
      </p:sp>
      <p:sp>
        <p:nvSpPr>
          <p:cNvPr id="5" name="Shape 3"/>
          <p:cNvSpPr/>
          <p:nvPr/>
        </p:nvSpPr>
        <p:spPr>
          <a:xfrm>
            <a:off x="731520" y="1508760"/>
            <a:ext cx="3429000" cy="4023360"/>
          </a:xfrm>
          <a:prstGeom prst="rect">
            <a:avLst/>
          </a:prstGeom>
          <a:solidFill>
            <a:srgbClr val="FFFFFF"/>
          </a:solidFill>
          <a:ln w="12700">
            <a:solidFill>
              <a:srgbClr val="DDD9CF"/>
            </a:solidFill>
            <a:prstDash val="solid"/>
          </a:ln>
        </p:spPr>
      </p:sp>
      <p:sp>
        <p:nvSpPr>
          <p:cNvPr id="6" name="Text 4"/>
          <p:cNvSpPr/>
          <p:nvPr/>
        </p:nvSpPr>
        <p:spPr>
          <a:xfrm>
            <a:off x="1005840" y="1691640"/>
            <a:ext cx="2880360" cy="228600"/>
          </a:xfrm>
          <a:prstGeom prst="rect">
            <a:avLst/>
          </a:prstGeom>
          <a:noFill/>
          <a:ln/>
        </p:spPr>
        <p:txBody>
          <a:bodyPr wrap="square" rtlCol="0" anchor="ctr"/>
          <a:lstStyle/>
          <a:p>
            <a:pPr indent="0" marL="0">
              <a:buNone/>
            </a:pPr>
            <a:r>
              <a:rPr lang="en-US" sz="900" b="1" spc="200" kern="0" dirty="0">
                <a:solidFill>
                  <a:srgbClr val="C69255"/>
                </a:solidFill>
                <a:latin typeface="Arial" pitchFamily="34" charset="0"/>
                <a:ea typeface="Arial" pitchFamily="34" charset="-122"/>
                <a:cs typeface="Arial" pitchFamily="34" charset="-120"/>
              </a:rPr>
              <a:t>NIGHTS 1 &amp; 2</a:t>
            </a:r>
            <a:endParaRPr lang="en-US" sz="900" dirty="0"/>
          </a:p>
        </p:txBody>
      </p:sp>
      <p:sp>
        <p:nvSpPr>
          <p:cNvPr id="7" name="Text 5"/>
          <p:cNvSpPr/>
          <p:nvPr/>
        </p:nvSpPr>
        <p:spPr>
          <a:xfrm>
            <a:off x="1005840" y="1965960"/>
            <a:ext cx="2880360" cy="411480"/>
          </a:xfrm>
          <a:prstGeom prst="rect">
            <a:avLst/>
          </a:prstGeom>
          <a:noFill/>
          <a:ln/>
        </p:spPr>
        <p:txBody>
          <a:bodyPr wrap="square" rtlCol="0" anchor="ctr"/>
          <a:lstStyle/>
          <a:p>
            <a:pPr indent="0" marL="0">
              <a:buNone/>
            </a:pPr>
            <a:r>
              <a:rPr lang="en-US" sz="1500" b="1" dirty="0">
                <a:solidFill>
                  <a:srgbClr val="111111"/>
                </a:solidFill>
                <a:latin typeface="Georgia" pitchFamily="34" charset="0"/>
                <a:ea typeface="Georgia" pitchFamily="34" charset="-122"/>
                <a:cs typeface="Georgia" pitchFamily="34" charset="-120"/>
              </a:rPr>
              <a:t>Santa Cruz Lodge</a:t>
            </a:r>
            <a:endParaRPr lang="en-US" sz="1500" dirty="0"/>
          </a:p>
        </p:txBody>
      </p:sp>
      <p:sp>
        <p:nvSpPr>
          <p:cNvPr id="8" name="Text 6"/>
          <p:cNvSpPr/>
          <p:nvPr/>
        </p:nvSpPr>
        <p:spPr>
          <a:xfrm>
            <a:off x="1005840" y="2423160"/>
            <a:ext cx="2880360" cy="228600"/>
          </a:xfrm>
          <a:prstGeom prst="rect">
            <a:avLst/>
          </a:prstGeom>
          <a:noFill/>
          <a:ln/>
        </p:spPr>
        <p:txBody>
          <a:bodyPr wrap="square" rtlCol="0" anchor="ctr"/>
          <a:lstStyle/>
          <a:p>
            <a:pPr indent="0" marL="0">
              <a:buNone/>
            </a:pPr>
            <a:r>
              <a:rPr lang="en-US" sz="950" b="1" dirty="0">
                <a:solidFill>
                  <a:srgbClr val="666666"/>
                </a:solidFill>
                <a:latin typeface="Arial" pitchFamily="34" charset="0"/>
                <a:ea typeface="Arial" pitchFamily="34" charset="-122"/>
                <a:cs typeface="Arial" pitchFamily="34" charset="-120"/>
              </a:rPr>
              <a:t>Caraz • 7,380 ft / 2,250 m</a:t>
            </a:r>
            <a:endParaRPr lang="en-US" sz="950" dirty="0"/>
          </a:p>
        </p:txBody>
      </p:sp>
      <p:sp>
        <p:nvSpPr>
          <p:cNvPr id="9" name="Text 7"/>
          <p:cNvSpPr/>
          <p:nvPr/>
        </p:nvSpPr>
        <p:spPr>
          <a:xfrm>
            <a:off x="1005840" y="2697480"/>
            <a:ext cx="2880360" cy="411480"/>
          </a:xfrm>
          <a:prstGeom prst="rect">
            <a:avLst/>
          </a:prstGeom>
          <a:noFill/>
          <a:ln/>
        </p:spPr>
        <p:txBody>
          <a:bodyPr wrap="square" rtlCol="0" anchor="ctr"/>
          <a:lstStyle/>
          <a:p>
            <a:pPr indent="0" marL="0">
              <a:buNone/>
            </a:pPr>
            <a:r>
              <a:rPr lang="en-US" sz="1000" b="1" i="1" dirty="0">
                <a:solidFill>
                  <a:srgbClr val="111111"/>
                </a:solidFill>
                <a:latin typeface="Arial" pitchFamily="34" charset="0"/>
                <a:ea typeface="Arial" pitchFamily="34" charset="-122"/>
                <a:cs typeface="Arial" pitchFamily="34" charset="-120"/>
              </a:rPr>
              <a:t>Organic Valley Cradle &amp; Acclimatization Oasis</a:t>
            </a:r>
            <a:endParaRPr lang="en-US" sz="1000" dirty="0"/>
          </a:p>
        </p:txBody>
      </p:sp>
      <p:sp>
        <p:nvSpPr>
          <p:cNvPr id="10" name="Text 8"/>
          <p:cNvSpPr/>
          <p:nvPr/>
        </p:nvSpPr>
        <p:spPr>
          <a:xfrm>
            <a:off x="1005840" y="3154680"/>
            <a:ext cx="2880360" cy="2240280"/>
          </a:xfrm>
          <a:prstGeom prst="rect">
            <a:avLst/>
          </a:prstGeom>
          <a:noFill/>
          <a:ln/>
        </p:spPr>
        <p:txBody>
          <a:bodyPr wrap="square" rtlCol="0" anchor="ctr"/>
          <a:lstStyle/>
          <a:p>
            <a:pPr indent="0" marL="0">
              <a:lnSpc>
                <a:spcPts val="1600"/>
              </a:lnSpc>
              <a:buNone/>
            </a:pPr>
            <a:r>
              <a:rPr lang="en-US" sz="1050" dirty="0">
                <a:solidFill>
                  <a:srgbClr val="444444"/>
                </a:solidFill>
                <a:latin typeface="Arial" pitchFamily="34" charset="0"/>
                <a:ea typeface="Arial" pitchFamily="34" charset="-122"/>
                <a:cs typeface="Arial" pitchFamily="34" charset="-120"/>
              </a:rPr>
              <a:t>• Historic Andean country estate set amidst fruit orchards and gardens.</a:t>
            </a:r>
            <a:endParaRPr lang="en-US" sz="1050" dirty="0"/>
          </a:p>
          <a:p>
            <a:pPr indent="0" marL="0">
              <a:lnSpc>
                <a:spcPts val="1600"/>
              </a:lnSpc>
              <a:buNone/>
            </a:pPr>
            <a:r>
              <a:rPr lang="en-US" sz="1050" dirty="0">
                <a:solidFill>
                  <a:srgbClr val="444444"/>
                </a:solidFill>
                <a:latin typeface="Arial" pitchFamily="34" charset="0"/>
                <a:ea typeface="Arial" pitchFamily="34" charset="-122"/>
                <a:cs typeface="Arial" pitchFamily="34" charset="-120"/>
              </a:rPr>
              <a:t>• Sheltered valley microclimate for low-altitude oxygenation and deep sleep.</a:t>
            </a:r>
            <a:endParaRPr lang="en-US" sz="1050" dirty="0"/>
          </a:p>
          <a:p>
            <a:pPr indent="0" marL="0">
              <a:lnSpc>
                <a:spcPts val="1600"/>
              </a:lnSpc>
              <a:buNone/>
            </a:pPr>
            <a:r>
              <a:rPr lang="en-US" sz="1050" dirty="0">
                <a:solidFill>
                  <a:srgbClr val="444444"/>
                </a:solidFill>
                <a:latin typeface="Arial" pitchFamily="34" charset="0"/>
                <a:ea typeface="Arial" pitchFamily="34" charset="-122"/>
                <a:cs typeface="Arial" pitchFamily="34" charset="-120"/>
              </a:rPr>
              <a:t>• Organic farm-to-table cuisine picked fresh from the lodge huerta.</a:t>
            </a:r>
            <a:endParaRPr lang="en-US" sz="1050" dirty="0"/>
          </a:p>
          <a:p>
            <a:pPr indent="0" marL="0">
              <a:lnSpc>
                <a:spcPts val="1600"/>
              </a:lnSpc>
              <a:buNone/>
            </a:pPr>
            <a:r>
              <a:rPr lang="en-US" sz="1050" dirty="0">
                <a:solidFill>
                  <a:srgbClr val="444444"/>
                </a:solidFill>
                <a:latin typeface="Arial" pitchFamily="34" charset="0"/>
                <a:ea typeface="Arial" pitchFamily="34" charset="-122"/>
                <a:cs typeface="Arial" pitchFamily="34" charset="-120"/>
              </a:rPr>
              <a:t>• Warm fireside storytelling honoring the mountain Apus.</a:t>
            </a:r>
            <a:endParaRPr lang="en-US" sz="1050" dirty="0"/>
          </a:p>
        </p:txBody>
      </p:sp>
      <p:sp>
        <p:nvSpPr>
          <p:cNvPr id="11" name="Shape 9"/>
          <p:cNvSpPr/>
          <p:nvPr/>
        </p:nvSpPr>
        <p:spPr>
          <a:xfrm>
            <a:off x="4343400" y="1508760"/>
            <a:ext cx="3429000" cy="4023360"/>
          </a:xfrm>
          <a:prstGeom prst="rect">
            <a:avLst/>
          </a:prstGeom>
          <a:solidFill>
            <a:srgbClr val="FFFFFF"/>
          </a:solidFill>
          <a:ln w="12700">
            <a:solidFill>
              <a:srgbClr val="DDD9CF"/>
            </a:solidFill>
            <a:prstDash val="solid"/>
          </a:ln>
        </p:spPr>
      </p:sp>
      <p:sp>
        <p:nvSpPr>
          <p:cNvPr id="12" name="Text 10"/>
          <p:cNvSpPr/>
          <p:nvPr/>
        </p:nvSpPr>
        <p:spPr>
          <a:xfrm>
            <a:off x="4617720" y="1691640"/>
            <a:ext cx="2880360" cy="228600"/>
          </a:xfrm>
          <a:prstGeom prst="rect">
            <a:avLst/>
          </a:prstGeom>
          <a:noFill/>
          <a:ln/>
        </p:spPr>
        <p:txBody>
          <a:bodyPr wrap="square" rtlCol="0" anchor="ctr"/>
          <a:lstStyle/>
          <a:p>
            <a:pPr indent="0" marL="0">
              <a:buNone/>
            </a:pPr>
            <a:r>
              <a:rPr lang="en-US" sz="900" b="1" spc="200" kern="0" dirty="0">
                <a:solidFill>
                  <a:srgbClr val="C69255"/>
                </a:solidFill>
                <a:latin typeface="Arial" pitchFamily="34" charset="0"/>
                <a:ea typeface="Arial" pitchFamily="34" charset="-122"/>
                <a:cs typeface="Arial" pitchFamily="34" charset="-120"/>
              </a:rPr>
              <a:t>NIGHTS 3 &amp; 4</a:t>
            </a:r>
            <a:endParaRPr lang="en-US" sz="900" dirty="0"/>
          </a:p>
        </p:txBody>
      </p:sp>
      <p:sp>
        <p:nvSpPr>
          <p:cNvPr id="13" name="Text 11"/>
          <p:cNvSpPr/>
          <p:nvPr/>
        </p:nvSpPr>
        <p:spPr>
          <a:xfrm>
            <a:off x="4617720" y="1965960"/>
            <a:ext cx="2880360" cy="411480"/>
          </a:xfrm>
          <a:prstGeom prst="rect">
            <a:avLst/>
          </a:prstGeom>
          <a:noFill/>
          <a:ln/>
        </p:spPr>
        <p:txBody>
          <a:bodyPr wrap="square" rtlCol="0" anchor="ctr"/>
          <a:lstStyle/>
          <a:p>
            <a:pPr indent="0" marL="0">
              <a:buNone/>
            </a:pPr>
            <a:r>
              <a:rPr lang="en-US" sz="1500" b="1" dirty="0">
                <a:solidFill>
                  <a:srgbClr val="111111"/>
                </a:solidFill>
                <a:latin typeface="Georgia" pitchFamily="34" charset="0"/>
                <a:ea typeface="Georgia" pitchFamily="34" charset="-122"/>
                <a:cs typeface="Georgia" pitchFamily="34" charset="-120"/>
              </a:rPr>
              <a:t>Wayarumi Eco-Lodge</a:t>
            </a:r>
            <a:endParaRPr lang="en-US" sz="1500" dirty="0"/>
          </a:p>
        </p:txBody>
      </p:sp>
      <p:sp>
        <p:nvSpPr>
          <p:cNvPr id="14" name="Text 12"/>
          <p:cNvSpPr/>
          <p:nvPr/>
        </p:nvSpPr>
        <p:spPr>
          <a:xfrm>
            <a:off x="4617720" y="2423160"/>
            <a:ext cx="2880360" cy="228600"/>
          </a:xfrm>
          <a:prstGeom prst="rect">
            <a:avLst/>
          </a:prstGeom>
          <a:noFill/>
          <a:ln/>
        </p:spPr>
        <p:txBody>
          <a:bodyPr wrap="square" rtlCol="0" anchor="ctr"/>
          <a:lstStyle/>
          <a:p>
            <a:pPr indent="0" marL="0">
              <a:buNone/>
            </a:pPr>
            <a:r>
              <a:rPr lang="en-US" sz="950" b="1" dirty="0">
                <a:solidFill>
                  <a:srgbClr val="666666"/>
                </a:solidFill>
                <a:latin typeface="Arial" pitchFamily="34" charset="0"/>
                <a:ea typeface="Arial" pitchFamily="34" charset="-122"/>
                <a:cs typeface="Arial" pitchFamily="34" charset="-120"/>
              </a:rPr>
              <a:t>Yungay / Mancos • 8,200 ft / 2,500 m</a:t>
            </a:r>
            <a:endParaRPr lang="en-US" sz="950" dirty="0"/>
          </a:p>
        </p:txBody>
      </p:sp>
      <p:sp>
        <p:nvSpPr>
          <p:cNvPr id="15" name="Text 13"/>
          <p:cNvSpPr/>
          <p:nvPr/>
        </p:nvSpPr>
        <p:spPr>
          <a:xfrm>
            <a:off x="4617720" y="2697480"/>
            <a:ext cx="2880360" cy="411480"/>
          </a:xfrm>
          <a:prstGeom prst="rect">
            <a:avLst/>
          </a:prstGeom>
          <a:noFill/>
          <a:ln/>
        </p:spPr>
        <p:txBody>
          <a:bodyPr wrap="square" rtlCol="0" anchor="ctr"/>
          <a:lstStyle/>
          <a:p>
            <a:pPr indent="0" marL="0">
              <a:buNone/>
            </a:pPr>
            <a:r>
              <a:rPr lang="en-US" sz="1000" b="1" i="1" dirty="0">
                <a:solidFill>
                  <a:srgbClr val="111111"/>
                </a:solidFill>
                <a:latin typeface="Arial" pitchFamily="34" charset="0"/>
                <a:ea typeface="Arial" pitchFamily="34" charset="-122"/>
                <a:cs typeface="Arial" pitchFamily="34" charset="-120"/>
              </a:rPr>
              <a:t>Front-Row Glacier Sanctuary at Huascarán</a:t>
            </a:r>
            <a:endParaRPr lang="en-US" sz="1000" dirty="0"/>
          </a:p>
        </p:txBody>
      </p:sp>
      <p:sp>
        <p:nvSpPr>
          <p:cNvPr id="16" name="Text 14"/>
          <p:cNvSpPr/>
          <p:nvPr/>
        </p:nvSpPr>
        <p:spPr>
          <a:xfrm>
            <a:off x="4617720" y="3154680"/>
            <a:ext cx="2880360" cy="2240280"/>
          </a:xfrm>
          <a:prstGeom prst="rect">
            <a:avLst/>
          </a:prstGeom>
          <a:noFill/>
          <a:ln/>
        </p:spPr>
        <p:txBody>
          <a:bodyPr wrap="square" rtlCol="0" anchor="ctr"/>
          <a:lstStyle/>
          <a:p>
            <a:pPr indent="0" marL="0">
              <a:lnSpc>
                <a:spcPts val="1600"/>
              </a:lnSpc>
              <a:buNone/>
            </a:pPr>
            <a:r>
              <a:rPr lang="en-US" sz="1050" dirty="0">
                <a:solidFill>
                  <a:srgbClr val="444444"/>
                </a:solidFill>
                <a:latin typeface="Arial" pitchFamily="34" charset="0"/>
                <a:ea typeface="Arial" pitchFamily="34" charset="-122"/>
                <a:cs typeface="Arial" pitchFamily="34" charset="-120"/>
              </a:rPr>
              <a:t>• Positioned directly opposite the colossal western face of Mount Huascarán.</a:t>
            </a:r>
            <a:endParaRPr lang="en-US" sz="1050" dirty="0"/>
          </a:p>
          <a:p>
            <a:pPr indent="0" marL="0">
              <a:lnSpc>
                <a:spcPts val="1600"/>
              </a:lnSpc>
              <a:buNone/>
            </a:pPr>
            <a:r>
              <a:rPr lang="en-US" sz="1050" dirty="0">
                <a:solidFill>
                  <a:srgbClr val="444444"/>
                </a:solidFill>
                <a:latin typeface="Arial" pitchFamily="34" charset="0"/>
                <a:ea typeface="Arial" pitchFamily="34" charset="-122"/>
                <a:cs typeface="Arial" pitchFamily="34" charset="-120"/>
              </a:rPr>
              <a:t>• Vernacular architecture in river stone, sun-dried adobe, and native beams.</a:t>
            </a:r>
            <a:endParaRPr lang="en-US" sz="1050" dirty="0"/>
          </a:p>
          <a:p>
            <a:pPr indent="0" marL="0">
              <a:lnSpc>
                <a:spcPts val="1600"/>
              </a:lnSpc>
              <a:buNone/>
            </a:pPr>
            <a:r>
              <a:rPr lang="en-US" sz="1050" dirty="0">
                <a:solidFill>
                  <a:srgbClr val="444444"/>
                </a:solidFill>
                <a:latin typeface="Arial" pitchFamily="34" charset="0"/>
                <a:ea typeface="Arial" pitchFamily="34" charset="-122"/>
                <a:cs typeface="Arial" pitchFamily="34" charset="-120"/>
              </a:rPr>
              <a:t>• Strategic mountain outpost minimizing travel to Parón and Laguna 513.</a:t>
            </a:r>
            <a:endParaRPr lang="en-US" sz="1050" dirty="0"/>
          </a:p>
          <a:p>
            <a:pPr indent="0" marL="0">
              <a:lnSpc>
                <a:spcPts val="1600"/>
              </a:lnSpc>
              <a:buNone/>
            </a:pPr>
            <a:r>
              <a:rPr lang="en-US" sz="1050" dirty="0">
                <a:solidFill>
                  <a:srgbClr val="444444"/>
                </a:solidFill>
                <a:latin typeface="Arial" pitchFamily="34" charset="0"/>
                <a:ea typeface="Arial" pitchFamily="34" charset="-122"/>
                <a:cs typeface="Arial" pitchFamily="34" charset="-120"/>
              </a:rPr>
              <a:t>• Unpolluted dark-sky stargazing and Andean astronomy around the hearth.</a:t>
            </a:r>
            <a:endParaRPr lang="en-US" sz="1050" dirty="0"/>
          </a:p>
        </p:txBody>
      </p:sp>
      <p:sp>
        <p:nvSpPr>
          <p:cNvPr id="17" name="Shape 15"/>
          <p:cNvSpPr/>
          <p:nvPr/>
        </p:nvSpPr>
        <p:spPr>
          <a:xfrm>
            <a:off x="7955280" y="1508760"/>
            <a:ext cx="3429000" cy="4023360"/>
          </a:xfrm>
          <a:prstGeom prst="rect">
            <a:avLst/>
          </a:prstGeom>
          <a:solidFill>
            <a:srgbClr val="FFFFFF"/>
          </a:solidFill>
          <a:ln w="12700">
            <a:solidFill>
              <a:srgbClr val="DDD9CF"/>
            </a:solidFill>
            <a:prstDash val="solid"/>
          </a:ln>
        </p:spPr>
      </p:sp>
      <p:sp>
        <p:nvSpPr>
          <p:cNvPr id="18" name="Text 16"/>
          <p:cNvSpPr/>
          <p:nvPr/>
        </p:nvSpPr>
        <p:spPr>
          <a:xfrm>
            <a:off x="8229600" y="1691640"/>
            <a:ext cx="2880360" cy="228600"/>
          </a:xfrm>
          <a:prstGeom prst="rect">
            <a:avLst/>
          </a:prstGeom>
          <a:noFill/>
          <a:ln/>
        </p:spPr>
        <p:txBody>
          <a:bodyPr wrap="square" rtlCol="0" anchor="ctr"/>
          <a:lstStyle/>
          <a:p>
            <a:pPr indent="0" marL="0">
              <a:buNone/>
            </a:pPr>
            <a:r>
              <a:rPr lang="en-US" sz="900" b="1" spc="200" kern="0" dirty="0">
                <a:solidFill>
                  <a:srgbClr val="C69255"/>
                </a:solidFill>
                <a:latin typeface="Arial" pitchFamily="34" charset="0"/>
                <a:ea typeface="Arial" pitchFamily="34" charset="-122"/>
                <a:cs typeface="Arial" pitchFamily="34" charset="-120"/>
              </a:rPr>
              <a:t>NIGHT 5</a:t>
            </a:r>
            <a:endParaRPr lang="en-US" sz="900" dirty="0"/>
          </a:p>
        </p:txBody>
      </p:sp>
      <p:sp>
        <p:nvSpPr>
          <p:cNvPr id="19" name="Text 17"/>
          <p:cNvSpPr/>
          <p:nvPr/>
        </p:nvSpPr>
        <p:spPr>
          <a:xfrm>
            <a:off x="8229600" y="1965960"/>
            <a:ext cx="2880360" cy="411480"/>
          </a:xfrm>
          <a:prstGeom prst="rect">
            <a:avLst/>
          </a:prstGeom>
          <a:noFill/>
          <a:ln/>
        </p:spPr>
        <p:txBody>
          <a:bodyPr wrap="square" rtlCol="0" anchor="ctr"/>
          <a:lstStyle/>
          <a:p>
            <a:pPr indent="0" marL="0">
              <a:buNone/>
            </a:pPr>
            <a:r>
              <a:rPr lang="en-US" sz="1500" b="1" dirty="0">
                <a:solidFill>
                  <a:srgbClr val="111111"/>
                </a:solidFill>
                <a:latin typeface="Georgia" pitchFamily="34" charset="0"/>
                <a:ea typeface="Georgia" pitchFamily="34" charset="-122"/>
                <a:cs typeface="Georgia" pitchFamily="34" charset="-120"/>
              </a:rPr>
              <a:t>Cuesta Serena Lodge</a:t>
            </a:r>
            <a:endParaRPr lang="en-US" sz="1500" dirty="0"/>
          </a:p>
        </p:txBody>
      </p:sp>
      <p:sp>
        <p:nvSpPr>
          <p:cNvPr id="20" name="Text 18"/>
          <p:cNvSpPr/>
          <p:nvPr/>
        </p:nvSpPr>
        <p:spPr>
          <a:xfrm>
            <a:off x="8229600" y="2423160"/>
            <a:ext cx="2880360" cy="228600"/>
          </a:xfrm>
          <a:prstGeom prst="rect">
            <a:avLst/>
          </a:prstGeom>
          <a:noFill/>
          <a:ln/>
        </p:spPr>
        <p:txBody>
          <a:bodyPr wrap="square" rtlCol="0" anchor="ctr"/>
          <a:lstStyle/>
          <a:p>
            <a:pPr indent="0" marL="0">
              <a:buNone/>
            </a:pPr>
            <a:r>
              <a:rPr lang="en-US" sz="950" b="1" dirty="0">
                <a:solidFill>
                  <a:srgbClr val="666666"/>
                </a:solidFill>
                <a:latin typeface="Arial" pitchFamily="34" charset="0"/>
                <a:ea typeface="Arial" pitchFamily="34" charset="-122"/>
                <a:cs typeface="Arial" pitchFamily="34" charset="-120"/>
              </a:rPr>
              <a:t>Anta / Marcará • 9,180 ft / 2,800 m</a:t>
            </a:r>
            <a:endParaRPr lang="en-US" sz="950" dirty="0"/>
          </a:p>
        </p:txBody>
      </p:sp>
      <p:sp>
        <p:nvSpPr>
          <p:cNvPr id="21" name="Text 19"/>
          <p:cNvSpPr/>
          <p:nvPr/>
        </p:nvSpPr>
        <p:spPr>
          <a:xfrm>
            <a:off x="8229600" y="2697480"/>
            <a:ext cx="2880360" cy="411480"/>
          </a:xfrm>
          <a:prstGeom prst="rect">
            <a:avLst/>
          </a:prstGeom>
          <a:noFill/>
          <a:ln/>
        </p:spPr>
        <p:txBody>
          <a:bodyPr wrap="square" rtlCol="0" anchor="ctr"/>
          <a:lstStyle/>
          <a:p>
            <a:pPr indent="0" marL="0">
              <a:buNone/>
            </a:pPr>
            <a:r>
              <a:rPr lang="en-US" sz="1000" b="1" i="1" dirty="0">
                <a:solidFill>
                  <a:srgbClr val="111111"/>
                </a:solidFill>
                <a:latin typeface="Arial" pitchFamily="34" charset="0"/>
                <a:ea typeface="Arial" pitchFamily="34" charset="-122"/>
                <a:cs typeface="Arial" pitchFamily="34" charset="-120"/>
              </a:rPr>
              <a:t>Boutique Luxury &amp; Celebratory Alpine Finale</a:t>
            </a:r>
            <a:endParaRPr lang="en-US" sz="1000" dirty="0"/>
          </a:p>
        </p:txBody>
      </p:sp>
      <p:sp>
        <p:nvSpPr>
          <p:cNvPr id="22" name="Text 20"/>
          <p:cNvSpPr/>
          <p:nvPr/>
        </p:nvSpPr>
        <p:spPr>
          <a:xfrm>
            <a:off x="8229600" y="3154680"/>
            <a:ext cx="2880360" cy="2240280"/>
          </a:xfrm>
          <a:prstGeom prst="rect">
            <a:avLst/>
          </a:prstGeom>
          <a:noFill/>
          <a:ln/>
        </p:spPr>
        <p:txBody>
          <a:bodyPr wrap="square" rtlCol="0" anchor="ctr"/>
          <a:lstStyle/>
          <a:p>
            <a:pPr indent="0" marL="0">
              <a:lnSpc>
                <a:spcPts val="1600"/>
              </a:lnSpc>
              <a:buNone/>
            </a:pPr>
            <a:r>
              <a:rPr lang="en-US" sz="1050" dirty="0">
                <a:solidFill>
                  <a:srgbClr val="444444"/>
                </a:solidFill>
                <a:latin typeface="Arial" pitchFamily="34" charset="0"/>
                <a:ea typeface="Arial" pitchFamily="34" charset="-122"/>
                <a:cs typeface="Arial" pitchFamily="34" charset="-120"/>
              </a:rPr>
              <a:t>• Refined boutique luxury retreat on seven tranquil acres of hillside gardens.</a:t>
            </a:r>
            <a:endParaRPr lang="en-US" sz="1050" dirty="0"/>
          </a:p>
          <a:p>
            <a:pPr indent="0" marL="0">
              <a:lnSpc>
                <a:spcPts val="1600"/>
              </a:lnSpc>
              <a:buNone/>
            </a:pPr>
            <a:r>
              <a:rPr lang="en-US" sz="1050" dirty="0">
                <a:solidFill>
                  <a:srgbClr val="444444"/>
                </a:solidFill>
                <a:latin typeface="Arial" pitchFamily="34" charset="0"/>
                <a:ea typeface="Arial" pitchFamily="34" charset="-122"/>
                <a:cs typeface="Arial" pitchFamily="34" charset="-120"/>
              </a:rPr>
              <a:t>• Uninterrupted 180° amphitheater views of the entire Cordillera Blanca.</a:t>
            </a:r>
            <a:endParaRPr lang="en-US" sz="1050" dirty="0"/>
          </a:p>
          <a:p>
            <a:pPr indent="0" marL="0">
              <a:lnSpc>
                <a:spcPts val="1600"/>
              </a:lnSpc>
              <a:buNone/>
            </a:pPr>
            <a:r>
              <a:rPr lang="en-US" sz="1050" dirty="0">
                <a:solidFill>
                  <a:srgbClr val="444444"/>
                </a:solidFill>
                <a:latin typeface="Arial" pitchFamily="34" charset="0"/>
                <a:ea typeface="Arial" pitchFamily="34" charset="-122"/>
                <a:cs typeface="Arial" pitchFamily="34" charset="-120"/>
              </a:rPr>
              <a:t>• Heated outdoor swimming pool, Andean herbal spa, and fire pits.</a:t>
            </a:r>
            <a:endParaRPr lang="en-US" sz="1050" dirty="0"/>
          </a:p>
          <a:p>
            <a:pPr indent="0" marL="0">
              <a:lnSpc>
                <a:spcPts val="1600"/>
              </a:lnSpc>
              <a:buNone/>
            </a:pPr>
            <a:r>
              <a:rPr lang="en-US" sz="1050" dirty="0">
                <a:solidFill>
                  <a:srgbClr val="444444"/>
                </a:solidFill>
                <a:latin typeface="Arial" pitchFamily="34" charset="0"/>
                <a:ea typeface="Arial" pitchFamily="34" charset="-122"/>
                <a:cs typeface="Arial" pitchFamily="34" charset="-120"/>
              </a:rPr>
              <a:t>• Celebration dinner with progressive valley gastronomy and artisanal pairings.</a:t>
            </a:r>
            <a:endParaRPr lang="en-US" sz="1050" dirty="0"/>
          </a:p>
        </p:txBody>
      </p:sp>
      <p:sp>
        <p:nvSpPr>
          <p:cNvPr id="23" name="Shape 21"/>
          <p:cNvSpPr/>
          <p:nvPr/>
        </p:nvSpPr>
        <p:spPr>
          <a:xfrm>
            <a:off x="731520" y="5669280"/>
            <a:ext cx="10652760" cy="640080"/>
          </a:xfrm>
          <a:prstGeom prst="rect">
            <a:avLst/>
          </a:prstGeom>
          <a:solidFill>
            <a:srgbClr val="EBE7DF"/>
          </a:solidFill>
          <a:ln w="12700">
            <a:solidFill>
              <a:srgbClr val="D5D0C5"/>
            </a:solidFill>
            <a:prstDash val="solid"/>
          </a:ln>
        </p:spPr>
      </p:sp>
      <p:sp>
        <p:nvSpPr>
          <p:cNvPr id="24" name="Text 22"/>
          <p:cNvSpPr/>
          <p:nvPr/>
        </p:nvSpPr>
        <p:spPr>
          <a:xfrm>
            <a:off x="1005840" y="5760720"/>
            <a:ext cx="10058400" cy="457200"/>
          </a:xfrm>
          <a:prstGeom prst="rect">
            <a:avLst/>
          </a:prstGeom>
          <a:noFill/>
          <a:ln/>
        </p:spPr>
        <p:txBody>
          <a:bodyPr wrap="square" rtlCol="0" anchor="ctr"/>
          <a:lstStyle/>
          <a:p>
            <a:pPr indent="0" marL="0">
              <a:lnSpc>
                <a:spcPts val="1400"/>
              </a:lnSpc>
              <a:buNone/>
            </a:pPr>
            <a:r>
              <a:rPr lang="en-US" sz="950" dirty="0">
                <a:solidFill>
                  <a:srgbClr val="333333"/>
                </a:solidFill>
                <a:latin typeface="Arial" pitchFamily="34" charset="0"/>
                <a:ea typeface="Arial" pitchFamily="34" charset="-122"/>
                <a:cs typeface="Arial" pitchFamily="34" charset="-120"/>
              </a:rPr>
              <a:t>HIGH-MOUNTAIN EXTENSION BASE CAMPS: Refugio Llaca (14,665 ft / 4,470 m) — authentic stone alpine hut beneath Llaca Glacier moraine • Hotel El Abuelo (Huaraz • 10,000 ft / 3,050 m) — historic climbers’ retreat for post-summit recovery.</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731520" y="457200"/>
            <a:ext cx="7315200" cy="274320"/>
          </a:xfrm>
          <a:prstGeom prst="rect">
            <a:avLst/>
          </a:prstGeom>
          <a:noFill/>
          <a:ln/>
        </p:spPr>
        <p:txBody>
          <a:bodyPr wrap="square" rtlCol="0" anchor="ctr"/>
          <a:lstStyle/>
          <a:p>
            <a:pPr indent="0" marL="0">
              <a:buNone/>
            </a:pPr>
            <a:r>
              <a:rPr lang="en-US" sz="1000" b="1" spc="300" kern="0" dirty="0">
                <a:solidFill>
                  <a:srgbClr val="C69255"/>
                </a:solidFill>
                <a:latin typeface="Arial" pitchFamily="34" charset="0"/>
                <a:ea typeface="Arial" pitchFamily="34" charset="-122"/>
                <a:cs typeface="Arial" pitchFamily="34" charset="-120"/>
              </a:rPr>
              <a:t>EXPEDITION PREPARATION &amp; GEAR</a:t>
            </a:r>
            <a:endParaRPr lang="en-US" sz="1000" dirty="0"/>
          </a:p>
        </p:txBody>
      </p:sp>
      <p:sp>
        <p:nvSpPr>
          <p:cNvPr id="3" name="Text 1"/>
          <p:cNvSpPr/>
          <p:nvPr/>
        </p:nvSpPr>
        <p:spPr>
          <a:xfrm>
            <a:off x="731520" y="777240"/>
            <a:ext cx="10515600" cy="7315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Andean Climate &amp; Recommended Three-Layer System</a:t>
            </a:r>
            <a:endParaRPr lang="en-US" sz="2600" dirty="0"/>
          </a:p>
        </p:txBody>
      </p:sp>
      <p:sp>
        <p:nvSpPr>
          <p:cNvPr id="4" name="Text 2"/>
          <p:cNvSpPr/>
          <p:nvPr/>
        </p:nvSpPr>
        <p:spPr>
          <a:xfrm>
            <a:off x="731520" y="1645920"/>
            <a:ext cx="10698480" cy="365760"/>
          </a:xfrm>
          <a:prstGeom prst="rect">
            <a:avLst/>
          </a:prstGeom>
          <a:noFill/>
          <a:ln/>
        </p:spPr>
        <p:txBody>
          <a:bodyPr wrap="square" rtlCol="0" anchor="ctr"/>
          <a:lstStyle/>
          <a:p>
            <a:pPr indent="0" marL="0">
              <a:buNone/>
            </a:pPr>
            <a:r>
              <a:rPr lang="en-US" sz="1300" dirty="0">
                <a:solidFill>
                  <a:srgbClr val="8E8E93"/>
                </a:solidFill>
                <a:latin typeface="Arial" pitchFamily="34" charset="0"/>
                <a:ea typeface="Arial" pitchFamily="34" charset="-122"/>
                <a:cs typeface="Arial" pitchFamily="34" charset="-120"/>
              </a:rPr>
              <a:t>The tropical high Andes feature intense daytime solar radiation and crisp, cold nights.</a:t>
            </a:r>
            <a:endParaRPr lang="en-US" sz="13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31520" y="2194560"/>
          <a:ext cx="10698480" cy="914400"/>
        </p:xfrm>
        <a:graphic>
          <a:graphicData uri="http://schemas.openxmlformats.org/drawingml/2006/table">
            <a:tbl>
              <a:tblPr/>
              <a:tblGrid>
                <a:gridCol w="3200400"/>
                <a:gridCol w="2468880"/>
                <a:gridCol w="2468880"/>
                <a:gridCol w="2560320"/>
              </a:tblGrid>
              <a:tr h="0">
                <a:tc>
                  <a:txBody>
                    <a:bodyPr/>
                    <a:lstStyle/>
                    <a:p>
                      <a:pPr indent="0" marL="0">
                        <a:buNone/>
                      </a:pPr>
                      <a:r>
                        <a:rPr lang="en-US" sz="1000" b="1" dirty="0">
                          <a:solidFill>
                            <a:srgbClr val="C69255"/>
                          </a:solidFill>
                          <a:latin typeface="Arial" pitchFamily="34" charset="0"/>
                          <a:ea typeface="Arial" pitchFamily="34" charset="-122"/>
                          <a:cs typeface="Arial" pitchFamily="34" charset="-120"/>
                        </a:rPr>
                        <a:t>Zone / Elevation</a:t>
                      </a:r>
                      <a:endParaRPr lang="en-US" sz="1000" dirty="0">
                        <a:latin typeface="Arial" charset="0"/>
                        <a:ea typeface="Arial" charset="0"/>
                        <a:cs typeface="Arial" charset="0"/>
                      </a:endParaRPr>
                    </a:p>
                  </a:txBody>
                  <a:tcPr marL="91440" marR="91440" marT="45720" marB="45720">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solidFill>
                      <a:srgbClr val="252528"/>
                    </a:solidFill>
                  </a:tcPr>
                </a:tc>
                <a:tc>
                  <a:txBody>
                    <a:bodyPr/>
                    <a:lstStyle/>
                    <a:p>
                      <a:pPr indent="0" marL="0">
                        <a:buNone/>
                      </a:pPr>
                      <a:r>
                        <a:rPr lang="en-US" sz="1000" b="1" dirty="0">
                          <a:solidFill>
                            <a:srgbClr val="C69255"/>
                          </a:solidFill>
                          <a:latin typeface="Arial" pitchFamily="34" charset="0"/>
                          <a:ea typeface="Arial" pitchFamily="34" charset="-122"/>
                          <a:cs typeface="Arial" pitchFamily="34" charset="-120"/>
                        </a:rPr>
                        <a:t>Daytime Temperature</a:t>
                      </a:r>
                      <a:endParaRPr lang="en-US" sz="1000" dirty="0">
                        <a:latin typeface="Arial" charset="0"/>
                        <a:ea typeface="Arial" charset="0"/>
                        <a:cs typeface="Arial" charset="0"/>
                      </a:endParaRPr>
                    </a:p>
                  </a:txBody>
                  <a:tcPr marL="91440" marR="91440" marT="45720" marB="45720">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solidFill>
                      <a:srgbClr val="252528"/>
                    </a:solidFill>
                  </a:tcPr>
                </a:tc>
                <a:tc>
                  <a:txBody>
                    <a:bodyPr/>
                    <a:lstStyle/>
                    <a:p>
                      <a:pPr indent="0" marL="0">
                        <a:buNone/>
                      </a:pPr>
                      <a:r>
                        <a:rPr lang="en-US" sz="1000" b="1" dirty="0">
                          <a:solidFill>
                            <a:srgbClr val="C69255"/>
                          </a:solidFill>
                          <a:latin typeface="Arial" pitchFamily="34" charset="0"/>
                          <a:ea typeface="Arial" pitchFamily="34" charset="-122"/>
                          <a:cs typeface="Arial" pitchFamily="34" charset="-120"/>
                        </a:rPr>
                        <a:t>Nighttime Temperature</a:t>
                      </a:r>
                      <a:endParaRPr lang="en-US" sz="1000" dirty="0">
                        <a:latin typeface="Arial" charset="0"/>
                        <a:ea typeface="Arial" charset="0"/>
                        <a:cs typeface="Arial" charset="0"/>
                      </a:endParaRPr>
                    </a:p>
                  </a:txBody>
                  <a:tcPr marL="91440" marR="91440" marT="45720" marB="45720">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solidFill>
                      <a:srgbClr val="252528"/>
                    </a:solidFill>
                  </a:tcPr>
                </a:tc>
                <a:tc>
                  <a:txBody>
                    <a:bodyPr/>
                    <a:lstStyle/>
                    <a:p>
                      <a:pPr indent="0" marL="0">
                        <a:buNone/>
                      </a:pPr>
                      <a:r>
                        <a:rPr lang="en-US" sz="1000" b="1" dirty="0">
                          <a:solidFill>
                            <a:srgbClr val="C69255"/>
                          </a:solidFill>
                          <a:latin typeface="Arial" pitchFamily="34" charset="0"/>
                          <a:ea typeface="Arial" pitchFamily="34" charset="-122"/>
                          <a:cs typeface="Arial" pitchFamily="34" charset="-120"/>
                        </a:rPr>
                        <a:t>Wind &amp; Solar Conditions</a:t>
                      </a:r>
                      <a:endParaRPr lang="en-US" sz="1000" dirty="0">
                        <a:latin typeface="Arial" charset="0"/>
                        <a:ea typeface="Arial" charset="0"/>
                        <a:cs typeface="Arial" charset="0"/>
                      </a:endParaRPr>
                    </a:p>
                  </a:txBody>
                  <a:tcPr marL="91440" marR="91440" marT="45720" marB="45720">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solidFill>
                      <a:srgbClr val="252528"/>
                    </a:solidFill>
                  </a:tcPr>
                </a:tc>
              </a:tr>
              <a:tr h="0">
                <a:tc>
                  <a:txBody>
                    <a:bodyPr/>
                    <a:lstStyle/>
                    <a:p>
                      <a:pPr indent="0" marL="0">
                        <a:buNone/>
                      </a:pPr>
                      <a:r>
                        <a:rPr lang="en-US" sz="1000" dirty="0">
                          <a:solidFill>
                            <a:srgbClr val="FFFFFF"/>
                          </a:solidFill>
                          <a:latin typeface="Arial" pitchFamily="34" charset="0"/>
                          <a:ea typeface="Arial" pitchFamily="34" charset="-122"/>
                          <a:cs typeface="Arial" pitchFamily="34" charset="-120"/>
                        </a:rPr>
                        <a:t>Valleys (Huaylas / 7,200 - 9,200 ft)</a:t>
                      </a:r>
                      <a:endParaRPr lang="en-US" sz="1000" dirty="0">
                        <a:latin typeface="Arial" charset="0"/>
                        <a:ea typeface="Arial" charset="0"/>
                        <a:cs typeface="Arial" charset="0"/>
                      </a:endParaRPr>
                    </a:p>
                  </a:txBody>
                  <a:tcPr marL="91440" marR="91440" marT="45720" marB="45720">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tcPr>
                </a:tc>
                <a:tc>
                  <a:txBody>
                    <a:bodyPr/>
                    <a:lstStyle/>
                    <a:p>
                      <a:pPr indent="0" marL="0">
                        <a:buNone/>
                      </a:pPr>
                      <a:r>
                        <a:rPr lang="en-US" sz="1000" dirty="0">
                          <a:solidFill>
                            <a:srgbClr val="FFFFFF"/>
                          </a:solidFill>
                          <a:latin typeface="Arial" pitchFamily="34" charset="0"/>
                          <a:ea typeface="Arial" pitchFamily="34" charset="-122"/>
                          <a:cs typeface="Arial" pitchFamily="34" charset="-120"/>
                        </a:rPr>
                        <a:t>64°F to 75°F / 18°C to 24°C (Warm)</a:t>
                      </a:r>
                      <a:endParaRPr lang="en-US" sz="1000" dirty="0">
                        <a:latin typeface="Arial" charset="0"/>
                        <a:ea typeface="Arial" charset="0"/>
                        <a:cs typeface="Arial" charset="0"/>
                      </a:endParaRPr>
                    </a:p>
                  </a:txBody>
                  <a:tcPr marL="91440" marR="91440" marT="45720" marB="45720">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tcPr>
                </a:tc>
                <a:tc>
                  <a:txBody>
                    <a:bodyPr/>
                    <a:lstStyle/>
                    <a:p>
                      <a:pPr indent="0" marL="0">
                        <a:buNone/>
                      </a:pPr>
                      <a:r>
                        <a:rPr lang="en-US" sz="1000" dirty="0">
                          <a:solidFill>
                            <a:srgbClr val="FFFFFF"/>
                          </a:solidFill>
                          <a:latin typeface="Arial" pitchFamily="34" charset="0"/>
                          <a:ea typeface="Arial" pitchFamily="34" charset="-122"/>
                          <a:cs typeface="Arial" pitchFamily="34" charset="-120"/>
                        </a:rPr>
                        <a:t>46°F to 54°F / 8°C to 12°C (Cool)</a:t>
                      </a:r>
                      <a:endParaRPr lang="en-US" sz="1000" dirty="0">
                        <a:latin typeface="Arial" charset="0"/>
                        <a:ea typeface="Arial" charset="0"/>
                        <a:cs typeface="Arial" charset="0"/>
                      </a:endParaRPr>
                    </a:p>
                  </a:txBody>
                  <a:tcPr marL="91440" marR="91440" marT="45720" marB="45720">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tcPr>
                </a:tc>
                <a:tc>
                  <a:txBody>
                    <a:bodyPr/>
                    <a:lstStyle/>
                    <a:p>
                      <a:pPr indent="0" marL="0">
                        <a:buNone/>
                      </a:pPr>
                      <a:r>
                        <a:rPr lang="en-US" sz="1000" dirty="0">
                          <a:solidFill>
                            <a:srgbClr val="8E8E93"/>
                          </a:solidFill>
                          <a:latin typeface="Arial" pitchFamily="34" charset="0"/>
                          <a:ea typeface="Arial" pitchFamily="34" charset="-122"/>
                          <a:cs typeface="Arial" pitchFamily="34" charset="-120"/>
                        </a:rPr>
                        <a:t>Gentle valley breeze, high UV index</a:t>
                      </a:r>
                      <a:endParaRPr lang="en-US" sz="1000" dirty="0">
                        <a:latin typeface="Arial" charset="0"/>
                        <a:ea typeface="Arial" charset="0"/>
                        <a:cs typeface="Arial" charset="0"/>
                      </a:endParaRPr>
                    </a:p>
                  </a:txBody>
                  <a:tcPr marL="91440" marR="91440" marT="45720" marB="45720">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tcPr>
                </a:tc>
              </a:tr>
              <a:tr h="0">
                <a:tc>
                  <a:txBody>
                    <a:bodyPr/>
                    <a:lstStyle/>
                    <a:p>
                      <a:pPr indent="0" marL="0">
                        <a:buNone/>
                      </a:pPr>
                      <a:r>
                        <a:rPr lang="en-US" sz="1000" dirty="0">
                          <a:solidFill>
                            <a:srgbClr val="FFFFFF"/>
                          </a:solidFill>
                          <a:latin typeface="Arial" pitchFamily="34" charset="0"/>
                          <a:ea typeface="Arial" pitchFamily="34" charset="-122"/>
                          <a:cs typeface="Arial" pitchFamily="34" charset="-120"/>
                        </a:rPr>
                        <a:t>Tarns &amp; Passes (12,500 - 15,500 ft)</a:t>
                      </a:r>
                      <a:endParaRPr lang="en-US" sz="1000" dirty="0">
                        <a:latin typeface="Arial" charset="0"/>
                        <a:ea typeface="Arial" charset="0"/>
                        <a:cs typeface="Arial" charset="0"/>
                      </a:endParaRPr>
                    </a:p>
                  </a:txBody>
                  <a:tcPr marL="91440" marR="91440" marT="45720" marB="45720">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tcPr>
                </a:tc>
                <a:tc>
                  <a:txBody>
                    <a:bodyPr/>
                    <a:lstStyle/>
                    <a:p>
                      <a:pPr indent="0" marL="0">
                        <a:buNone/>
                      </a:pPr>
                      <a:r>
                        <a:rPr lang="en-US" sz="1000" dirty="0">
                          <a:solidFill>
                            <a:srgbClr val="FFFFFF"/>
                          </a:solidFill>
                          <a:latin typeface="Arial" pitchFamily="34" charset="0"/>
                          <a:ea typeface="Arial" pitchFamily="34" charset="-122"/>
                          <a:cs typeface="Arial" pitchFamily="34" charset="-120"/>
                        </a:rPr>
                        <a:t>46°F to 59°F / 8°C to 15°C (Brisk)</a:t>
                      </a:r>
                      <a:endParaRPr lang="en-US" sz="1000" dirty="0">
                        <a:latin typeface="Arial" charset="0"/>
                        <a:ea typeface="Arial" charset="0"/>
                        <a:cs typeface="Arial" charset="0"/>
                      </a:endParaRPr>
                    </a:p>
                  </a:txBody>
                  <a:tcPr marL="91440" marR="91440" marT="45720" marB="45720">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tcPr>
                </a:tc>
                <a:tc>
                  <a:txBody>
                    <a:bodyPr/>
                    <a:lstStyle/>
                    <a:p>
                      <a:pPr indent="0" marL="0">
                        <a:buNone/>
                      </a:pPr>
                      <a:r>
                        <a:rPr lang="en-US" sz="1000" dirty="0">
                          <a:solidFill>
                            <a:srgbClr val="FFFFFF"/>
                          </a:solidFill>
                          <a:latin typeface="Arial" pitchFamily="34" charset="0"/>
                          <a:ea typeface="Arial" pitchFamily="34" charset="-122"/>
                          <a:cs typeface="Arial" pitchFamily="34" charset="-120"/>
                        </a:rPr>
                        <a:t>28°F to 39°F / -2°C to 4°C (Freezing)</a:t>
                      </a:r>
                      <a:endParaRPr lang="en-US" sz="1000" dirty="0">
                        <a:latin typeface="Arial" charset="0"/>
                        <a:ea typeface="Arial" charset="0"/>
                        <a:cs typeface="Arial" charset="0"/>
                      </a:endParaRPr>
                    </a:p>
                  </a:txBody>
                  <a:tcPr marL="91440" marR="91440" marT="45720" marB="45720">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tcPr>
                </a:tc>
                <a:tc>
                  <a:txBody>
                    <a:bodyPr/>
                    <a:lstStyle/>
                    <a:p>
                      <a:pPr indent="0" marL="0">
                        <a:buNone/>
                      </a:pPr>
                      <a:r>
                        <a:rPr lang="en-US" sz="1000" dirty="0">
                          <a:solidFill>
                            <a:srgbClr val="8E8E93"/>
                          </a:solidFill>
                          <a:latin typeface="Arial" pitchFamily="34" charset="0"/>
                          <a:ea typeface="Arial" pitchFamily="34" charset="-122"/>
                          <a:cs typeface="Arial" pitchFamily="34" charset="-120"/>
                        </a:rPr>
                        <a:t>Katabatic glacial winds, rapid shifts</a:t>
                      </a:r>
                      <a:endParaRPr lang="en-US" sz="1000" dirty="0">
                        <a:latin typeface="Arial" charset="0"/>
                        <a:ea typeface="Arial" charset="0"/>
                        <a:cs typeface="Arial" charset="0"/>
                      </a:endParaRPr>
                    </a:p>
                  </a:txBody>
                  <a:tcPr marL="91440" marR="91440" marT="45720" marB="45720">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tcPr>
                </a:tc>
              </a:tr>
              <a:tr h="0">
                <a:tc>
                  <a:txBody>
                    <a:bodyPr/>
                    <a:lstStyle/>
                    <a:p>
                      <a:pPr indent="0" marL="0">
                        <a:buNone/>
                      </a:pPr>
                      <a:r>
                        <a:rPr lang="en-US" sz="1000" dirty="0">
                          <a:solidFill>
                            <a:srgbClr val="FFFFFF"/>
                          </a:solidFill>
                          <a:latin typeface="Arial" pitchFamily="34" charset="0"/>
                          <a:ea typeface="Arial" pitchFamily="34" charset="-122"/>
                          <a:cs typeface="Arial" pitchFamily="34" charset="-120"/>
                        </a:rPr>
                        <a:t>High Mountain (&gt; 16,400 ft)</a:t>
                      </a:r>
                      <a:endParaRPr lang="en-US" sz="1000" dirty="0">
                        <a:latin typeface="Arial" charset="0"/>
                        <a:ea typeface="Arial" charset="0"/>
                        <a:cs typeface="Arial" charset="0"/>
                      </a:endParaRPr>
                    </a:p>
                  </a:txBody>
                  <a:tcPr marL="91440" marR="91440" marT="45720" marB="45720">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tcPr>
                </a:tc>
                <a:tc>
                  <a:txBody>
                    <a:bodyPr/>
                    <a:lstStyle/>
                    <a:p>
                      <a:pPr indent="0" marL="0">
                        <a:buNone/>
                      </a:pPr>
                      <a:r>
                        <a:rPr lang="en-US" sz="1000" dirty="0">
                          <a:solidFill>
                            <a:srgbClr val="FFFFFF"/>
                          </a:solidFill>
                          <a:latin typeface="Arial" pitchFamily="34" charset="0"/>
                          <a:ea typeface="Arial" pitchFamily="34" charset="-122"/>
                          <a:cs typeface="Arial" pitchFamily="34" charset="-120"/>
                        </a:rPr>
                        <a:t>32°F to 43°F / 0°C to 6°C</a:t>
                      </a:r>
                      <a:endParaRPr lang="en-US" sz="1000" dirty="0">
                        <a:latin typeface="Arial" charset="0"/>
                        <a:ea typeface="Arial" charset="0"/>
                        <a:cs typeface="Arial" charset="0"/>
                      </a:endParaRPr>
                    </a:p>
                  </a:txBody>
                  <a:tcPr marL="91440" marR="91440" marT="45720" marB="45720">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tcPr>
                </a:tc>
                <a:tc>
                  <a:txBody>
                    <a:bodyPr/>
                    <a:lstStyle/>
                    <a:p>
                      <a:pPr indent="0" marL="0">
                        <a:buNone/>
                      </a:pPr>
                      <a:r>
                        <a:rPr lang="en-US" sz="1000" dirty="0">
                          <a:solidFill>
                            <a:srgbClr val="FFFFFF"/>
                          </a:solidFill>
                          <a:latin typeface="Arial" pitchFamily="34" charset="0"/>
                          <a:ea typeface="Arial" pitchFamily="34" charset="-122"/>
                          <a:cs typeface="Arial" pitchFamily="34" charset="-120"/>
                        </a:rPr>
                        <a:t>14°F to 23°F / -10°C to -5°C</a:t>
                      </a:r>
                      <a:endParaRPr lang="en-US" sz="1000" dirty="0">
                        <a:latin typeface="Arial" charset="0"/>
                        <a:ea typeface="Arial" charset="0"/>
                        <a:cs typeface="Arial" charset="0"/>
                      </a:endParaRPr>
                    </a:p>
                  </a:txBody>
                  <a:tcPr marL="91440" marR="91440" marT="45720" marB="45720">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tcPr>
                </a:tc>
                <a:tc>
                  <a:txBody>
                    <a:bodyPr/>
                    <a:lstStyle/>
                    <a:p>
                      <a:pPr indent="0" marL="0">
                        <a:buNone/>
                      </a:pPr>
                      <a:r>
                        <a:rPr lang="en-US" sz="1000" dirty="0">
                          <a:solidFill>
                            <a:srgbClr val="8E8E93"/>
                          </a:solidFill>
                          <a:latin typeface="Arial" pitchFamily="34" charset="0"/>
                          <a:ea typeface="Arial" pitchFamily="34" charset="-122"/>
                          <a:cs typeface="Arial" pitchFamily="34" charset="-120"/>
                        </a:rPr>
                        <a:t>Polar alpine chill on predawn summit push</a:t>
                      </a:r>
                      <a:endParaRPr lang="en-US" sz="1000" dirty="0">
                        <a:latin typeface="Arial" charset="0"/>
                        <a:ea typeface="Arial" charset="0"/>
                        <a:cs typeface="Arial" charset="0"/>
                      </a:endParaRPr>
                    </a:p>
                  </a:txBody>
                  <a:tcPr marL="91440" marR="91440" marT="45720" marB="45720">
                    <a:lnL w="12700" cap="flat" cmpd="sng" algn="ctr">
                      <a:solidFill>
                        <a:srgbClr val="333333"/>
                      </a:solidFill>
                      <a:prstDash val="solid"/>
                      <a:round/>
                      <a:headEnd type="none" w="med" len="med"/>
                      <a:tailEnd type="none" w="med" len="med"/>
                    </a:lnL>
                    <a:lnR w="12700" cap="flat" cmpd="sng" algn="ctr">
                      <a:solidFill>
                        <a:srgbClr val="333333"/>
                      </a:solidFill>
                      <a:prstDash val="solid"/>
                      <a:round/>
                      <a:headEnd type="none" w="med" len="med"/>
                      <a:tailEnd type="none" w="med" len="med"/>
                    </a:lnR>
                    <a:lnT w="12700" cap="flat" cmpd="sng" algn="ctr">
                      <a:solidFill>
                        <a:srgbClr val="333333"/>
                      </a:solidFill>
                      <a:prstDash val="solid"/>
                      <a:round/>
                      <a:headEnd type="none" w="med" len="med"/>
                      <a:tailEnd type="none" w="med" len="med"/>
                    </a:lnT>
                    <a:lnB w="12700" cap="flat" cmpd="sng" algn="ctr">
                      <a:solidFill>
                        <a:srgbClr val="333333"/>
                      </a:solidFill>
                      <a:prstDash val="solid"/>
                      <a:round/>
                      <a:headEnd type="none" w="med" len="med"/>
                      <a:tailEnd type="none" w="med" len="med"/>
                    </a:lnB>
                  </a:tcPr>
                </a:tc>
              </a:tr>
            </a:tbl>
          </a:graphicData>
        </a:graphic>
      </p:graphicFrame>
      <p:sp>
        <p:nvSpPr>
          <p:cNvPr id="6" name="Shape 3"/>
          <p:cNvSpPr/>
          <p:nvPr/>
        </p:nvSpPr>
        <p:spPr>
          <a:xfrm>
            <a:off x="731520" y="4297680"/>
            <a:ext cx="10698480" cy="1645920"/>
          </a:xfrm>
          <a:prstGeom prst="rect">
            <a:avLst/>
          </a:prstGeom>
          <a:solidFill>
            <a:srgbClr val="1C1C1E"/>
          </a:solidFill>
          <a:ln w="12700">
            <a:solidFill>
              <a:srgbClr val="2F2F33"/>
            </a:solidFill>
            <a:prstDash val="solid"/>
          </a:ln>
        </p:spPr>
      </p:sp>
      <p:sp>
        <p:nvSpPr>
          <p:cNvPr id="7" name="Text 4"/>
          <p:cNvSpPr/>
          <p:nvPr/>
        </p:nvSpPr>
        <p:spPr>
          <a:xfrm>
            <a:off x="1005840" y="4480560"/>
            <a:ext cx="4572000" cy="274320"/>
          </a:xfrm>
          <a:prstGeom prst="rect">
            <a:avLst/>
          </a:prstGeom>
          <a:noFill/>
          <a:ln/>
        </p:spPr>
        <p:txBody>
          <a:bodyPr wrap="square" rtlCol="0" anchor="ctr"/>
          <a:lstStyle/>
          <a:p>
            <a:pPr indent="0" marL="0">
              <a:buNone/>
            </a:pPr>
            <a:r>
              <a:rPr lang="en-US" sz="1000" b="1" dirty="0">
                <a:solidFill>
                  <a:srgbClr val="C69255"/>
                </a:solidFill>
                <a:latin typeface="Arial" pitchFamily="34" charset="0"/>
                <a:ea typeface="Arial" pitchFamily="34" charset="-122"/>
                <a:cs typeface="Arial" pitchFamily="34" charset="-120"/>
              </a:rPr>
              <a:t>RECOMMENDED THREE-LAYER SYSTEM</a:t>
            </a:r>
            <a:endParaRPr lang="en-US" sz="1000" dirty="0"/>
          </a:p>
        </p:txBody>
      </p:sp>
      <p:sp>
        <p:nvSpPr>
          <p:cNvPr id="8" name="Text 5"/>
          <p:cNvSpPr/>
          <p:nvPr/>
        </p:nvSpPr>
        <p:spPr>
          <a:xfrm>
            <a:off x="1005840" y="4800600"/>
            <a:ext cx="10149840" cy="1005840"/>
          </a:xfrm>
          <a:prstGeom prst="rect">
            <a:avLst/>
          </a:prstGeom>
          <a:noFill/>
          <a:ln/>
        </p:spPr>
        <p:txBody>
          <a:bodyPr wrap="square" rtlCol="0" anchor="ctr"/>
          <a:lstStyle/>
          <a:p>
            <a:pPr indent="0" marL="0">
              <a:lnSpc>
                <a:spcPts val="1600"/>
              </a:lnSpc>
              <a:buNone/>
            </a:pPr>
            <a:r>
              <a:rPr lang="en-US" sz="1000" dirty="0">
                <a:solidFill>
                  <a:srgbClr val="8E8E93"/>
                </a:solidFill>
                <a:latin typeface="Arial" pitchFamily="34" charset="0"/>
                <a:ea typeface="Arial" pitchFamily="34" charset="-122"/>
                <a:cs typeface="Arial" pitchFamily="34" charset="-120"/>
              </a:rPr>
              <a:t>• Base Layer: Moisture-wicking breathable thermal base (merino wool or high-end synthetic)</a:t>
            </a:r>
            <a:endParaRPr lang="en-US" sz="1000" dirty="0"/>
          </a:p>
          <a:p>
            <a:pPr indent="0" marL="0">
              <a:lnSpc>
                <a:spcPts val="1600"/>
              </a:lnSpc>
              <a:buNone/>
            </a:pPr>
            <a:r>
              <a:rPr lang="en-US" sz="1000" dirty="0">
                <a:solidFill>
                  <a:srgbClr val="8E8E93"/>
                </a:solidFill>
                <a:latin typeface="Arial" pitchFamily="34" charset="0"/>
                <a:ea typeface="Arial" pitchFamily="34" charset="-122"/>
                <a:cs typeface="Arial" pitchFamily="34" charset="-120"/>
              </a:rPr>
              <a:t>• Mid Layer: Insulating fleece or lightweight down jacket</a:t>
            </a:r>
            <a:endParaRPr lang="en-US" sz="1000" dirty="0"/>
          </a:p>
          <a:p>
            <a:pPr indent="0" marL="0">
              <a:lnSpc>
                <a:spcPts val="1600"/>
              </a:lnSpc>
              <a:buNone/>
            </a:pPr>
            <a:r>
              <a:rPr lang="en-US" sz="1000" dirty="0">
                <a:solidFill>
                  <a:srgbClr val="8E8E93"/>
                </a:solidFill>
                <a:latin typeface="Arial" pitchFamily="34" charset="0"/>
                <a:ea typeface="Arial" pitchFamily="34" charset="-122"/>
                <a:cs typeface="Arial" pitchFamily="34" charset="-120"/>
              </a:rPr>
              <a:t>• Outer Shell: Windproof and waterproof breathable shell (Gore-Tex or equivalent)</a:t>
            </a:r>
            <a:endParaRPr lang="en-US" sz="1000" dirty="0"/>
          </a:p>
          <a:p>
            <a:pPr indent="0" marL="0">
              <a:lnSpc>
                <a:spcPts val="1600"/>
              </a:lnSpc>
              <a:buNone/>
            </a:pPr>
            <a:r>
              <a:rPr lang="en-US" sz="1000" dirty="0">
                <a:solidFill>
                  <a:srgbClr val="8E8E93"/>
                </a:solidFill>
                <a:latin typeface="Arial" pitchFamily="34" charset="0"/>
                <a:ea typeface="Arial" pitchFamily="34" charset="-122"/>
                <a:cs typeface="Arial" pitchFamily="34" charset="-120"/>
              </a:rPr>
              <a:t>• Essential Accessories: Category 3 or 4 UV sunglasses, mineral sunscreen, trekking poles (provided by Explora), and ankle-support trekking boots.</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2ED"/>
        </a:solidFill>
      </p:bgPr>
    </p:bg>
    <p:spTree>
      <p:nvGrpSpPr>
        <p:cNvPr id="1" name=""/>
        <p:cNvGrpSpPr/>
        <p:nvPr/>
      </p:nvGrpSpPr>
      <p:grpSpPr>
        <a:xfrm>
          <a:off x="0" y="0"/>
          <a:ext cx="0" cy="0"/>
          <a:chOff x="0" y="0"/>
          <a:chExt cx="0" cy="0"/>
        </a:xfrm>
      </p:grpSpPr>
      <p:sp>
        <p:nvSpPr>
          <p:cNvPr id="2" name="Text 0"/>
          <p:cNvSpPr/>
          <p:nvPr/>
        </p:nvSpPr>
        <p:spPr>
          <a:xfrm>
            <a:off x="731520" y="457200"/>
            <a:ext cx="7315200" cy="274320"/>
          </a:xfrm>
          <a:prstGeom prst="rect">
            <a:avLst/>
          </a:prstGeom>
          <a:noFill/>
          <a:ln/>
        </p:spPr>
        <p:txBody>
          <a:bodyPr wrap="square" rtlCol="0" anchor="ctr"/>
          <a:lstStyle/>
          <a:p>
            <a:pPr indent="0" marL="0">
              <a:buNone/>
            </a:pPr>
            <a:r>
              <a:rPr lang="en-US" sz="1000" b="1" spc="300" kern="0" dirty="0">
                <a:solidFill>
                  <a:srgbClr val="666666"/>
                </a:solidFill>
                <a:latin typeface="Arial" pitchFamily="34" charset="0"/>
                <a:ea typeface="Arial" pitchFamily="34" charset="-122"/>
                <a:cs typeface="Arial" pitchFamily="34" charset="-120"/>
              </a:rPr>
              <a:t>LOGISTICS INFRASTRUCTURE</a:t>
            </a:r>
            <a:endParaRPr lang="en-US" sz="1000" dirty="0"/>
          </a:p>
        </p:txBody>
      </p:sp>
      <p:sp>
        <p:nvSpPr>
          <p:cNvPr id="3" name="Text 1"/>
          <p:cNvSpPr/>
          <p:nvPr/>
        </p:nvSpPr>
        <p:spPr>
          <a:xfrm>
            <a:off x="731520" y="777240"/>
            <a:ext cx="10515600" cy="731520"/>
          </a:xfrm>
          <a:prstGeom prst="rect">
            <a:avLst/>
          </a:prstGeom>
          <a:noFill/>
          <a:ln/>
        </p:spPr>
        <p:txBody>
          <a:bodyPr wrap="square" rtlCol="0" anchor="ctr"/>
          <a:lstStyle/>
          <a:p>
            <a:pPr indent="0" marL="0">
              <a:buNone/>
            </a:pPr>
            <a:r>
              <a:rPr lang="en-US" sz="2600" b="1" dirty="0">
                <a:solidFill>
                  <a:srgbClr val="111111"/>
                </a:solidFill>
                <a:latin typeface="Georgia" pitchFamily="34" charset="0"/>
                <a:ea typeface="Georgia" pitchFamily="34" charset="-122"/>
                <a:cs typeface="Georgia" pitchFamily="34" charset="-120"/>
              </a:rPr>
              <a:t>Our Expedition Fleet &amp; Field Operations</a:t>
            </a:r>
            <a:endParaRPr lang="en-US" sz="2600" dirty="0"/>
          </a:p>
        </p:txBody>
      </p:sp>
      <p:sp>
        <p:nvSpPr>
          <p:cNvPr id="4" name="Text 2"/>
          <p:cNvSpPr/>
          <p:nvPr/>
        </p:nvSpPr>
        <p:spPr>
          <a:xfrm>
            <a:off x="731520" y="1645920"/>
            <a:ext cx="10698480" cy="457200"/>
          </a:xfrm>
          <a:prstGeom prst="rect">
            <a:avLst/>
          </a:prstGeom>
          <a:noFill/>
          <a:ln/>
        </p:spPr>
        <p:txBody>
          <a:bodyPr wrap="square" rtlCol="0" anchor="ctr"/>
          <a:lstStyle/>
          <a:p>
            <a:pPr indent="0" marL="0">
              <a:buNone/>
            </a:pPr>
            <a:r>
              <a:rPr lang="en-US" sz="1300" dirty="0">
                <a:solidFill>
                  <a:srgbClr val="444444"/>
                </a:solidFill>
                <a:latin typeface="Arial" pitchFamily="34" charset="0"/>
                <a:ea typeface="Arial" pitchFamily="34" charset="-122"/>
                <a:cs typeface="Arial" pitchFamily="34" charset="-120"/>
              </a:rPr>
              <a:t>Vehicles purpose-built for the Andean terrain, ensuring interior comfort and 4WD access to remote tracks beyond commercial bus access.</a:t>
            </a:r>
            <a:endParaRPr lang="en-US" sz="1300" dirty="0"/>
          </a:p>
        </p:txBody>
      </p:sp>
      <p:sp>
        <p:nvSpPr>
          <p:cNvPr id="5" name="Shape 3"/>
          <p:cNvSpPr/>
          <p:nvPr/>
        </p:nvSpPr>
        <p:spPr>
          <a:xfrm>
            <a:off x="731520" y="2286000"/>
            <a:ext cx="3429000" cy="3749040"/>
          </a:xfrm>
          <a:prstGeom prst="rect">
            <a:avLst/>
          </a:prstGeom>
          <a:solidFill>
            <a:srgbClr val="FFFFFF"/>
          </a:solidFill>
          <a:ln w="12700">
            <a:solidFill>
              <a:srgbClr val="DDD9CF"/>
            </a:solidFill>
            <a:prstDash val="solid"/>
          </a:ln>
        </p:spPr>
      </p:sp>
      <p:sp>
        <p:nvSpPr>
          <p:cNvPr id="6" name="Text 4"/>
          <p:cNvSpPr/>
          <p:nvPr/>
        </p:nvSpPr>
        <p:spPr>
          <a:xfrm>
            <a:off x="1005840" y="2560320"/>
            <a:ext cx="2880360" cy="457200"/>
          </a:xfrm>
          <a:prstGeom prst="rect">
            <a:avLst/>
          </a:prstGeom>
          <a:noFill/>
          <a:ln/>
        </p:spPr>
        <p:txBody>
          <a:bodyPr wrap="square" rtlCol="0" anchor="ctr"/>
          <a:lstStyle/>
          <a:p>
            <a:pPr indent="0" marL="0">
              <a:buNone/>
            </a:pPr>
            <a:r>
              <a:rPr lang="en-US" sz="1400" b="1" dirty="0">
                <a:solidFill>
                  <a:srgbClr val="111111"/>
                </a:solidFill>
                <a:latin typeface="Georgia" pitchFamily="34" charset="0"/>
                <a:ea typeface="Georgia" pitchFamily="34" charset="-122"/>
                <a:cs typeface="Georgia" pitchFamily="34" charset="-120"/>
              </a:rPr>
              <a:t>Mercedes-Benz Sprinter 4x4 Van</a:t>
            </a:r>
            <a:endParaRPr lang="en-US" sz="1400" dirty="0"/>
          </a:p>
        </p:txBody>
      </p:sp>
      <p:sp>
        <p:nvSpPr>
          <p:cNvPr id="7" name="Text 5"/>
          <p:cNvSpPr/>
          <p:nvPr/>
        </p:nvSpPr>
        <p:spPr>
          <a:xfrm>
            <a:off x="1005840" y="3017520"/>
            <a:ext cx="2880360" cy="274320"/>
          </a:xfrm>
          <a:prstGeom prst="rect">
            <a:avLst/>
          </a:prstGeom>
          <a:noFill/>
          <a:ln/>
        </p:spPr>
        <p:txBody>
          <a:bodyPr wrap="square" rtlCol="0" anchor="ctr"/>
          <a:lstStyle/>
          <a:p>
            <a:pPr indent="0" marL="0">
              <a:buNone/>
            </a:pPr>
            <a:r>
              <a:rPr lang="en-US" sz="1000" b="1" dirty="0">
                <a:solidFill>
                  <a:srgbClr val="C69255"/>
                </a:solidFill>
                <a:latin typeface="Arial" pitchFamily="34" charset="0"/>
                <a:ea typeface="Arial" pitchFamily="34" charset="-122"/>
                <a:cs typeface="Arial" pitchFamily="34" charset="-120"/>
              </a:rPr>
              <a:t>Overland Highway &amp; Valley Transit</a:t>
            </a:r>
            <a:endParaRPr lang="en-US" sz="1000" dirty="0"/>
          </a:p>
        </p:txBody>
      </p:sp>
      <p:sp>
        <p:nvSpPr>
          <p:cNvPr id="8" name="Text 6"/>
          <p:cNvSpPr/>
          <p:nvPr/>
        </p:nvSpPr>
        <p:spPr>
          <a:xfrm>
            <a:off x="1005840" y="3474720"/>
            <a:ext cx="2880360" cy="2286000"/>
          </a:xfrm>
          <a:prstGeom prst="rect">
            <a:avLst/>
          </a:prstGeom>
          <a:noFill/>
          <a:ln/>
        </p:spPr>
        <p:txBody>
          <a:bodyPr wrap="square" rtlCol="0" anchor="ctr"/>
          <a:lstStyle/>
          <a:p>
            <a:pPr indent="0" marL="0">
              <a:lnSpc>
                <a:spcPts val="1800"/>
              </a:lnSpc>
              <a:buNone/>
            </a:pPr>
            <a:r>
              <a:rPr lang="en-US" sz="1050" dirty="0">
                <a:solidFill>
                  <a:srgbClr val="555555"/>
                </a:solidFill>
                <a:latin typeface="Arial" pitchFamily="34" charset="0"/>
                <a:ea typeface="Arial" pitchFamily="34" charset="-122"/>
                <a:cs typeface="Arial" pitchFamily="34" charset="-120"/>
              </a:rPr>
              <a:t>• Reclining leather seating &amp; generous legroom</a:t>
            </a:r>
            <a:endParaRPr lang="en-US" sz="1050" dirty="0"/>
          </a:p>
          <a:p>
            <a:pPr indent="0" marL="0">
              <a:lnSpc>
                <a:spcPts val="1800"/>
              </a:lnSpc>
              <a:buNone/>
            </a:pPr>
            <a:r>
              <a:rPr lang="en-US" sz="1050" dirty="0">
                <a:solidFill>
                  <a:srgbClr val="555555"/>
                </a:solidFill>
                <a:latin typeface="Arial" pitchFamily="34" charset="0"/>
                <a:ea typeface="Arial" pitchFamily="34" charset="-122"/>
                <a:cs typeface="Arial" pitchFamily="34" charset="-120"/>
              </a:rPr>
              <a:t>• Thermal panoramic windows for 360° views</a:t>
            </a:r>
            <a:endParaRPr lang="en-US" sz="1050" dirty="0"/>
          </a:p>
          <a:p>
            <a:pPr indent="0" marL="0">
              <a:lnSpc>
                <a:spcPts val="1800"/>
              </a:lnSpc>
              <a:buNone/>
            </a:pPr>
            <a:r>
              <a:rPr lang="en-US" sz="1050" dirty="0">
                <a:solidFill>
                  <a:srgbClr val="555555"/>
                </a:solidFill>
                <a:latin typeface="Arial" pitchFamily="34" charset="0"/>
                <a:ea typeface="Arial" pitchFamily="34" charset="-122"/>
                <a:cs typeface="Arial" pitchFamily="34" charset="-120"/>
              </a:rPr>
              <a:t>• Heavy-duty unpaved road 4x4 suspension</a:t>
            </a:r>
            <a:endParaRPr lang="en-US" sz="1050" dirty="0"/>
          </a:p>
          <a:p>
            <a:pPr indent="0" marL="0">
              <a:lnSpc>
                <a:spcPts val="1800"/>
              </a:lnSpc>
              <a:buNone/>
            </a:pPr>
            <a:r>
              <a:rPr lang="en-US" sz="1050" dirty="0">
                <a:solidFill>
                  <a:srgbClr val="555555"/>
                </a:solidFill>
                <a:latin typeface="Arial" pitchFamily="34" charset="0"/>
                <a:ea typeface="Arial" pitchFamily="34" charset="-122"/>
                <a:cs typeface="Arial" pitchFamily="34" charset="-120"/>
              </a:rPr>
              <a:t>• Continuous-flow medical oxygen system onboard</a:t>
            </a:r>
            <a:endParaRPr lang="en-US" sz="1050" dirty="0"/>
          </a:p>
          <a:p>
            <a:pPr indent="0" marL="0">
              <a:lnSpc>
                <a:spcPts val="1800"/>
              </a:lnSpc>
              <a:buNone/>
            </a:pPr>
            <a:r>
              <a:rPr lang="en-US" sz="1050" dirty="0">
                <a:solidFill>
                  <a:srgbClr val="555555"/>
                </a:solidFill>
                <a:latin typeface="Arial" pitchFamily="34" charset="0"/>
                <a:ea typeface="Arial" pitchFamily="34" charset="-122"/>
                <a:cs typeface="Arial" pitchFamily="34" charset="-120"/>
              </a:rPr>
              <a:t>• USB-C charging ports and cold refreshments</a:t>
            </a:r>
            <a:endParaRPr lang="en-US" sz="1050" dirty="0"/>
          </a:p>
        </p:txBody>
      </p:sp>
      <p:sp>
        <p:nvSpPr>
          <p:cNvPr id="9" name="Shape 7"/>
          <p:cNvSpPr/>
          <p:nvPr/>
        </p:nvSpPr>
        <p:spPr>
          <a:xfrm>
            <a:off x="4343400" y="2286000"/>
            <a:ext cx="3429000" cy="3749040"/>
          </a:xfrm>
          <a:prstGeom prst="rect">
            <a:avLst/>
          </a:prstGeom>
          <a:solidFill>
            <a:srgbClr val="FFFFFF"/>
          </a:solidFill>
          <a:ln w="12700">
            <a:solidFill>
              <a:srgbClr val="DDD9CF"/>
            </a:solidFill>
            <a:prstDash val="solid"/>
          </a:ln>
        </p:spPr>
      </p:sp>
      <p:sp>
        <p:nvSpPr>
          <p:cNvPr id="10" name="Text 8"/>
          <p:cNvSpPr/>
          <p:nvPr/>
        </p:nvSpPr>
        <p:spPr>
          <a:xfrm>
            <a:off x="4617720" y="2560320"/>
            <a:ext cx="2880360" cy="457200"/>
          </a:xfrm>
          <a:prstGeom prst="rect">
            <a:avLst/>
          </a:prstGeom>
          <a:noFill/>
          <a:ln/>
        </p:spPr>
        <p:txBody>
          <a:bodyPr wrap="square" rtlCol="0" anchor="ctr"/>
          <a:lstStyle/>
          <a:p>
            <a:pPr indent="0" marL="0">
              <a:buNone/>
            </a:pPr>
            <a:r>
              <a:rPr lang="en-US" sz="1400" b="1" dirty="0">
                <a:solidFill>
                  <a:srgbClr val="111111"/>
                </a:solidFill>
                <a:latin typeface="Georgia" pitchFamily="34" charset="0"/>
                <a:ea typeface="Georgia" pitchFamily="34" charset="-122"/>
                <a:cs typeface="Georgia" pitchFamily="34" charset="-120"/>
              </a:rPr>
              <a:t>Jeep / Toyota Land Cruiser 4WD</a:t>
            </a:r>
            <a:endParaRPr lang="en-US" sz="1400" dirty="0"/>
          </a:p>
        </p:txBody>
      </p:sp>
      <p:sp>
        <p:nvSpPr>
          <p:cNvPr id="11" name="Text 9"/>
          <p:cNvSpPr/>
          <p:nvPr/>
        </p:nvSpPr>
        <p:spPr>
          <a:xfrm>
            <a:off x="4617720" y="3017520"/>
            <a:ext cx="2880360" cy="274320"/>
          </a:xfrm>
          <a:prstGeom prst="rect">
            <a:avLst/>
          </a:prstGeom>
          <a:noFill/>
          <a:ln/>
        </p:spPr>
        <p:txBody>
          <a:bodyPr wrap="square" rtlCol="0" anchor="ctr"/>
          <a:lstStyle/>
          <a:p>
            <a:pPr indent="0" marL="0">
              <a:buNone/>
            </a:pPr>
            <a:r>
              <a:rPr lang="en-US" sz="1000" b="1" dirty="0">
                <a:solidFill>
                  <a:srgbClr val="C69255"/>
                </a:solidFill>
                <a:latin typeface="Arial" pitchFamily="34" charset="0"/>
                <a:ea typeface="Arial" pitchFamily="34" charset="-122"/>
                <a:cs typeface="Arial" pitchFamily="34" charset="-120"/>
              </a:rPr>
              <a:t>Dedicated Expedition 4x4 for Travelers</a:t>
            </a:r>
            <a:endParaRPr lang="en-US" sz="1000" dirty="0"/>
          </a:p>
        </p:txBody>
      </p:sp>
      <p:sp>
        <p:nvSpPr>
          <p:cNvPr id="12" name="Text 10"/>
          <p:cNvSpPr/>
          <p:nvPr/>
        </p:nvSpPr>
        <p:spPr>
          <a:xfrm>
            <a:off x="4617720" y="3474720"/>
            <a:ext cx="2880360" cy="2286000"/>
          </a:xfrm>
          <a:prstGeom prst="rect">
            <a:avLst/>
          </a:prstGeom>
          <a:noFill/>
          <a:ln/>
        </p:spPr>
        <p:txBody>
          <a:bodyPr wrap="square" rtlCol="0" anchor="ctr"/>
          <a:lstStyle/>
          <a:p>
            <a:pPr indent="0" marL="0">
              <a:lnSpc>
                <a:spcPts val="1800"/>
              </a:lnSpc>
              <a:buNone/>
            </a:pPr>
            <a:r>
              <a:rPr lang="en-US" sz="1050" dirty="0">
                <a:solidFill>
                  <a:srgbClr val="555555"/>
                </a:solidFill>
                <a:latin typeface="Arial" pitchFamily="34" charset="0"/>
                <a:ea typeface="Arial" pitchFamily="34" charset="-122"/>
                <a:cs typeface="Arial" pitchFamily="34" charset="-120"/>
              </a:rPr>
              <a:t>• Heavy-duty dual-range 4WD transfer case</a:t>
            </a:r>
            <a:endParaRPr lang="en-US" sz="1050" dirty="0"/>
          </a:p>
          <a:p>
            <a:pPr indent="0" marL="0">
              <a:lnSpc>
                <a:spcPts val="1800"/>
              </a:lnSpc>
              <a:buNone/>
            </a:pPr>
            <a:r>
              <a:rPr lang="en-US" sz="1050" dirty="0">
                <a:solidFill>
                  <a:srgbClr val="555555"/>
                </a:solidFill>
                <a:latin typeface="Arial" pitchFamily="34" charset="0"/>
                <a:ea typeface="Arial" pitchFamily="34" charset="-122"/>
                <a:cs typeface="Arial" pitchFamily="34" charset="-120"/>
              </a:rPr>
              <a:t>• High clearance for steep moraine tracks &amp; tarns</a:t>
            </a:r>
            <a:endParaRPr lang="en-US" sz="1050" dirty="0"/>
          </a:p>
          <a:p>
            <a:pPr indent="0" marL="0">
              <a:lnSpc>
                <a:spcPts val="1800"/>
              </a:lnSpc>
              <a:buNone/>
            </a:pPr>
            <a:r>
              <a:rPr lang="en-US" sz="1050" dirty="0">
                <a:solidFill>
                  <a:srgbClr val="555555"/>
                </a:solidFill>
                <a:latin typeface="Arial" pitchFamily="34" charset="0"/>
                <a:ea typeface="Arial" pitchFamily="34" charset="-122"/>
                <a:cs typeface="Arial" pitchFamily="34" charset="-120"/>
              </a:rPr>
              <a:t>• Intimate 3–4 traveler seating configuration</a:t>
            </a:r>
            <a:endParaRPr lang="en-US" sz="1050" dirty="0"/>
          </a:p>
          <a:p>
            <a:pPr indent="0" marL="0">
              <a:lnSpc>
                <a:spcPts val="1800"/>
              </a:lnSpc>
              <a:buNone/>
            </a:pPr>
            <a:r>
              <a:rPr lang="en-US" sz="1050" dirty="0">
                <a:solidFill>
                  <a:srgbClr val="555555"/>
                </a:solidFill>
                <a:latin typeface="Arial" pitchFamily="34" charset="0"/>
                <a:ea typeface="Arial" pitchFamily="34" charset="-122"/>
                <a:cs typeface="Arial" pitchFamily="34" charset="-120"/>
              </a:rPr>
              <a:t>• Heavy-duty bike mounts for gravel trailheads</a:t>
            </a:r>
            <a:endParaRPr lang="en-US" sz="1050" dirty="0"/>
          </a:p>
          <a:p>
            <a:pPr indent="0" marL="0">
              <a:lnSpc>
                <a:spcPts val="1800"/>
              </a:lnSpc>
              <a:buNone/>
            </a:pPr>
            <a:r>
              <a:rPr lang="en-US" sz="1050" dirty="0">
                <a:solidFill>
                  <a:srgbClr val="555555"/>
                </a:solidFill>
                <a:latin typeface="Arial" pitchFamily="34" charset="0"/>
                <a:ea typeface="Arial" pitchFamily="34" charset="-122"/>
                <a:cs typeface="Arial" pitchFamily="34" charset="-120"/>
              </a:rPr>
              <a:t>• Garmin InReach satellite tracking &amp; trauma kit</a:t>
            </a:r>
            <a:endParaRPr lang="en-US" sz="1050" dirty="0"/>
          </a:p>
        </p:txBody>
      </p:sp>
      <p:sp>
        <p:nvSpPr>
          <p:cNvPr id="13" name="Shape 11"/>
          <p:cNvSpPr/>
          <p:nvPr/>
        </p:nvSpPr>
        <p:spPr>
          <a:xfrm>
            <a:off x="7955280" y="2286000"/>
            <a:ext cx="3429000" cy="3749040"/>
          </a:xfrm>
          <a:prstGeom prst="rect">
            <a:avLst/>
          </a:prstGeom>
          <a:solidFill>
            <a:srgbClr val="FFFFFF"/>
          </a:solidFill>
          <a:ln w="12700">
            <a:solidFill>
              <a:srgbClr val="DDD9CF"/>
            </a:solidFill>
            <a:prstDash val="solid"/>
          </a:ln>
        </p:spPr>
      </p:sp>
      <p:sp>
        <p:nvSpPr>
          <p:cNvPr id="14" name="Text 12"/>
          <p:cNvSpPr/>
          <p:nvPr/>
        </p:nvSpPr>
        <p:spPr>
          <a:xfrm>
            <a:off x="8229600" y="2560320"/>
            <a:ext cx="2880360" cy="457200"/>
          </a:xfrm>
          <a:prstGeom prst="rect">
            <a:avLst/>
          </a:prstGeom>
          <a:noFill/>
          <a:ln/>
        </p:spPr>
        <p:txBody>
          <a:bodyPr wrap="square" rtlCol="0" anchor="ctr"/>
          <a:lstStyle/>
          <a:p>
            <a:pPr indent="0" marL="0">
              <a:buNone/>
            </a:pPr>
            <a:r>
              <a:rPr lang="en-US" sz="1400" b="1" dirty="0">
                <a:solidFill>
                  <a:srgbClr val="111111"/>
                </a:solidFill>
                <a:latin typeface="Georgia" pitchFamily="34" charset="0"/>
                <a:ea typeface="Georgia" pitchFamily="34" charset="-122"/>
                <a:cs typeface="Georgia" pitchFamily="34" charset="-120"/>
              </a:rPr>
              <a:t>Gravel Bikes &amp; Chase Support</a:t>
            </a:r>
            <a:endParaRPr lang="en-US" sz="1400" dirty="0"/>
          </a:p>
        </p:txBody>
      </p:sp>
      <p:sp>
        <p:nvSpPr>
          <p:cNvPr id="15" name="Text 13"/>
          <p:cNvSpPr/>
          <p:nvPr/>
        </p:nvSpPr>
        <p:spPr>
          <a:xfrm>
            <a:off x="8229600" y="3017520"/>
            <a:ext cx="2880360" cy="274320"/>
          </a:xfrm>
          <a:prstGeom prst="rect">
            <a:avLst/>
          </a:prstGeom>
          <a:noFill/>
          <a:ln/>
        </p:spPr>
        <p:txBody>
          <a:bodyPr wrap="square" rtlCol="0" anchor="ctr"/>
          <a:lstStyle/>
          <a:p>
            <a:pPr indent="0" marL="0">
              <a:buNone/>
            </a:pPr>
            <a:r>
              <a:rPr lang="en-US" sz="1000" b="1" dirty="0">
                <a:solidFill>
                  <a:srgbClr val="C69255"/>
                </a:solidFill>
                <a:latin typeface="Arial" pitchFamily="34" charset="0"/>
                <a:ea typeface="Arial" pitchFamily="34" charset="-122"/>
                <a:cs typeface="Arial" pitchFamily="34" charset="-120"/>
              </a:rPr>
              <a:t>Active Human-Scale Exploration</a:t>
            </a:r>
            <a:endParaRPr lang="en-US" sz="1000" dirty="0"/>
          </a:p>
        </p:txBody>
      </p:sp>
      <p:sp>
        <p:nvSpPr>
          <p:cNvPr id="16" name="Text 14"/>
          <p:cNvSpPr/>
          <p:nvPr/>
        </p:nvSpPr>
        <p:spPr>
          <a:xfrm>
            <a:off x="8229600" y="3474720"/>
            <a:ext cx="2880360" cy="2286000"/>
          </a:xfrm>
          <a:prstGeom prst="rect">
            <a:avLst/>
          </a:prstGeom>
          <a:noFill/>
          <a:ln/>
        </p:spPr>
        <p:txBody>
          <a:bodyPr wrap="square" rtlCol="0" anchor="ctr"/>
          <a:lstStyle/>
          <a:p>
            <a:pPr indent="0" marL="0">
              <a:lnSpc>
                <a:spcPts val="1800"/>
              </a:lnSpc>
              <a:buNone/>
            </a:pPr>
            <a:r>
              <a:rPr lang="en-US" sz="1050" dirty="0">
                <a:solidFill>
                  <a:srgbClr val="555555"/>
                </a:solidFill>
                <a:latin typeface="Arial" pitchFamily="34" charset="0"/>
                <a:ea typeface="Arial" pitchFamily="34" charset="-122"/>
                <a:cs typeface="Arial" pitchFamily="34" charset="-120"/>
              </a:rPr>
              <a:t>• High-performance gravel &amp; mountain bicycles</a:t>
            </a:r>
            <a:endParaRPr lang="en-US" sz="1050" dirty="0"/>
          </a:p>
          <a:p>
            <a:pPr indent="0" marL="0">
              <a:lnSpc>
                <a:spcPts val="1800"/>
              </a:lnSpc>
              <a:buNone/>
            </a:pPr>
            <a:r>
              <a:rPr lang="en-US" sz="1050" dirty="0">
                <a:solidFill>
                  <a:srgbClr val="555555"/>
                </a:solidFill>
                <a:latin typeface="Arial" pitchFamily="34" charset="0"/>
                <a:ea typeface="Arial" pitchFamily="34" charset="-122"/>
                <a:cs typeface="Arial" pitchFamily="34" charset="-120"/>
              </a:rPr>
              <a:t>• Electric pedal-assist available for alpine climbs</a:t>
            </a:r>
            <a:endParaRPr lang="en-US" sz="1050" dirty="0"/>
          </a:p>
          <a:p>
            <a:pPr indent="0" marL="0">
              <a:lnSpc>
                <a:spcPts val="1800"/>
              </a:lnSpc>
              <a:buNone/>
            </a:pPr>
            <a:r>
              <a:rPr lang="en-US" sz="1050" dirty="0">
                <a:solidFill>
                  <a:srgbClr val="555555"/>
                </a:solidFill>
                <a:latin typeface="Arial" pitchFamily="34" charset="0"/>
                <a:ea typeface="Arial" pitchFamily="34" charset="-122"/>
                <a:cs typeface="Arial" pitchFamily="34" charset="-120"/>
              </a:rPr>
              <a:t>• Homologated safety helmets and protective gear</a:t>
            </a:r>
            <a:endParaRPr lang="en-US" sz="1050" dirty="0"/>
          </a:p>
          <a:p>
            <a:pPr indent="0" marL="0">
              <a:lnSpc>
                <a:spcPts val="1800"/>
              </a:lnSpc>
              <a:buNone/>
            </a:pPr>
            <a:r>
              <a:rPr lang="en-US" sz="1050" dirty="0">
                <a:solidFill>
                  <a:srgbClr val="555555"/>
                </a:solidFill>
                <a:latin typeface="Arial" pitchFamily="34" charset="0"/>
                <a:ea typeface="Arial" pitchFamily="34" charset="-122"/>
                <a:cs typeface="Arial" pitchFamily="34" charset="-120"/>
              </a:rPr>
              <a:t>• Permanent 4WD chase vehicle support on trail</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731520" y="457200"/>
            <a:ext cx="7315200" cy="274320"/>
          </a:xfrm>
          <a:prstGeom prst="rect">
            <a:avLst/>
          </a:prstGeom>
          <a:noFill/>
          <a:ln/>
        </p:spPr>
        <p:txBody>
          <a:bodyPr wrap="square" rtlCol="0" anchor="ctr"/>
          <a:lstStyle/>
          <a:p>
            <a:pPr indent="0" marL="0">
              <a:buNone/>
            </a:pPr>
            <a:r>
              <a:rPr lang="en-US" sz="1000" b="1" spc="300" kern="0" dirty="0">
                <a:solidFill>
                  <a:srgbClr val="C69255"/>
                </a:solidFill>
                <a:latin typeface="Arial" pitchFamily="34" charset="0"/>
                <a:ea typeface="Arial" pitchFamily="34" charset="-122"/>
                <a:cs typeface="Arial" pitchFamily="34" charset="-120"/>
              </a:rPr>
              <a:t>EXPEDITION CALENDAR</a:t>
            </a:r>
            <a:endParaRPr lang="en-US" sz="1000" dirty="0"/>
          </a:p>
        </p:txBody>
      </p:sp>
      <p:sp>
        <p:nvSpPr>
          <p:cNvPr id="3" name="Text 1"/>
          <p:cNvSpPr/>
          <p:nvPr/>
        </p:nvSpPr>
        <p:spPr>
          <a:xfrm>
            <a:off x="731520" y="777240"/>
            <a:ext cx="10515600" cy="7315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Seasonality &amp; Confirmed Departures 2027</a:t>
            </a:r>
            <a:endParaRPr lang="en-US" sz="2600" dirty="0"/>
          </a:p>
        </p:txBody>
      </p:sp>
      <p:sp>
        <p:nvSpPr>
          <p:cNvPr id="4" name="Text 2"/>
          <p:cNvSpPr/>
          <p:nvPr/>
        </p:nvSpPr>
        <p:spPr>
          <a:xfrm>
            <a:off x="731520" y="1645920"/>
            <a:ext cx="10698480" cy="731520"/>
          </a:xfrm>
          <a:prstGeom prst="rect">
            <a:avLst/>
          </a:prstGeom>
          <a:noFill/>
          <a:ln/>
        </p:spPr>
        <p:txBody>
          <a:bodyPr wrap="square" rtlCol="0" anchor="ctr"/>
          <a:lstStyle/>
          <a:p>
            <a:pPr indent="0" marL="0">
              <a:lnSpc>
                <a:spcPts val="2000"/>
              </a:lnSpc>
              <a:buNone/>
            </a:pPr>
            <a:r>
              <a:rPr lang="en-US" sz="1300" dirty="0">
                <a:solidFill>
                  <a:srgbClr val="8E8E93"/>
                </a:solidFill>
                <a:latin typeface="Arial" pitchFamily="34" charset="0"/>
                <a:ea typeface="Arial" pitchFamily="34" charset="-122"/>
                <a:cs typeface="Arial" pitchFamily="34" charset="-120"/>
              </a:rPr>
              <a:t>The optimal window for Cordillera Blanca is the "Andean Dry Season" (May to October), featuring deep cobalt skies, pristine mountain visibility, and crystal-clear star-filled nights.</a:t>
            </a:r>
            <a:endParaRPr lang="en-US" sz="1300" dirty="0"/>
          </a:p>
        </p:txBody>
      </p:sp>
      <p:sp>
        <p:nvSpPr>
          <p:cNvPr id="5" name="Shape 3"/>
          <p:cNvSpPr/>
          <p:nvPr/>
        </p:nvSpPr>
        <p:spPr>
          <a:xfrm>
            <a:off x="731520" y="2560320"/>
            <a:ext cx="5257800" cy="1645920"/>
          </a:xfrm>
          <a:prstGeom prst="rect">
            <a:avLst/>
          </a:prstGeom>
          <a:solidFill>
            <a:srgbClr val="1C1C1E"/>
          </a:solidFill>
          <a:ln w="12700">
            <a:solidFill>
              <a:srgbClr val="2E2E32"/>
            </a:solidFill>
            <a:prstDash val="solid"/>
          </a:ln>
        </p:spPr>
      </p:sp>
      <p:sp>
        <p:nvSpPr>
          <p:cNvPr id="6" name="Text 4"/>
          <p:cNvSpPr/>
          <p:nvPr/>
        </p:nvSpPr>
        <p:spPr>
          <a:xfrm>
            <a:off x="1005840" y="2743200"/>
            <a:ext cx="4572000" cy="274320"/>
          </a:xfrm>
          <a:prstGeom prst="rect">
            <a:avLst/>
          </a:prstGeom>
          <a:noFill/>
          <a:ln/>
        </p:spPr>
        <p:txBody>
          <a:bodyPr wrap="square"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Optimal Dry Season</a:t>
            </a:r>
            <a:endParaRPr lang="en-US" sz="1400" dirty="0"/>
          </a:p>
        </p:txBody>
      </p:sp>
      <p:sp>
        <p:nvSpPr>
          <p:cNvPr id="7" name="Text 5"/>
          <p:cNvSpPr/>
          <p:nvPr/>
        </p:nvSpPr>
        <p:spPr>
          <a:xfrm>
            <a:off x="1005840" y="3063240"/>
            <a:ext cx="4572000" cy="274320"/>
          </a:xfrm>
          <a:prstGeom prst="rect">
            <a:avLst/>
          </a:prstGeom>
          <a:noFill/>
          <a:ln/>
        </p:spPr>
        <p:txBody>
          <a:bodyPr wrap="square" rtlCol="0" anchor="ctr"/>
          <a:lstStyle/>
          <a:p>
            <a:pPr indent="0" marL="0">
              <a:buNone/>
            </a:pPr>
            <a:r>
              <a:rPr lang="en-US" sz="1000" b="1" dirty="0">
                <a:solidFill>
                  <a:srgbClr val="C69255"/>
                </a:solidFill>
                <a:latin typeface="Arial" pitchFamily="34" charset="0"/>
                <a:ea typeface="Arial" pitchFamily="34" charset="-122"/>
                <a:cs typeface="Arial" pitchFamily="34" charset="-120"/>
              </a:rPr>
              <a:t>May to October</a:t>
            </a:r>
            <a:endParaRPr lang="en-US" sz="1000" dirty="0"/>
          </a:p>
        </p:txBody>
      </p:sp>
      <p:sp>
        <p:nvSpPr>
          <p:cNvPr id="8" name="Text 6"/>
          <p:cNvSpPr/>
          <p:nvPr/>
        </p:nvSpPr>
        <p:spPr>
          <a:xfrm>
            <a:off x="1005840" y="3383280"/>
            <a:ext cx="4572000" cy="640080"/>
          </a:xfrm>
          <a:prstGeom prst="rect">
            <a:avLst/>
          </a:prstGeom>
          <a:noFill/>
          <a:ln/>
        </p:spPr>
        <p:txBody>
          <a:bodyPr wrap="square" rtlCol="0" anchor="ctr"/>
          <a:lstStyle/>
          <a:p>
            <a:pPr indent="0" marL="0">
              <a:buNone/>
            </a:pPr>
            <a:r>
              <a:rPr lang="en-US" sz="1100" dirty="0">
                <a:solidFill>
                  <a:srgbClr val="8E8E93"/>
                </a:solidFill>
                <a:latin typeface="Arial" pitchFamily="34" charset="0"/>
                <a:ea typeface="Arial" pitchFamily="34" charset="-122"/>
                <a:cs typeface="Arial" pitchFamily="34" charset="-120"/>
              </a:rPr>
              <a:t>Cobalt skies, maximum peak clarity, pristine glacial tarn conditions, and stable trail footing.</a:t>
            </a:r>
            <a:endParaRPr lang="en-US" sz="1100" dirty="0"/>
          </a:p>
        </p:txBody>
      </p:sp>
      <p:sp>
        <p:nvSpPr>
          <p:cNvPr id="9" name="Shape 7"/>
          <p:cNvSpPr/>
          <p:nvPr/>
        </p:nvSpPr>
        <p:spPr>
          <a:xfrm>
            <a:off x="6172200" y="2560320"/>
            <a:ext cx="5257800" cy="1645920"/>
          </a:xfrm>
          <a:prstGeom prst="rect">
            <a:avLst/>
          </a:prstGeom>
          <a:solidFill>
            <a:srgbClr val="1C1C1E"/>
          </a:solidFill>
          <a:ln w="12700">
            <a:solidFill>
              <a:srgbClr val="2E2E32"/>
            </a:solidFill>
            <a:prstDash val="solid"/>
          </a:ln>
        </p:spPr>
      </p:sp>
      <p:sp>
        <p:nvSpPr>
          <p:cNvPr id="10" name="Text 8"/>
          <p:cNvSpPr/>
          <p:nvPr/>
        </p:nvSpPr>
        <p:spPr>
          <a:xfrm>
            <a:off x="6446520" y="2743200"/>
            <a:ext cx="4572000" cy="274320"/>
          </a:xfrm>
          <a:prstGeom prst="rect">
            <a:avLst/>
          </a:prstGeom>
          <a:noFill/>
          <a:ln/>
        </p:spPr>
        <p:txBody>
          <a:bodyPr wrap="square"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Green Transition Season</a:t>
            </a:r>
            <a:endParaRPr lang="en-US" sz="1400" dirty="0"/>
          </a:p>
        </p:txBody>
      </p:sp>
      <p:sp>
        <p:nvSpPr>
          <p:cNvPr id="11" name="Text 9"/>
          <p:cNvSpPr/>
          <p:nvPr/>
        </p:nvSpPr>
        <p:spPr>
          <a:xfrm>
            <a:off x="6446520" y="3063240"/>
            <a:ext cx="4572000" cy="274320"/>
          </a:xfrm>
          <a:prstGeom prst="rect">
            <a:avLst/>
          </a:prstGeom>
          <a:noFill/>
          <a:ln/>
        </p:spPr>
        <p:txBody>
          <a:bodyPr wrap="square" rtlCol="0" anchor="ctr"/>
          <a:lstStyle/>
          <a:p>
            <a:pPr indent="0" marL="0">
              <a:buNone/>
            </a:pPr>
            <a:r>
              <a:rPr lang="en-US" sz="1000" b="1" dirty="0">
                <a:solidFill>
                  <a:srgbClr val="C69255"/>
                </a:solidFill>
                <a:latin typeface="Arial" pitchFamily="34" charset="0"/>
                <a:ea typeface="Arial" pitchFamily="34" charset="-122"/>
                <a:cs typeface="Arial" pitchFamily="34" charset="-120"/>
              </a:rPr>
              <a:t>November &amp; April</a:t>
            </a:r>
            <a:endParaRPr lang="en-US" sz="1000" dirty="0"/>
          </a:p>
        </p:txBody>
      </p:sp>
      <p:sp>
        <p:nvSpPr>
          <p:cNvPr id="12" name="Text 10"/>
          <p:cNvSpPr/>
          <p:nvPr/>
        </p:nvSpPr>
        <p:spPr>
          <a:xfrm>
            <a:off x="6446520" y="3383280"/>
            <a:ext cx="4572000" cy="640080"/>
          </a:xfrm>
          <a:prstGeom prst="rect">
            <a:avLst/>
          </a:prstGeom>
          <a:noFill/>
          <a:ln/>
        </p:spPr>
        <p:txBody>
          <a:bodyPr wrap="square" rtlCol="0" anchor="ctr"/>
          <a:lstStyle/>
          <a:p>
            <a:pPr indent="0" marL="0">
              <a:buNone/>
            </a:pPr>
            <a:r>
              <a:rPr lang="en-US" sz="1100" dirty="0">
                <a:solidFill>
                  <a:srgbClr val="8E8E93"/>
                </a:solidFill>
                <a:latin typeface="Arial" pitchFamily="34" charset="0"/>
                <a:ea typeface="Arial" pitchFamily="34" charset="-122"/>
                <a:cs typeface="Arial" pitchFamily="34" charset="-120"/>
              </a:rPr>
              <a:t>Lush blooming valleys, roaring waterfalls at peak flow, and quieter off-peak trails.</a:t>
            </a:r>
            <a:endParaRPr lang="en-US" sz="1100" dirty="0"/>
          </a:p>
        </p:txBody>
      </p:sp>
      <p:sp>
        <p:nvSpPr>
          <p:cNvPr id="13" name="Shape 11"/>
          <p:cNvSpPr/>
          <p:nvPr/>
        </p:nvSpPr>
        <p:spPr>
          <a:xfrm>
            <a:off x="731520" y="4480560"/>
            <a:ext cx="10698480" cy="1463040"/>
          </a:xfrm>
          <a:prstGeom prst="rect">
            <a:avLst/>
          </a:prstGeom>
          <a:solidFill>
            <a:srgbClr val="18181A"/>
          </a:solidFill>
          <a:ln w="12700">
            <a:solidFill>
              <a:srgbClr val="C69255"/>
            </a:solidFill>
            <a:prstDash val="solid"/>
          </a:ln>
        </p:spPr>
      </p:sp>
      <p:sp>
        <p:nvSpPr>
          <p:cNvPr id="14" name="Text 12"/>
          <p:cNvSpPr/>
          <p:nvPr/>
        </p:nvSpPr>
        <p:spPr>
          <a:xfrm>
            <a:off x="1005840" y="4663440"/>
            <a:ext cx="10058400" cy="274320"/>
          </a:xfrm>
          <a:prstGeom prst="rect">
            <a:avLst/>
          </a:prstGeom>
          <a:noFill/>
          <a:ln/>
        </p:spPr>
        <p:txBody>
          <a:bodyPr wrap="square" rtlCol="0" anchor="ctr"/>
          <a:lstStyle/>
          <a:p>
            <a:pPr indent="0" marL="0">
              <a:buNone/>
            </a:pPr>
            <a:r>
              <a:rPr lang="en-US" sz="900" b="1" spc="200" kern="0" dirty="0">
                <a:solidFill>
                  <a:srgbClr val="C69255"/>
                </a:solidFill>
                <a:latin typeface="Arial" pitchFamily="34" charset="0"/>
                <a:ea typeface="Arial" pitchFamily="34" charset="-122"/>
                <a:cs typeface="Arial" pitchFamily="34" charset="-120"/>
              </a:rPr>
              <a:t>CONFIRMED EXCLUSIVE DEPARTURES (MAXIMUM 8 TRAVELERS PER EXPEDITION)</a:t>
            </a:r>
            <a:endParaRPr lang="en-US" sz="900" dirty="0"/>
          </a:p>
        </p:txBody>
      </p:sp>
      <p:sp>
        <p:nvSpPr>
          <p:cNvPr id="15" name="Text 13"/>
          <p:cNvSpPr/>
          <p:nvPr/>
        </p:nvSpPr>
        <p:spPr>
          <a:xfrm>
            <a:off x="1005840" y="4937760"/>
            <a:ext cx="10058400" cy="822960"/>
          </a:xfrm>
          <a:prstGeom prst="rect">
            <a:avLst/>
          </a:prstGeom>
          <a:noFill/>
          <a:ln/>
        </p:spPr>
        <p:txBody>
          <a:bodyPr wrap="square" rtlCol="0" anchor="ctr"/>
          <a:lstStyle/>
          <a:p>
            <a:pPr indent="0" marL="0">
              <a:lnSpc>
                <a:spcPts val="1600"/>
              </a:lnSpc>
              <a:buNone/>
            </a:pPr>
            <a:r>
              <a:rPr lang="en-US" sz="1050" dirty="0">
                <a:solidFill>
                  <a:srgbClr val="FFFFFF"/>
                </a:solidFill>
                <a:latin typeface="Arial" pitchFamily="34" charset="0"/>
                <a:ea typeface="Arial" pitchFamily="34" charset="-122"/>
                <a:cs typeface="Arial" pitchFamily="34" charset="-120"/>
              </a:rPr>
              <a:t>• Departure 1: June 14 - 19, 2027  (Summit Extension through June 21)</a:t>
            </a:r>
            <a:endParaRPr lang="en-US" sz="1050" dirty="0"/>
          </a:p>
          <a:p>
            <a:pPr indent="0" marL="0">
              <a:lnSpc>
                <a:spcPts val="1600"/>
              </a:lnSpc>
              <a:buNone/>
            </a:pPr>
            <a:r>
              <a:rPr lang="en-US" sz="1050" dirty="0">
                <a:solidFill>
                  <a:srgbClr val="FFFFFF"/>
                </a:solidFill>
                <a:latin typeface="Arial" pitchFamily="34" charset="0"/>
                <a:ea typeface="Arial" pitchFamily="34" charset="-122"/>
                <a:cs typeface="Arial" pitchFamily="34" charset="-120"/>
              </a:rPr>
              <a:t>• Departure 2: July 12 - 17, 2027   (Summit Extension through July 19)</a:t>
            </a:r>
            <a:endParaRPr lang="en-US" sz="1050" dirty="0"/>
          </a:p>
          <a:p>
            <a:pPr indent="0" marL="0">
              <a:lnSpc>
                <a:spcPts val="1600"/>
              </a:lnSpc>
              <a:buNone/>
            </a:pPr>
            <a:r>
              <a:rPr lang="en-US" sz="1050" dirty="0">
                <a:solidFill>
                  <a:srgbClr val="FFFFFF"/>
                </a:solidFill>
                <a:latin typeface="Arial" pitchFamily="34" charset="0"/>
                <a:ea typeface="Arial" pitchFamily="34" charset="-122"/>
                <a:cs typeface="Arial" pitchFamily="34" charset="-120"/>
              </a:rPr>
              <a:t>• Departure 3: August 09 - 14, 2027 (Summit Extension through August 16)</a:t>
            </a:r>
            <a:endParaRPr lang="en-US" sz="1050" dirty="0"/>
          </a:p>
          <a:p>
            <a:pPr indent="0" marL="0">
              <a:lnSpc>
                <a:spcPts val="1600"/>
              </a:lnSpc>
              <a:buNone/>
            </a:pPr>
            <a:r>
              <a:rPr lang="en-US" sz="1050" dirty="0">
                <a:solidFill>
                  <a:srgbClr val="FFFFFF"/>
                </a:solidFill>
                <a:latin typeface="Arial" pitchFamily="34" charset="0"/>
                <a:ea typeface="Arial" pitchFamily="34" charset="-122"/>
                <a:cs typeface="Arial" pitchFamily="34" charset="-120"/>
              </a:rPr>
              <a:t>• Departure 4: September 06 - 11, 2027 (Summit Extension through September 13)</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2ED"/>
        </a:solidFill>
      </p:bgPr>
    </p:bg>
    <p:spTree>
      <p:nvGrpSpPr>
        <p:cNvPr id="1" name=""/>
        <p:cNvGrpSpPr/>
        <p:nvPr/>
      </p:nvGrpSpPr>
      <p:grpSpPr>
        <a:xfrm>
          <a:off x="0" y="0"/>
          <a:ext cx="0" cy="0"/>
          <a:chOff x="0" y="0"/>
          <a:chExt cx="0" cy="0"/>
        </a:xfrm>
      </p:grpSpPr>
      <p:sp>
        <p:nvSpPr>
          <p:cNvPr id="2" name="Text 0"/>
          <p:cNvSpPr/>
          <p:nvPr/>
        </p:nvSpPr>
        <p:spPr>
          <a:xfrm>
            <a:off x="731520" y="457200"/>
            <a:ext cx="7315200" cy="274320"/>
          </a:xfrm>
          <a:prstGeom prst="rect">
            <a:avLst/>
          </a:prstGeom>
          <a:noFill/>
          <a:ln/>
        </p:spPr>
        <p:txBody>
          <a:bodyPr wrap="square" rtlCol="0" anchor="ctr"/>
          <a:lstStyle/>
          <a:p>
            <a:pPr indent="0" marL="0">
              <a:buNone/>
            </a:pPr>
            <a:r>
              <a:rPr lang="en-US" sz="1000" b="1" spc="300" kern="0" dirty="0">
                <a:solidFill>
                  <a:srgbClr val="666666"/>
                </a:solidFill>
                <a:latin typeface="Arial" pitchFamily="34" charset="0"/>
                <a:ea typeface="Arial" pitchFamily="34" charset="-122"/>
                <a:cs typeface="Arial" pitchFamily="34" charset="-120"/>
              </a:rPr>
              <a:t>PRICING &amp; TERMS</a:t>
            </a:r>
            <a:endParaRPr lang="en-US" sz="1000" dirty="0"/>
          </a:p>
        </p:txBody>
      </p:sp>
      <p:sp>
        <p:nvSpPr>
          <p:cNvPr id="3" name="Text 1"/>
          <p:cNvSpPr/>
          <p:nvPr/>
        </p:nvSpPr>
        <p:spPr>
          <a:xfrm>
            <a:off x="731520" y="777240"/>
            <a:ext cx="10515600" cy="731520"/>
          </a:xfrm>
          <a:prstGeom prst="rect">
            <a:avLst/>
          </a:prstGeom>
          <a:noFill/>
          <a:ln/>
        </p:spPr>
        <p:txBody>
          <a:bodyPr wrap="square" rtlCol="0" anchor="ctr"/>
          <a:lstStyle/>
          <a:p>
            <a:pPr indent="0" marL="0">
              <a:buNone/>
            </a:pPr>
            <a:r>
              <a:rPr lang="en-US" sz="2600" b="1" dirty="0">
                <a:solidFill>
                  <a:srgbClr val="111111"/>
                </a:solidFill>
                <a:latin typeface="Georgia" pitchFamily="34" charset="0"/>
                <a:ea typeface="Georgia" pitchFamily="34" charset="-122"/>
                <a:cs typeface="Georgia" pitchFamily="34" charset="-120"/>
              </a:rPr>
              <a:t>Investment &amp; Expedition Inclusions</a:t>
            </a:r>
            <a:endParaRPr lang="en-US" sz="2600" dirty="0"/>
          </a:p>
        </p:txBody>
      </p:sp>
      <p:sp>
        <p:nvSpPr>
          <p:cNvPr id="4" name="Shape 2"/>
          <p:cNvSpPr/>
          <p:nvPr/>
        </p:nvSpPr>
        <p:spPr>
          <a:xfrm>
            <a:off x="731520" y="1645920"/>
            <a:ext cx="4389120" cy="4389120"/>
          </a:xfrm>
          <a:prstGeom prst="rect">
            <a:avLst/>
          </a:prstGeom>
          <a:solidFill>
            <a:srgbClr val="FFFFFF"/>
          </a:solidFill>
          <a:ln w="12700">
            <a:solidFill>
              <a:srgbClr val="DDD9CF"/>
            </a:solidFill>
            <a:prstDash val="solid"/>
          </a:ln>
        </p:spPr>
      </p:sp>
      <p:sp>
        <p:nvSpPr>
          <p:cNvPr id="5" name="Text 3"/>
          <p:cNvSpPr/>
          <p:nvPr/>
        </p:nvSpPr>
        <p:spPr>
          <a:xfrm>
            <a:off x="1097280" y="1920240"/>
            <a:ext cx="3657600" cy="274320"/>
          </a:xfrm>
          <a:prstGeom prst="rect">
            <a:avLst/>
          </a:prstGeom>
          <a:noFill/>
          <a:ln/>
        </p:spPr>
        <p:txBody>
          <a:bodyPr wrap="square" rtlCol="0" anchor="ctr"/>
          <a:lstStyle/>
          <a:p>
            <a:pPr indent="0" marL="0">
              <a:buNone/>
            </a:pPr>
            <a:r>
              <a:rPr lang="en-US" sz="900" b="1" spc="200" kern="0" dirty="0">
                <a:solidFill>
                  <a:srgbClr val="C69255"/>
                </a:solidFill>
                <a:latin typeface="Arial" pitchFamily="34" charset="0"/>
                <a:ea typeface="Arial" pitchFamily="34" charset="-122"/>
                <a:cs typeface="Arial" pitchFamily="34" charset="-120"/>
              </a:rPr>
              <a:t>OFFICIAL RATE</a:t>
            </a:r>
            <a:endParaRPr lang="en-US" sz="900" dirty="0"/>
          </a:p>
        </p:txBody>
      </p:sp>
      <p:sp>
        <p:nvSpPr>
          <p:cNvPr id="6" name="Text 4"/>
          <p:cNvSpPr/>
          <p:nvPr/>
        </p:nvSpPr>
        <p:spPr>
          <a:xfrm>
            <a:off x="1097280" y="2240280"/>
            <a:ext cx="3657600" cy="731520"/>
          </a:xfrm>
          <a:prstGeom prst="rect">
            <a:avLst/>
          </a:prstGeom>
          <a:noFill/>
          <a:ln/>
        </p:spPr>
        <p:txBody>
          <a:bodyPr wrap="square" rtlCol="0" anchor="ctr"/>
          <a:lstStyle/>
          <a:p>
            <a:pPr indent="0" marL="0">
              <a:buNone/>
            </a:pPr>
            <a:r>
              <a:rPr lang="en-US" sz="3400" b="1" dirty="0">
                <a:solidFill>
                  <a:srgbClr val="111111"/>
                </a:solidFill>
                <a:latin typeface="Georgia" pitchFamily="34" charset="0"/>
                <a:ea typeface="Georgia" pitchFamily="34" charset="-122"/>
                <a:cs typeface="Georgia" pitchFamily="34" charset="-120"/>
              </a:rPr>
              <a:t>USD 8,900</a:t>
            </a:r>
            <a:endParaRPr lang="en-US" sz="3400" dirty="0"/>
          </a:p>
        </p:txBody>
      </p:sp>
      <p:sp>
        <p:nvSpPr>
          <p:cNvPr id="7" name="Text 5"/>
          <p:cNvSpPr/>
          <p:nvPr/>
        </p:nvSpPr>
        <p:spPr>
          <a:xfrm>
            <a:off x="1097280" y="2971800"/>
            <a:ext cx="3657600" cy="548640"/>
          </a:xfrm>
          <a:prstGeom prst="rect">
            <a:avLst/>
          </a:prstGeom>
          <a:noFill/>
          <a:ln/>
        </p:spPr>
        <p:txBody>
          <a:bodyPr wrap="square" rtlCol="0" anchor="ctr"/>
          <a:lstStyle/>
          <a:p>
            <a:pPr indent="0" marL="0">
              <a:buNone/>
            </a:pPr>
            <a:r>
              <a:rPr lang="en-US" sz="1100" dirty="0">
                <a:solidFill>
                  <a:srgbClr val="666666"/>
                </a:solidFill>
                <a:latin typeface="Arial" pitchFamily="34" charset="0"/>
                <a:ea typeface="Arial" pitchFamily="34" charset="-122"/>
                <a:cs typeface="Arial" pitchFamily="34" charset="-120"/>
              </a:rPr>
              <a:t>Per person based on double occupancy</a:t>
            </a:r>
            <a:endParaRPr lang="en-US" sz="1100" dirty="0"/>
          </a:p>
          <a:p>
            <a:pPr indent="0" marL="0">
              <a:buNone/>
            </a:pPr>
            <a:r>
              <a:rPr lang="en-US" sz="1100" dirty="0">
                <a:solidFill>
                  <a:srgbClr val="666666"/>
                </a:solidFill>
                <a:latin typeface="Arial" pitchFamily="34" charset="0"/>
                <a:ea typeface="Arial" pitchFamily="34" charset="-122"/>
                <a:cs typeface="Arial" pitchFamily="34" charset="-120"/>
              </a:rPr>
              <a:t>6 Days / 5 Nights Program</a:t>
            </a:r>
            <a:endParaRPr lang="en-US" sz="1100" dirty="0"/>
          </a:p>
        </p:txBody>
      </p:sp>
      <p:sp>
        <p:nvSpPr>
          <p:cNvPr id="8" name="Shape 6"/>
          <p:cNvSpPr/>
          <p:nvPr/>
        </p:nvSpPr>
        <p:spPr>
          <a:xfrm>
            <a:off x="1097280" y="3657600"/>
            <a:ext cx="3657600" cy="18288"/>
          </a:xfrm>
          <a:prstGeom prst="rect">
            <a:avLst/>
          </a:prstGeom>
          <a:solidFill>
            <a:srgbClr val="E5E2DA"/>
          </a:solidFill>
          <a:ln w="12700">
            <a:solidFill>
              <a:srgbClr val="E5E2DA"/>
            </a:solidFill>
            <a:prstDash val="solid"/>
          </a:ln>
        </p:spPr>
      </p:sp>
      <p:sp>
        <p:nvSpPr>
          <p:cNvPr id="9" name="Text 7"/>
          <p:cNvSpPr/>
          <p:nvPr/>
        </p:nvSpPr>
        <p:spPr>
          <a:xfrm>
            <a:off x="1097280" y="3840480"/>
            <a:ext cx="3657600" cy="274320"/>
          </a:xfrm>
          <a:prstGeom prst="rect">
            <a:avLst/>
          </a:prstGeom>
          <a:noFill/>
          <a:ln/>
        </p:spPr>
        <p:txBody>
          <a:bodyPr wrap="square" rtlCol="0" anchor="ctr"/>
          <a:lstStyle/>
          <a:p>
            <a:pPr indent="0" marL="0">
              <a:buNone/>
            </a:pPr>
            <a:r>
              <a:rPr lang="en-US" sz="900" b="1" dirty="0">
                <a:solidFill>
                  <a:srgbClr val="C69255"/>
                </a:solidFill>
                <a:latin typeface="Arial" pitchFamily="34" charset="0"/>
                <a:ea typeface="Arial" pitchFamily="34" charset="-122"/>
                <a:cs typeface="Arial" pitchFamily="34" charset="-120"/>
              </a:rPr>
              <a:t>OPTIONAL HIGH MOUNTAIN EXTENSION:</a:t>
            </a:r>
            <a:endParaRPr lang="en-US" sz="900" dirty="0"/>
          </a:p>
        </p:txBody>
      </p:sp>
      <p:sp>
        <p:nvSpPr>
          <p:cNvPr id="10" name="Text 8"/>
          <p:cNvSpPr/>
          <p:nvPr/>
        </p:nvSpPr>
        <p:spPr>
          <a:xfrm>
            <a:off x="1097280" y="4114800"/>
            <a:ext cx="3657600" cy="731520"/>
          </a:xfrm>
          <a:prstGeom prst="rect">
            <a:avLst/>
          </a:prstGeom>
          <a:noFill/>
          <a:ln/>
        </p:spPr>
        <p:txBody>
          <a:bodyPr wrap="square" rtlCol="0" anchor="ctr"/>
          <a:lstStyle/>
          <a:p>
            <a:pPr indent="0" marL="0">
              <a:lnSpc>
                <a:spcPts val="1600"/>
              </a:lnSpc>
              <a:buNone/>
            </a:pPr>
            <a:r>
              <a:rPr lang="en-US" sz="1050" dirty="0">
                <a:solidFill>
                  <a:srgbClr val="444444"/>
                </a:solidFill>
                <a:latin typeface="Arial" pitchFamily="34" charset="0"/>
                <a:ea typeface="Arial" pitchFamily="34" charset="-122"/>
                <a:cs typeface="Arial" pitchFamily="34" charset="-120"/>
              </a:rPr>
              <a:t>USD 2,850 additional per person</a:t>
            </a:r>
            <a:endParaRPr lang="en-US" sz="1050" dirty="0"/>
          </a:p>
          <a:p>
            <a:pPr indent="0" marL="0">
              <a:lnSpc>
                <a:spcPts val="1600"/>
              </a:lnSpc>
              <a:buNone/>
            </a:pPr>
            <a:r>
              <a:rPr lang="en-US" sz="1050" dirty="0">
                <a:solidFill>
                  <a:srgbClr val="444444"/>
                </a:solidFill>
                <a:latin typeface="Arial" pitchFamily="34" charset="0"/>
                <a:ea typeface="Arial" pitchFamily="34" charset="-122"/>
                <a:cs typeface="Arial" pitchFamily="34" charset="-120"/>
              </a:rPr>
              <a:t>Includes 2 nights, refuge stay, summit gear, and UIAGM 1:2 guide ratio</a:t>
            </a:r>
            <a:endParaRPr lang="en-US" sz="1050" dirty="0"/>
          </a:p>
        </p:txBody>
      </p:sp>
      <p:sp>
        <p:nvSpPr>
          <p:cNvPr id="11" name="Shape 9"/>
          <p:cNvSpPr/>
          <p:nvPr/>
        </p:nvSpPr>
        <p:spPr>
          <a:xfrm>
            <a:off x="5486400" y="1645920"/>
            <a:ext cx="5943600" cy="4389120"/>
          </a:xfrm>
          <a:prstGeom prst="rect">
            <a:avLst/>
          </a:prstGeom>
          <a:solidFill>
            <a:srgbClr val="FFFFFF"/>
          </a:solidFill>
          <a:ln w="12700">
            <a:solidFill>
              <a:srgbClr val="DDD9CF"/>
            </a:solidFill>
            <a:prstDash val="solid"/>
          </a:ln>
        </p:spPr>
      </p:sp>
      <p:sp>
        <p:nvSpPr>
          <p:cNvPr id="12" name="Text 10"/>
          <p:cNvSpPr/>
          <p:nvPr/>
        </p:nvSpPr>
        <p:spPr>
          <a:xfrm>
            <a:off x="5852160" y="1920240"/>
            <a:ext cx="5212080" cy="274320"/>
          </a:xfrm>
          <a:prstGeom prst="rect">
            <a:avLst/>
          </a:prstGeom>
          <a:noFill/>
          <a:ln/>
        </p:spPr>
        <p:txBody>
          <a:bodyPr wrap="square" rtlCol="0" anchor="ctr"/>
          <a:lstStyle/>
          <a:p>
            <a:pPr indent="0" marL="0">
              <a:buNone/>
            </a:pPr>
            <a:r>
              <a:rPr lang="en-US" sz="900" b="1" spc="200" kern="0" dirty="0">
                <a:solidFill>
                  <a:srgbClr val="C69255"/>
                </a:solidFill>
                <a:latin typeface="Arial" pitchFamily="34" charset="0"/>
                <a:ea typeface="Arial" pitchFamily="34" charset="-122"/>
                <a:cs typeface="Arial" pitchFamily="34" charset="-120"/>
              </a:rPr>
              <a:t>SERVICES BREAKDOWN</a:t>
            </a:r>
            <a:endParaRPr lang="en-US" sz="900" dirty="0"/>
          </a:p>
        </p:txBody>
      </p:sp>
      <p:sp>
        <p:nvSpPr>
          <p:cNvPr id="13" name="Text 11"/>
          <p:cNvSpPr/>
          <p:nvPr/>
        </p:nvSpPr>
        <p:spPr>
          <a:xfrm>
            <a:off x="5852160" y="2286000"/>
            <a:ext cx="5212080" cy="274320"/>
          </a:xfrm>
          <a:prstGeom prst="rect">
            <a:avLst/>
          </a:prstGeom>
          <a:noFill/>
          <a:ln/>
        </p:spPr>
        <p:txBody>
          <a:bodyPr wrap="square" rtlCol="0" anchor="ctr"/>
          <a:lstStyle/>
          <a:p>
            <a:pPr indent="0" marL="0">
              <a:buNone/>
            </a:pPr>
            <a:r>
              <a:rPr lang="en-US" sz="1100" b="1" dirty="0">
                <a:solidFill>
                  <a:srgbClr val="111111"/>
                </a:solidFill>
                <a:latin typeface="Arial" pitchFamily="34" charset="0"/>
                <a:ea typeface="Arial" pitchFamily="34" charset="-122"/>
                <a:cs typeface="Arial" pitchFamily="34" charset="-120"/>
              </a:rPr>
              <a:t>INCLUDED:</a:t>
            </a:r>
            <a:endParaRPr lang="en-US" sz="1100" dirty="0"/>
          </a:p>
        </p:txBody>
      </p:sp>
      <p:sp>
        <p:nvSpPr>
          <p:cNvPr id="14" name="Text 12"/>
          <p:cNvSpPr/>
          <p:nvPr/>
        </p:nvSpPr>
        <p:spPr>
          <a:xfrm>
            <a:off x="5852160" y="2606040"/>
            <a:ext cx="5212080" cy="2103120"/>
          </a:xfrm>
          <a:prstGeom prst="rect">
            <a:avLst/>
          </a:prstGeom>
          <a:noFill/>
          <a:ln/>
        </p:spPr>
        <p:txBody>
          <a:bodyPr wrap="square" rtlCol="0" anchor="ctr"/>
          <a:lstStyle/>
          <a:p>
            <a:pPr indent="0" marL="0">
              <a:lnSpc>
                <a:spcPts val="1500"/>
              </a:lnSpc>
              <a:buNone/>
            </a:pPr>
            <a:r>
              <a:rPr lang="en-US" sz="1000" dirty="0">
                <a:solidFill>
                  <a:srgbClr val="444444"/>
                </a:solidFill>
                <a:latin typeface="Arial" pitchFamily="34" charset="0"/>
                <a:ea typeface="Arial" pitchFamily="34" charset="-122"/>
                <a:cs typeface="Arial" pitchFamily="34" charset="-120"/>
              </a:rPr>
              <a:t>• All private 4WD ground transfers to/from Anta Airport</a:t>
            </a:r>
            <a:endParaRPr lang="en-US" sz="1000" dirty="0"/>
          </a:p>
          <a:p>
            <a:pPr indent="0" marL="0">
              <a:lnSpc>
                <a:spcPts val="1500"/>
              </a:lnSpc>
              <a:buNone/>
            </a:pPr>
            <a:r>
              <a:rPr lang="en-US" sz="1000" dirty="0">
                <a:solidFill>
                  <a:srgbClr val="444444"/>
                </a:solidFill>
                <a:latin typeface="Arial" pitchFamily="34" charset="0"/>
                <a:ea typeface="Arial" pitchFamily="34" charset="-122"/>
                <a:cs typeface="Arial" pitchFamily="34" charset="-120"/>
              </a:rPr>
              <a:t>• 5 nights accommodation in curated boutique mountain lodges</a:t>
            </a:r>
            <a:endParaRPr lang="en-US" sz="1000" dirty="0"/>
          </a:p>
          <a:p>
            <a:pPr indent="0" marL="0">
              <a:lnSpc>
                <a:spcPts val="1500"/>
              </a:lnSpc>
              <a:buNone/>
            </a:pPr>
            <a:r>
              <a:rPr lang="en-US" sz="1000" dirty="0">
                <a:solidFill>
                  <a:srgbClr val="444444"/>
                </a:solidFill>
                <a:latin typeface="Arial" pitchFamily="34" charset="0"/>
                <a:ea typeface="Arial" pitchFamily="34" charset="-122"/>
                <a:cs typeface="Arial" pitchFamily="34" charset="-120"/>
              </a:rPr>
              <a:t>• Full board: daily breakfasts, trail box lunches, and curated multi-course lodge dinners</a:t>
            </a:r>
            <a:endParaRPr lang="en-US" sz="1000" dirty="0"/>
          </a:p>
          <a:p>
            <a:pPr indent="0" marL="0">
              <a:lnSpc>
                <a:spcPts val="1500"/>
              </a:lnSpc>
              <a:buNone/>
            </a:pPr>
            <a:r>
              <a:rPr lang="en-US" sz="1000" dirty="0">
                <a:solidFill>
                  <a:srgbClr val="444444"/>
                </a:solidFill>
                <a:latin typeface="Arial" pitchFamily="34" charset="0"/>
                <a:ea typeface="Arial" pitchFamily="34" charset="-122"/>
                <a:cs typeface="Arial" pitchFamily="34" charset="-120"/>
              </a:rPr>
              <a:t>• Curated daily explorations (active alpine hikes, botanical walks, gravel bike routes, cultural visits)</a:t>
            </a:r>
            <a:endParaRPr lang="en-US" sz="1000" dirty="0"/>
          </a:p>
          <a:p>
            <a:pPr indent="0" marL="0">
              <a:lnSpc>
                <a:spcPts val="1500"/>
              </a:lnSpc>
              <a:buNone/>
            </a:pPr>
            <a:r>
              <a:rPr lang="en-US" sz="1000" dirty="0">
                <a:solidFill>
                  <a:srgbClr val="444444"/>
                </a:solidFill>
                <a:latin typeface="Arial" pitchFamily="34" charset="0"/>
                <a:ea typeface="Arial" pitchFamily="34" charset="-122"/>
                <a:cs typeface="Arial" pitchFamily="34" charset="-120"/>
              </a:rPr>
              <a:t>• Bilingual Explora expedition guides and certified local specialists</a:t>
            </a:r>
            <a:endParaRPr lang="en-US" sz="1000" dirty="0"/>
          </a:p>
          <a:p>
            <a:pPr indent="0" marL="0">
              <a:lnSpc>
                <a:spcPts val="1500"/>
              </a:lnSpc>
              <a:buNone/>
            </a:pPr>
            <a:r>
              <a:rPr lang="en-US" sz="1000" dirty="0">
                <a:solidFill>
                  <a:srgbClr val="444444"/>
                </a:solidFill>
                <a:latin typeface="Arial" pitchFamily="34" charset="0"/>
                <a:ea typeface="Arial" pitchFamily="34" charset="-122"/>
                <a:cs typeface="Arial" pitchFamily="34" charset="-120"/>
              </a:rPr>
              <a:t>• Full exploration gear: trekking poles, bikes, helmets, medical oxygen, and first aid</a:t>
            </a:r>
            <a:endParaRPr lang="en-US" sz="1000" dirty="0"/>
          </a:p>
          <a:p>
            <a:pPr indent="0" marL="0">
              <a:lnSpc>
                <a:spcPts val="1500"/>
              </a:lnSpc>
              <a:buNone/>
            </a:pPr>
            <a:r>
              <a:rPr lang="en-US" sz="1000" dirty="0">
                <a:solidFill>
                  <a:srgbClr val="444444"/>
                </a:solidFill>
                <a:latin typeface="Arial" pitchFamily="34" charset="0"/>
                <a:ea typeface="Arial" pitchFamily="34" charset="-122"/>
                <a:cs typeface="Arial" pitchFamily="34" charset="-120"/>
              </a:rPr>
              <a:t>• National park entrance fees and community conservation permits</a:t>
            </a:r>
            <a:endParaRPr lang="en-US" sz="1000" dirty="0"/>
          </a:p>
          <a:p>
            <a:pPr indent="0" marL="0">
              <a:lnSpc>
                <a:spcPts val="1500"/>
              </a:lnSpc>
              <a:buNone/>
            </a:pPr>
            <a:r>
              <a:rPr lang="en-US" sz="1000" dirty="0">
                <a:solidFill>
                  <a:srgbClr val="444444"/>
                </a:solidFill>
                <a:latin typeface="Arial" pitchFamily="34" charset="0"/>
                <a:ea typeface="Arial" pitchFamily="34" charset="-122"/>
                <a:cs typeface="Arial" pitchFamily="34" charset="-120"/>
              </a:rPr>
              <a:t>• Direct social contribution to the Don Bosco Artisans Foundation in Chacas</a:t>
            </a:r>
            <a:endParaRPr lang="en-US" sz="1000" dirty="0"/>
          </a:p>
        </p:txBody>
      </p:sp>
      <p:sp>
        <p:nvSpPr>
          <p:cNvPr id="15" name="Text 13"/>
          <p:cNvSpPr/>
          <p:nvPr/>
        </p:nvSpPr>
        <p:spPr>
          <a:xfrm>
            <a:off x="5852160" y="4800600"/>
            <a:ext cx="5212080" cy="228600"/>
          </a:xfrm>
          <a:prstGeom prst="rect">
            <a:avLst/>
          </a:prstGeom>
          <a:noFill/>
          <a:ln/>
        </p:spPr>
        <p:txBody>
          <a:bodyPr wrap="square" rtlCol="0" anchor="ctr"/>
          <a:lstStyle/>
          <a:p>
            <a:pPr indent="0" marL="0">
              <a:buNone/>
            </a:pPr>
            <a:r>
              <a:rPr lang="en-US" sz="1050" b="1" dirty="0">
                <a:solidFill>
                  <a:srgbClr val="111111"/>
                </a:solidFill>
                <a:latin typeface="Arial" pitchFamily="34" charset="0"/>
                <a:ea typeface="Arial" pitchFamily="34" charset="-122"/>
                <a:cs typeface="Arial" pitchFamily="34" charset="-120"/>
              </a:rPr>
              <a:t>NOT INCLUDED:</a:t>
            </a:r>
            <a:endParaRPr lang="en-US" sz="1050" dirty="0"/>
          </a:p>
        </p:txBody>
      </p:sp>
      <p:sp>
        <p:nvSpPr>
          <p:cNvPr id="16" name="Text 14"/>
          <p:cNvSpPr/>
          <p:nvPr/>
        </p:nvSpPr>
        <p:spPr>
          <a:xfrm>
            <a:off x="5852160" y="5029200"/>
            <a:ext cx="5212080" cy="822960"/>
          </a:xfrm>
          <a:prstGeom prst="rect">
            <a:avLst/>
          </a:prstGeom>
          <a:noFill/>
          <a:ln/>
        </p:spPr>
        <p:txBody>
          <a:bodyPr wrap="square" rtlCol="0" anchor="ctr"/>
          <a:lstStyle/>
          <a:p>
            <a:pPr indent="0" marL="0">
              <a:lnSpc>
                <a:spcPts val="1400"/>
              </a:lnSpc>
              <a:buNone/>
            </a:pPr>
            <a:r>
              <a:rPr lang="en-US" sz="950" dirty="0">
                <a:solidFill>
                  <a:srgbClr val="666666"/>
                </a:solidFill>
                <a:latin typeface="Arial" pitchFamily="34" charset="0"/>
                <a:ea typeface="Arial" pitchFamily="34" charset="-122"/>
                <a:cs typeface="Arial" pitchFamily="34" charset="-120"/>
              </a:rPr>
              <a:t>• Commercial flights Lima - Anta - Lima</a:t>
            </a:r>
            <a:endParaRPr lang="en-US" sz="950" dirty="0"/>
          </a:p>
          <a:p>
            <a:pPr indent="0" marL="0">
              <a:lnSpc>
                <a:spcPts val="1400"/>
              </a:lnSpc>
              <a:buNone/>
            </a:pPr>
            <a:r>
              <a:rPr lang="en-US" sz="950" dirty="0">
                <a:solidFill>
                  <a:srgbClr val="666666"/>
                </a:solidFill>
                <a:latin typeface="Arial" pitchFamily="34" charset="0"/>
                <a:ea typeface="Arial" pitchFamily="34" charset="-122"/>
                <a:cs typeface="Arial" pitchFamily="34" charset="-120"/>
              </a:rPr>
              <a:t>• Travel insurance with high-altitude medical evacuation coverage (mandatory)</a:t>
            </a:r>
            <a:endParaRPr lang="en-US" sz="950" dirty="0"/>
          </a:p>
          <a:p>
            <a:pPr indent="0" marL="0">
              <a:lnSpc>
                <a:spcPts val="1400"/>
              </a:lnSpc>
              <a:buNone/>
            </a:pPr>
            <a:r>
              <a:rPr lang="en-US" sz="950" dirty="0">
                <a:solidFill>
                  <a:srgbClr val="666666"/>
                </a:solidFill>
                <a:latin typeface="Arial" pitchFamily="34" charset="0"/>
                <a:ea typeface="Arial" pitchFamily="34" charset="-122"/>
                <a:cs typeface="Arial" pitchFamily="34" charset="-120"/>
              </a:rPr>
              <a:t>• Discretionary gratuities and personal lodge extras</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731520" y="1371600"/>
            <a:ext cx="1828800" cy="1097280"/>
          </a:xfrm>
          <a:prstGeom prst="rect">
            <a:avLst/>
          </a:prstGeom>
          <a:noFill/>
          <a:ln/>
        </p:spPr>
        <p:txBody>
          <a:bodyPr wrap="square" rtlCol="0" anchor="ctr"/>
          <a:lstStyle/>
          <a:p>
            <a:pPr indent="0" marL="0">
              <a:lnSpc>
                <a:spcPts val="1800"/>
              </a:lnSpc>
              <a:buNone/>
            </a:pPr>
            <a:r>
              <a:rPr lang="en-US" sz="1400" b="1" spc="600" kern="0" dirty="0">
                <a:solidFill>
                  <a:srgbClr val="FFFFFF"/>
                </a:solidFill>
                <a:latin typeface="Arial" pitchFamily="34" charset="0"/>
                <a:ea typeface="Arial" pitchFamily="34" charset="-122"/>
                <a:cs typeface="Arial" pitchFamily="34" charset="-120"/>
              </a:rPr>
              <a:t>E X</a:t>
            </a:r>
            <a:endParaRPr lang="en-US" sz="1400" dirty="0"/>
          </a:p>
          <a:p>
            <a:pPr indent="0" marL="0">
              <a:lnSpc>
                <a:spcPts val="1800"/>
              </a:lnSpc>
              <a:buNone/>
            </a:pPr>
            <a:r>
              <a:rPr lang="en-US" sz="1400" b="1" spc="600" kern="0" dirty="0">
                <a:solidFill>
                  <a:srgbClr val="FFFFFF"/>
                </a:solidFill>
                <a:latin typeface="Arial" pitchFamily="34" charset="0"/>
                <a:ea typeface="Arial" pitchFamily="34" charset="-122"/>
                <a:cs typeface="Arial" pitchFamily="34" charset="-120"/>
              </a:rPr>
              <a:t>P L O</a:t>
            </a:r>
            <a:endParaRPr lang="en-US" sz="1400" dirty="0"/>
          </a:p>
          <a:p>
            <a:pPr indent="0" marL="0">
              <a:lnSpc>
                <a:spcPts val="1800"/>
              </a:lnSpc>
              <a:buNone/>
            </a:pPr>
            <a:r>
              <a:rPr lang="en-US" sz="1400" b="1" spc="600" kern="0" dirty="0">
                <a:solidFill>
                  <a:srgbClr val="FFFFFF"/>
                </a:solidFill>
                <a:latin typeface="Arial" pitchFamily="34" charset="0"/>
                <a:ea typeface="Arial" pitchFamily="34" charset="-122"/>
                <a:cs typeface="Arial" pitchFamily="34" charset="-120"/>
              </a:rPr>
              <a:t>R A</a:t>
            </a:r>
            <a:endParaRPr lang="en-US" sz="1400" dirty="0"/>
          </a:p>
        </p:txBody>
      </p:sp>
      <p:sp>
        <p:nvSpPr>
          <p:cNvPr id="3" name="Text 1"/>
          <p:cNvSpPr/>
          <p:nvPr/>
        </p:nvSpPr>
        <p:spPr>
          <a:xfrm>
            <a:off x="731520" y="2743200"/>
            <a:ext cx="10515600" cy="1097280"/>
          </a:xfrm>
          <a:prstGeom prst="rect">
            <a:avLst/>
          </a:prstGeom>
          <a:noFill/>
          <a:ln/>
        </p:spPr>
        <p:txBody>
          <a:bodyPr wrap="square" rtlCol="0" anchor="ctr"/>
          <a:lstStyle/>
          <a:p>
            <a:pPr indent="0" marL="0">
              <a:buNone/>
            </a:pPr>
            <a:r>
              <a:rPr lang="en-US" sz="4400" i="1" dirty="0">
                <a:solidFill>
                  <a:srgbClr val="FFFFFF"/>
                </a:solidFill>
                <a:latin typeface="Georgia" pitchFamily="34" charset="0"/>
                <a:ea typeface="Georgia" pitchFamily="34" charset="-122"/>
                <a:cs typeface="Georgia" pitchFamily="34" charset="-120"/>
              </a:rPr>
              <a:t>Allian shamushqa kapay.</a:t>
            </a:r>
            <a:endParaRPr lang="en-US" sz="4400" dirty="0"/>
          </a:p>
        </p:txBody>
      </p:sp>
      <p:sp>
        <p:nvSpPr>
          <p:cNvPr id="4" name="Text 2"/>
          <p:cNvSpPr/>
          <p:nvPr/>
        </p:nvSpPr>
        <p:spPr>
          <a:xfrm>
            <a:off x="731520" y="3931920"/>
            <a:ext cx="9144000" cy="365760"/>
          </a:xfrm>
          <a:prstGeom prst="rect">
            <a:avLst/>
          </a:prstGeom>
          <a:noFill/>
          <a:ln/>
        </p:spPr>
        <p:txBody>
          <a:bodyPr wrap="square" rtlCol="0" anchor="ctr"/>
          <a:lstStyle/>
          <a:p>
            <a:pPr indent="0" marL="0">
              <a:buNone/>
            </a:pPr>
            <a:r>
              <a:rPr lang="en-US" sz="1400" dirty="0">
                <a:solidFill>
                  <a:srgbClr val="C69255"/>
                </a:solidFill>
                <a:latin typeface="Arial" pitchFamily="34" charset="0"/>
                <a:ea typeface="Arial" pitchFamily="34" charset="-122"/>
                <a:cs typeface="Arial" pitchFamily="34" charset="-120"/>
              </a:rPr>
              <a:t>("Welcome with an open heart" — Ancash Quechua greeting)</a:t>
            </a:r>
            <a:endParaRPr lang="en-US" sz="1400" dirty="0"/>
          </a:p>
        </p:txBody>
      </p:sp>
      <p:sp>
        <p:nvSpPr>
          <p:cNvPr id="5" name="Text 3"/>
          <p:cNvSpPr/>
          <p:nvPr/>
        </p:nvSpPr>
        <p:spPr>
          <a:xfrm>
            <a:off x="731520" y="5303520"/>
            <a:ext cx="10058400" cy="365760"/>
          </a:xfrm>
          <a:prstGeom prst="rect">
            <a:avLst/>
          </a:prstGeom>
          <a:noFill/>
          <a:ln/>
        </p:spPr>
        <p:txBody>
          <a:bodyPr wrap="square" rtlCol="0" anchor="ctr"/>
          <a:lstStyle/>
          <a:p>
            <a:pPr indent="0" marL="0">
              <a:buNone/>
            </a:pPr>
            <a:r>
              <a:rPr lang="en-US" sz="1100" spc="200" kern="0" dirty="0">
                <a:solidFill>
                  <a:srgbClr val="8E8E93"/>
                </a:solidFill>
                <a:latin typeface="Arial" pitchFamily="34" charset="0"/>
                <a:ea typeface="Arial" pitchFamily="34" charset="-122"/>
                <a:cs typeface="Arial" pitchFamily="34" charset="-120"/>
              </a:rPr>
              <a:t>Explora Lodges and Expeditions  •  www.explora.com  •  expeditions@explora.com</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Explora Lodges and Expeditions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Explora Cordillera Blanca Expedition</dc:title>
  <dc:subject>Cordillera Blanca Expedition - Peru</dc:subject>
  <dc:creator>Explora Expeditions Team</dc:creator>
  <cp:lastModifiedBy>Explora Expeditions Team</cp:lastModifiedBy>
  <cp:revision>1</cp:revision>
  <dcterms:created xsi:type="dcterms:W3CDTF">2026-10-08T02:13:42Z</dcterms:created>
  <dcterms:modified xsi:type="dcterms:W3CDTF">2026-10-08T02:13:42Z</dcterms:modified>
</cp:coreProperties>
</file>