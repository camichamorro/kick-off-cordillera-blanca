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X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L O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Cordillera Blanca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Expedition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4754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Glacial Source to Fertile Valley: Ancient Ice, Arid Oases, and Living Andean Heritage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 THE EXPLORA EXPEDITIONS TEAM  •  6 DAYS / 5 NIGHTS  •  OPTIONAL 8-DAY GLACIAL SUMMIT EXTENSION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2011680"/>
            <a:ext cx="98755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“In the high Andes, water is not merely scenery;</a:t>
            </a:r>
            <a:endParaRPr lang="en-US" sz="2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ancient ice descending to animate an arid wilderness into life.”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97280" y="4206240"/>
            <a:ext cx="8961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exploration is never about admiring peaks from afar,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about traversing the living corridor where glacial source, ancestral canals, and community thrive.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Explora Expeditions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DESTINATION OVERVIEW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High-Andean Paradox: Where Glacial Melt Feeds an Arid Oasis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65836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10,000 feet above sea level, in an alpine landscape that feels deceptively arid and sun-scorched, Peru’s Cordillera Blanca holds an astonishing secret: Earth’s highest concentration of tropical glaciers, sustaining an uninterrupted corridor of fertility.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65836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Millennia-old meltwater feeds luminous turquoise moraine tarns, gravity-fed pre-Inca aqueducts, and terraced orchards cultivating export blueberries, strawberries, cut roses, and heritage potatoes.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expedition invites travelers to follow the glacial lifeline: from 20,000-foot summits down through cloud-forest slopes to the Quechua families who have mastered life with the runoff for centuries.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680960" y="1645920"/>
            <a:ext cx="37490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19202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UNRIVALED SCALE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46720" y="22860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71% of Earth’s tropical glaciers are located in Peru.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0" y="3200400"/>
            <a:ext cx="30175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UNESCO Biosphere Reserve &amp; World Heritage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30+ peaks soaring above 20,000 ft (6,000 m)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Microclimates sustaining commercial fruit &amp; flower farming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Native paper-bark Queñual (Polylepis) cloud woodlands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Living renaissance of master artisans in Chacas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VALUE PROPOSITION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Cordillera Blanca with Explora?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514600" cy="4389120"/>
          </a:xfrm>
          <a:prstGeom prst="rect">
            <a:avLst/>
          </a:prstGeom>
          <a:solidFill>
            <a:srgbClr val="1C1C1E"/>
          </a:solidFill>
          <a:ln w="12700">
            <a:solidFill>
              <a:srgbClr val="2C2C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692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2560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Monumental Alpine Scale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3474720"/>
            <a:ext cx="20116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Sheer granite massifs above 20,000 ft (Huascarán, Artesonraju, Huandoy). Glacial recessions and high-Andean geology unraveled alongside expert resident naturalist guides.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1645920"/>
            <a:ext cx="2514600" cy="4389120"/>
          </a:xfrm>
          <a:prstGeom prst="rect">
            <a:avLst/>
          </a:prstGeom>
          <a:solidFill>
            <a:srgbClr val="1C1C1E"/>
          </a:solidFill>
          <a:ln w="12700">
            <a:solidFill>
              <a:srgbClr val="2C2C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1920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692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657600" y="2560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Living Mountain Culture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0" y="3474720"/>
            <a:ext cx="20116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immersion: harvesting alongside Quechua growers in lodge orchards, studying ancestral aqueducts, and discovering the Renaissance ateliers of Chacas.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645920"/>
            <a:ext cx="2514600" cy="4389120"/>
          </a:xfrm>
          <a:prstGeom prst="rect">
            <a:avLst/>
          </a:prstGeom>
          <a:solidFill>
            <a:srgbClr val="1C1C1E"/>
          </a:solidFill>
          <a:ln w="12700">
            <a:solidFill>
              <a:srgbClr val="2C2C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920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692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355080" y="2560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 Beyond Mass Tourism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3474720"/>
            <a:ext cx="20116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Bypassing crowded lakefront viewpoints via remote high-moraine traverses at Laguna Parón, and entering pristine wilderness basins like Laguna 513 in complete silence.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23960" y="1645920"/>
            <a:ext cx="2514600" cy="4389120"/>
          </a:xfrm>
          <a:prstGeom prst="rect">
            <a:avLst/>
          </a:prstGeom>
          <a:solidFill>
            <a:srgbClr val="1C1C1E"/>
          </a:solidFill>
          <a:ln w="12700">
            <a:solidFill>
              <a:srgbClr val="2C2C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2560" y="1920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692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052560" y="2560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Trail Design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052560" y="3474720"/>
            <a:ext cx="20116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tiered options—from high-altitude moraine pushes and valley gravel cycling to quiet botanical walks—anchored in medical-grade acclimatization.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EXPEDITION GEOGRAPHY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Distinct Ecological Zones Across One Continental Divide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10698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FD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830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Callejón de Huaylas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21945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7,200 – 9,200 ft / 2,200 – 2,800 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663440" y="1783080"/>
            <a:ext cx="6492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Temperate inter-Andean valley shaped by the Santa River. Farmlands producing strawberries, blueberries, and export roses. Low-altitude base camps for restorative rest.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2788920"/>
            <a:ext cx="10698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FD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9260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Cordillera Negra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33375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11,800 – 13,800 ft / 3,600 – 4,200 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63440" y="2926080"/>
            <a:ext cx="6492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Snow-free volcanic mountain spine serving as a panoramic natural grandstand across from the white glaciers. Sanctuary of the colossal Puya raimondii plant.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3931920"/>
            <a:ext cx="10698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F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0690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Cordillera Blanca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44805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12,500 – 22,200 ft / 3,800 – 6,768 m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63440" y="4069080"/>
            <a:ext cx="6492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granite walls, hanging glaciers, paper-bark Polylepis woodlands, and milk-turquoise moraine tarns (Parón, Llanganuco, 513).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5074920"/>
            <a:ext cx="10698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FD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52120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Eastern Cloud Forests &amp; Chacas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56235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10,200 – 15,500 ft / 3,100 – 4,736 m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63440" y="5212080"/>
            <a:ext cx="6492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Trans-Andean pass through Punta Olímpica into the Amazonian watershed. Mist-shrouded slopes (ceja de selva), colonial cobblestones, and Don Bosco master workshops.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&amp; WILDERNESS MEDICINE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Science of Progressive Acclimatization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apply the mountain medicine rule of "Climb high, sleep low"—gaining elevation during daytime trail hours and descending to rest in oxygen-dense valley outposts.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468880"/>
          <a:ext cx="10698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926080"/>
                <a:gridCol w="2103120"/>
                <a:gridCol w="201168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692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692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Destination / Exploration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692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Peak Daytime Elevation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692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Overnight Sleep Elevation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692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Physiological Strategy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Anta Arrival / Santa Cruz Lodge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8,950 ft / 2,730 m (Airport)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7,380 ft / 2,250 m (Lodge)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E8E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Low-elevation landing and gentle rest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Cordillera Negra &amp; Puya Sanctuaries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12,950 ft / 3,950 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7,380 ft / 2,250 m (Lodge)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E8E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Daytime hypoxic stimulus, valley sleep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Laguna Parón High Moraine / Llanganuco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13,730 ft / 4,185 m (Parón)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8,200 ft / 2,500 m (Wayarumi)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E8E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Adapting to high moraine breathing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Laguna 513 Basin / Yungay Cycling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14,530 ft / 4,431 m (Laguna 513)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8,200 ft / 2,500 m (Wayarumi)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E8E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Peak physical endurance in solitude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Punta Olímpica Pass &amp; Chacas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15,530 ft / 4,736 m (Tunnel)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9,180 ft / 2,800 m (Cuesta Serena)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E8E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Trans-Andean pass &amp; cultural immersion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692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692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Llaca Alpine Refuge &amp; Vallunaraju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692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18,655 ft / 5,686 m (Summit)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692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14,665 ft / 4,470 m (Refuge)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692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Optional: technical glacier summit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EXPEDITION 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Itinerary Overview: 6 Days / 5 Nights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429000" cy="1920240"/>
          </a:xfrm>
          <a:prstGeom prst="rect">
            <a:avLst/>
          </a:prstGeom>
          <a:solidFill>
            <a:srgbClr val="1C1C1E"/>
          </a:solidFill>
          <a:ln w="12700">
            <a:solidFill>
              <a:srgbClr val="2A2A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Arrival &amp; Living Earth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83464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 / Santa Cruz Lodge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31546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Orchard harvest &amp; rural village walk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29000" cy="1920240"/>
          </a:xfrm>
          <a:prstGeom prst="rect">
            <a:avLst/>
          </a:prstGeom>
          <a:solidFill>
            <a:srgbClr val="1C1C1E"/>
          </a:solidFill>
          <a:ln w="12700">
            <a:solidFill>
              <a:srgbClr val="2A2A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17720" y="22860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Great Amphitheater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17720" y="283464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Cordillera Negra &amp; Puyas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17720" y="31546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Puya Raimondii &amp; evening fire circle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55280" y="1828800"/>
            <a:ext cx="3429000" cy="1920240"/>
          </a:xfrm>
          <a:prstGeom prst="rect">
            <a:avLst/>
          </a:prstGeom>
          <a:solidFill>
            <a:srgbClr val="1C1C1E"/>
          </a:solidFill>
          <a:ln w="12700">
            <a:solidFill>
              <a:srgbClr val="2A2A2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9600" y="22860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Glacial Mirrors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0" y="283464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Laguna Parón / Llanganuco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0" y="31546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Upper moraine traverse or Queñual woods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1520" y="3931920"/>
            <a:ext cx="3429000" cy="1920240"/>
          </a:xfrm>
          <a:prstGeom prst="rect">
            <a:avLst/>
          </a:prstGeom>
          <a:solidFill>
            <a:srgbClr val="1C1C1E"/>
          </a:solidFill>
          <a:ln w="12700">
            <a:solidFill>
              <a:srgbClr val="2A2A2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4114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05840" y="43891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Untouched Moraine Tarns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05840" y="49377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Laguna 513 / Yungay Biking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05840" y="52578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Crowd-free waters &amp; Inca star night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43400" y="3931920"/>
            <a:ext cx="3429000" cy="1920240"/>
          </a:xfrm>
          <a:prstGeom prst="rect">
            <a:avLst/>
          </a:prstGeom>
          <a:solidFill>
            <a:srgbClr val="1C1C1E"/>
          </a:solidFill>
          <a:ln w="12700">
            <a:solidFill>
              <a:srgbClr val="2A2A2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0" y="4114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17720" y="43891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Continental Divide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617720" y="49377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Punta Olímpica &amp; Chacas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17720" y="52578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 Bosco ateliers &amp; Huascarán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955280" y="3931920"/>
            <a:ext cx="3429000" cy="1920240"/>
          </a:xfrm>
          <a:prstGeom prst="rect">
            <a:avLst/>
          </a:prstGeom>
          <a:solidFill>
            <a:srgbClr val="1C1C1E"/>
          </a:solidFill>
          <a:ln w="12700">
            <a:solidFill>
              <a:srgbClr val="2A2A2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0" y="4114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229600" y="43891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Farewell or Summit Leap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229600" y="49377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 Out / Optional Summit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29600" y="52578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 to Lima or Alpine Extension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ITINERARY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1: Welcome to the Huaylas Valley &amp; Orchard Harvest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Exploration Context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53035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Touching down at Anta Airport framed by 20,000-foot peaks. The expedition begins gently in the sheltered microclimate of Caraz. At Santa Cruz Lodge, we immediately touch the soil: harvesting directly in the lodge’s organic orchards (Andean herbs, heirloom tubers, and berries) before taking a quiet acclimatization stroll through village paths to converse with Quechua families about ancestral irrigation canals and mountain agriculture.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1645920"/>
            <a:ext cx="50292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9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0" y="1920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EXPEDITION BRIEF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766560" y="2377440"/>
            <a:ext cx="429768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Arrival: Anta Airport (Comandante FAP Germán Arias Graziani)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Signature Experience: Organic orchard harvest &amp; unhurried local dialogue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Gentle Acclimatization Walk: 2 hours along flat rural stone tracks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Lodge Outpost: Santa Cruz Lodge (Caraz)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Sleep Elevation: 7,380 ft / 2,250 m (protected low-altitude rest)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Dining: Garden-to-table welcome dinner &amp; comprehensive expedition orientation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ITINERARY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2: The Mineral Watchtower &amp; Puya Raimondii Sanctuaries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Exploration Context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53035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truly grasp the scale of the Cordillera Blanca, one must first look at it from across the valley. We ascend into the mineral highlands of the Cordillera Negra, a snowless range acting as an elevated natural grandstand across from 110 miles of uninterrupted glaciers. We walk through high-altitude sanctuaries of Puya raimondii, the prehistoric Queen of the Andes that lives up to a century and produces towering 30-foot flower spikes.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evening, we gather around a ceremonial hearth at the lodge to set intentions and honor the mountain Apus before entering the snowline.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1645920"/>
            <a:ext cx="50292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9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0" y="1920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EXPEDITION BRIEF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766560" y="2377440"/>
            <a:ext cx="429768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Trail Experience: Panoramic highland trek across Cordillera Negra among giant Puyas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Vista Highlight: 360° unobstructed amphitheater of Huascarán, Huandoy, and Santa Cruz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Evening Gathering: Fireside ritual and mountain orientation at Santa Cruz Lodge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Trail Distance: 4.5 miles / 4 - 5 hrs steady cadence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Peak Elevation: 12,950 ft | Sleep Elevation: 7,380 ft (Santa Cruz Lodge)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Physiological Value: Optimal daytime hypoxic stimulus with low-altitude sleep recovery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ITINERARY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3: Parón Upper Moraine Traverse or Llanganuco Paper-Bark Forests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Distinct Paths, Equal Wilderness Depth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53035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enter Huascarán National Park. Travelers choose their trail rhythm: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High Mountain Traverse (Laguna Parón, 13,730 ft):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Leaving the crowded day-tourist viewpoint far behind, we follow an off-the-beaten-path high traverse along the northern moraine toward the upper glacial tarns beneath the sheer pyramid of Mount Artesonraju.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Contemplative Botanical Path (Llanganuco Valley, 12,630 ft):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María Josefa trail between Chinancocha and Orconcocha tarns: an ancient sanctuary of paper-bark Queñual (Polylepis) trees draped in bromeliads, orchids, and crystal glacial brooks.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0" y="1645920"/>
            <a:ext cx="50292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9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0" y="1920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 &amp; LODGING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766560" y="2377440"/>
            <a:ext cx="429768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Base Camp: Wayarumi Eco-Lodge (Yungay / Mancos sector)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Sleep Elevation: 8,200 ft / 2,500 m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Peak Elevation: 13,730 ft (Parón High Route) / 12,630 ft (Llanganuco)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Crowd Mitigation: Remote upper moraine trail bypassing crowded parking lots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Mountain Dining: Wholesome trail pack-lunch crafted for endurance, followed by fireside dinner at Wayarumi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Sunset: Direct front-row views of Mount Huascarán’s western face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ITINERARY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4: Laguna 513 Basin, Valley Gravel Biking &amp; Pre-Inca Astronomy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Wilderness Off the Tourist 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530352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 from commercial tourist herds, we hike into the untouched basin of Laguna 513 (14,530 ft), cupped directly under the hanging icefalls of Mount Hualcán. Cascading waterfalls, jade-tinted tarns, and pristine moraines unfold in total silence.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Adventure Alternative: Guided 15-mile gravel bike descent through Yungay’s agricultural foothills.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Relaxed Alternative: Gentle walk in Quebrada Rocotuyoc exploring community water preservation.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Nightfall: Archaeo-astronomy session at the lodge, decoding Quechua dark-cloud constellations (Yacana, the cosmic water llama).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0" y="1645920"/>
            <a:ext cx="50292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9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0" y="1920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EXPEDITION BRIEF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766560" y="2377440"/>
            <a:ext cx="429768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Key Highlight: Laguna 513 (14,530 ft) &amp; Mount Hualcán hanging glacier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Biking Option: 15-mile gravel route descending through rural Huaylas farmland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Night Experience: Andean ethno-astronomy under clear high-altitude skies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Laguna 513 Difficulty: Challenging / 6 hrs / 2,130 ft positive elevation gain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Lodging: Wayarumi Eco-Lodge (8,200 ft)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Atmosphere: The authentic silence of the high Andes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ITINERARY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5: Punta Olímpica Pass &amp; the Master Artisans of Chacas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Crossing the Continental Divide to the Amazon Slope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530352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colossal overland journey climbing between the eastern walls of Mount Huascarán and Chopicalqui to cross Punta Olímpica Tunnel (15,530 ft), the highest vehicular tunnel in the world.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descend into the lush eastern valleys toward Chacas, a colonial town frozen in time with hand-carved balconies and cobblestones. Here we encounter the moving legacy of Father Ugo de Censi and the Don Bosco Artisans: local Quechua youths trained in Renaissance Italian wood carving, stone sculpture, and stained glass whose works grace the Vatican.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complete the day at Cuesta Serena Lodge with a celebratory dinner facing Mount Huascarán.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0" y="1645920"/>
            <a:ext cx="50292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9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0" y="1920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EXPEDITION BRIEF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766560" y="2377440"/>
            <a:ext cx="429768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Continental Pass: Punta Olímpica Tunnel at 15,530 ft (views of five 20,000 ft massifs)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Cultural Milestone: Private atelier visits with Don Bosco artisans &amp; Chacas Sanctuary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Base Camp: Cuesta Serena Lodge (boutique luxury retreat in Anta/Marcará)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Sleep Elevation: 9,180 ft / 2,800 m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Gastronomy: Multi-course celebration dinner paired with Andean spirits at Cuesta Serena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Heritage: Hand-carved cedar and walnut balconies unique in South America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LIVING MOUNTAIN HERITAGE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Andean Renaissance: Don Bosco Artisans in Chacas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692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is Chacas an essential cornerstone of this Explora expedition?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2377440"/>
            <a:ext cx="3429000" cy="3474720"/>
          </a:xfrm>
          <a:prstGeom prst="rect">
            <a:avLst/>
          </a:prstGeom>
          <a:solidFill>
            <a:srgbClr val="1C1C1E"/>
          </a:solidFill>
          <a:ln w="12700">
            <a:solidFill>
              <a:srgbClr val="2E2E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65176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Father Ugo’s Vision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3383280"/>
            <a:ext cx="28803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1976, Italian Salesian priest Ugo de Censi arrived in isolated Chacas. Rejecting passive charity, he founded a tuition-free vocational school teaching Renaissance woodworking, stone carving, and glasscraft to young Quechua farmers.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2377440"/>
            <a:ext cx="3429000" cy="3474720"/>
          </a:xfrm>
          <a:prstGeom prst="rect">
            <a:avLst/>
          </a:prstGeom>
          <a:solidFill>
            <a:srgbClr val="1C1C1E"/>
          </a:solidFill>
          <a:ln w="12700">
            <a:solidFill>
              <a:srgbClr val="2E2E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65176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Renaissance Mastery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17720" y="3383280"/>
            <a:ext cx="28803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Generations of indigenous artisans mastered fine joinery, stone sculpting, bronze casting, and stained-glass assembly. Their sacred art now adorns European cathedrals and private international collections.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955280" y="2377440"/>
            <a:ext cx="3429000" cy="3474720"/>
          </a:xfrm>
          <a:prstGeom prst="rect">
            <a:avLst/>
          </a:prstGeom>
          <a:solidFill>
            <a:srgbClr val="1C1C1E"/>
          </a:solidFill>
          <a:ln w="12700">
            <a:solidFill>
              <a:srgbClr val="2E2E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265176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Solidarity Economy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0" y="3383280"/>
            <a:ext cx="28803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workshops operate as worker cooperatives. 100% of revenue directly funds Mama Ashu Hospital (free medical care for peasants), elderly care, and technical schools throughout the region.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ITINERARY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6: Expedition Farewell or Leap to the High Summit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Standard Program Travelers (6 Days / 5 Nights):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leisurely morning in Cuesta Serena’s gardens with the Cordillera Blanca glowing under golden dawn light. Time to reflect on the lived journey. Private 25-minute transfer to Anta Airport for the direct morning flight to Lima, connecting with international departures.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217920" y="1645920"/>
            <a:ext cx="5212080" cy="4389120"/>
          </a:xfrm>
          <a:prstGeom prst="rect">
            <a:avLst/>
          </a:prstGeom>
          <a:solidFill>
            <a:srgbClr val="18181A"/>
          </a:solidFill>
          <a:ln w="12700">
            <a:solidFill>
              <a:srgbClr val="C692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0" y="192024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HIGH MOUNTAIN EXTENSION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0" y="228600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Aspiring to summit an 18,600-foot glacial peak?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0" y="3017520"/>
            <a:ext cx="44805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Cordillera Blanca is South America’s premier alpine mountaineering mecca. For travelers wishing to elevate their expedition into a glacial summit experience, we offer an exclusive 2-night private extension (Days 6 to 8):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Day 6: Transfer to Quebrada Llaca &amp; Llaca Refuge (14,665 ft). Ice school with crampons and ice axes.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Day 7: Alpine summit push on Mount Vallunaraju (18,655 ft / 5,686 m). Return to Huaraz / Cuesta Serena.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Day 8: Transfer to Anta Airport and flight to Lima.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PROGRAM (8 DAYS / 7 NIGHTS)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 Mountain Extension: Mount Vallunaraju (18,655 ft / 5,686 m)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3429000" cy="4389120"/>
          </a:xfrm>
          <a:prstGeom prst="rect">
            <a:avLst/>
          </a:prstGeom>
          <a:solidFill>
            <a:srgbClr val="1C1C1E"/>
          </a:solidFill>
          <a:ln w="12700">
            <a:solidFill>
              <a:srgbClr val="2F2F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20240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6 (EXTENSION)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Quebrada Llaca &amp; Ice School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834640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Llaca Refuge (14,665 ft / 4,470 m)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3200400"/>
            <a:ext cx="28803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4x4 transfer into rugged Quebrada Llaca. Afternoon technical glacier instruction with UIAGM mountain guides: crampon footwork, ice-axe self-arrest, rope teams, and fine acclimatization. Dinner and early alpine rest.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645920"/>
            <a:ext cx="3429000" cy="4389120"/>
          </a:xfrm>
          <a:prstGeom prst="rect">
            <a:avLst/>
          </a:prstGeom>
          <a:solidFill>
            <a:srgbClr val="1C1C1E"/>
          </a:solidFill>
          <a:ln w="12700">
            <a:solidFill>
              <a:srgbClr val="2F2F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1920240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7 (EXTENSION)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17720" y="228600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Summit Push: Mount Vallunaraju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17720" y="2834640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Summit at 18,655 ft / 5,686 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17720" y="3200400"/>
            <a:ext cx="28803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Alpine start at 02:00 AM under star-studded skies. Continuous ascent along snow slopes and seracs (35°-45°) to gain the razor-sharp South Summit. Sweeping vistas of Huascarán, Ranrapalca, and Ocshapalca. Descent to Huaraz.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955280" y="1645920"/>
            <a:ext cx="3429000" cy="4389120"/>
          </a:xfrm>
          <a:prstGeom prst="rect">
            <a:avLst/>
          </a:prstGeom>
          <a:solidFill>
            <a:srgbClr val="1C1C1E"/>
          </a:solidFill>
          <a:ln w="12700">
            <a:solidFill>
              <a:srgbClr val="2F2F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920240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8 (EXTENSION)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228600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Summit Celebration &amp; Flight Out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0" y="2834640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 -&gt; Lima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0" y="3200400"/>
            <a:ext cx="28803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Mountain celebratory breakfast. Transfer to Anta Airport and panoramic flight across the Andes back to Lima, carrying the indelible memory of touching the tropical alpine sky.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CURATED MOUNTAIN OUTPOSTS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 Camps: The Luxury of the Essential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34290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9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01168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Santa Cruz Lodge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468880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Caraz • 7,380 ft / 2,250 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8803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Andean hacienda set amidst fruit orchards and gardens. The ideal base to gently acclimatize at low elevation, enjoying organic garden-to-table cuisine.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645920"/>
            <a:ext cx="34290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9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01168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Wayarumi Eco-Lodge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17720" y="2468880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Yungay / Mancos • 8,200 ft / 2,500 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17720" y="2926080"/>
            <a:ext cx="28803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Strategically positioned facing the colossal western face of Mount Huascarán. Adobe and native wood architecture, wood-burning fireplaces, and direct glacier views.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55280" y="1645920"/>
            <a:ext cx="34290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9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01168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Cuesta Serena Lodge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0" y="2468880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 / Marcará • 9,180 ft / 2,800 m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0" y="2926080"/>
            <a:ext cx="28803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Boutique luxury lodge with an Andean spa, heated pool, and tranquil gardens gazing upon the central massif. The refined finale of comfort and wellness.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EXPEDITION PREPARATION &amp; GEAR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Andean Climate &amp; Recommended Three-Layer System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tropical high Andes feature intense daytime solar radiation and crisp, cold nights.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194560"/>
          <a:ext cx="10698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46888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692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Zone / Elevation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692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Daytime Temperature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692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Nighttime Temperature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692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 &amp; Solar Conditions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Valleys (Huaylas / 7,200 - 9,200 ft)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64°F to 75°F / 18°C to 24°C (Warm)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46°F to 54°F / 8°C to 12°C (Cool)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E8E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Gentle valley breeze, high UV index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Tarns &amp; Passes (12,500 - 15,500 ft)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46°F to 59°F / 8°C to 15°C (Brisk)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28°F to 39°F / -2°C to 4°C (Freezing)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E8E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Katabatic glacial winds, rapid shifts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Mountain (&gt; 16,400 ft)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32°F to 43°F / 0°C to 6°C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14°F to 23°F / -10°C to -5°C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E8E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Polar alpine chill on predawn summit push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31520" y="4297680"/>
            <a:ext cx="10698480" cy="1645920"/>
          </a:xfrm>
          <a:prstGeom prst="rect">
            <a:avLst/>
          </a:prstGeom>
          <a:solidFill>
            <a:srgbClr val="1C1C1E"/>
          </a:solidFill>
          <a:ln w="12700">
            <a:solidFill>
              <a:srgbClr val="2F2F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05840" y="44805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THREE-LAYER SYSTEM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05840" y="4800600"/>
            <a:ext cx="10149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Base Layer: Moisture-wicking breathable thermal base (merino wool or high-end synthetic)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Mid Layer: Insulating fleece or lightweight down jacket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Outer Shell: Windproof and waterproof breathable shell (Gore-Tex or equivalent)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Essential Accessories: Category 3 or 4 UV sunglasses, mineral sunscreen, trekking poles (provided by Explora), and ankle-support trekking boots.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 INFRASTRUCTURE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Expedition Fleet &amp; Field Operations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Vehicles purpose-built for the Andean terrain, ensuring interior comfort and 4WD access to remote tracks beyond commercial bus access.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4290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9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56032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Mercedes-Benz Sprinter 4x4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3017520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Overland Highway Comfort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3474720"/>
            <a:ext cx="28803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Reclining leather seating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Thermal panoramic windows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Heavy-duty unpaved road suspension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Medical-grade oxygen system onboard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USB charging ports and travel amenities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43400" y="2286000"/>
            <a:ext cx="34290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9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56032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Jeep Rubicon / Toyota Prado 4WD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17720" y="3017520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to Remote Moraine Tracks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17720" y="3474720"/>
            <a:ext cx="28803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Low-range 4WD transfer case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Access to roadless glacial valleys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Small, intimate group configurations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High-end bike carrier mounts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Garmin InReach satellite communications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955280" y="2286000"/>
            <a:ext cx="34290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9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56032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Gravel &amp; Mountain Bike Fleet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0" y="3017520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Valley Exploration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9600" y="3474720"/>
            <a:ext cx="28803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Specialized bicycles for dirt and gravel roads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Electric pedal-assist available for altitude climbs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Homologated safety helmets and gear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Permanent chase vehicle support on trail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EXPEDITION CALENDAR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Seasonality &amp; Confirmed Departures 2027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optimal window for Cordillera Blanca is the "Andean Dry Season" (May to October), featuring deep cobalt skies, pristine mountain visibility, and crystal-clear star-filled nights.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5257800" cy="1645920"/>
          </a:xfrm>
          <a:prstGeom prst="rect">
            <a:avLst/>
          </a:prstGeom>
          <a:solidFill>
            <a:srgbClr val="1C1C1E"/>
          </a:solidFill>
          <a:ln w="12700">
            <a:solidFill>
              <a:srgbClr val="2E2E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743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Optimal Dry Season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3063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to October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338328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Cobalt skies, maximum peak clarity, pristine glacial tarn conditions, and stable trail footing.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2560320"/>
            <a:ext cx="5257800" cy="1645920"/>
          </a:xfrm>
          <a:prstGeom prst="rect">
            <a:avLst/>
          </a:prstGeom>
          <a:solidFill>
            <a:srgbClr val="1C1C1E"/>
          </a:solidFill>
          <a:ln w="12700">
            <a:solidFill>
              <a:srgbClr val="2E2E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743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Green Transition Season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46520" y="3063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November &amp; April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46520" y="338328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Lush blooming valleys, roaring waterfalls at peak flow, and quieter off-peak trails.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4480560"/>
            <a:ext cx="10698480" cy="1463040"/>
          </a:xfrm>
          <a:prstGeom prst="rect">
            <a:avLst/>
          </a:prstGeom>
          <a:solidFill>
            <a:srgbClr val="18181A"/>
          </a:solidFill>
          <a:ln w="12700">
            <a:solidFill>
              <a:srgbClr val="C692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663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EXCLUSIVE DEPARTURES (MAXIMUM 8 TRAVELERS PER EXPEDITION)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05840" y="49377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Departure 1: June 14 - 19, 2027  (Summit Extension through June 21)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Departure 2: July 12 - 17, 2027   (Summit Extension through July 19)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Departure 3: August 09 - 14, 2027 (Summit Extension through August 16)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Departure 4: September 06 - 11, 2027 (Summit Extension through September 13)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&amp; TERMS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Investment &amp; Expedition Inclusions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43891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9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920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RATE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" y="224028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USD 8,900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09728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person based on double occupancy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Days / 5 Nights Program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97280" y="3657600"/>
            <a:ext cx="3657600" cy="18288"/>
          </a:xfrm>
          <a:prstGeom prst="rect">
            <a:avLst/>
          </a:prstGeom>
          <a:solidFill>
            <a:srgbClr val="E5E2DA"/>
          </a:solidFill>
          <a:ln w="12700">
            <a:solidFill>
              <a:srgbClr val="E5E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3840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HIGH MOUNTAIN EXTENSION: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7280" y="411480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2,850 additional per person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 2 nights, refuge stay, summit gear, and UIAGM 1:2 guide ratio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0" y="1645920"/>
            <a:ext cx="59436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9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0" y="192024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 BREAKDOWN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852160" y="228600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INCLUDED: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852160" y="2606040"/>
            <a:ext cx="5212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 private 4WD ground transfers to/from Anta Airport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5 nights accommodation in curated boutique mountain lodges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 board: daily breakfasts, trail box lunches, and curated multi-course lodge dinners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Daily exploration menu (active alpine hikes, botanical walks, gravel bike routes, cultural visits)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Bilingual Explora expedition guides and certified local specialists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 exploration gear: trekking poles, bikes, helmets, medical oxygen, and first aid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National park entrance fees and community conservation permits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Direct social contribution to the Don Bosco Artisans Foundation in Chacas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52160" y="4800600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INCLUDED: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852160" y="5029200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Commercial flights Lima - Anta - Lima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Travel insurance with high-altitude medical evacuation coverage (mandatory)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Discretionary gratuities and personal lodge extras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X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L O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Allian shamushqa kapay.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39319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92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("Welcome with an open heart" — Ancash Quechua greeting)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3035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E8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 Lodges and Expeditions  •  www.explora.com  •  expeditions@explora.com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Explora Lodges and Expeditions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 Cordillera Blanca Expedition</dc:title>
  <dc:subject>Cordillera Blanca Expedition - Peru</dc:subject>
  <dc:creator>Explora Expeditions Team</dc:creator>
  <cp:lastModifiedBy>Explora Expeditions Team</cp:lastModifiedBy>
  <cp:revision>1</cp:revision>
  <dcterms:created xsi:type="dcterms:W3CDTF">2026-10-07T20:31:54Z</dcterms:created>
  <dcterms:modified xsi:type="dcterms:W3CDTF">2026-10-07T20:31:54Z</dcterms:modified>
</cp:coreProperties>
</file>